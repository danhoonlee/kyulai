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7" r:id="rId4"/>
    <p:sldMasterId id="2147483660" r:id="rId5"/>
  </p:sldMasterIdLst>
  <p:notesMasterIdLst>
    <p:notesMasterId r:id="rId12"/>
  </p:notesMasterIdLst>
  <p:sldIdLst>
    <p:sldId id="333" r:id="rId6"/>
    <p:sldId id="271" r:id="rId7"/>
    <p:sldId id="334" r:id="rId8"/>
    <p:sldId id="338" r:id="rId9"/>
    <p:sldId id="339" r:id="rId10"/>
    <p:sldId id="33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81D4C81-370D-70E5-91CF-571D739D0DB3}" name="강성천" initials="성강" userId="S::ddmlab@ddmlab.onmicrosoft.com::e03f6518-ebf4-47e1-bfe4-b76aae0ab15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7676"/>
    <a:srgbClr val="4B2E84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1" autoAdjust="0"/>
    <p:restoredTop sz="83026" autoAdjust="0"/>
  </p:normalViewPr>
  <p:slideViewPr>
    <p:cSldViewPr snapToGrid="0">
      <p:cViewPr varScale="1">
        <p:scale>
          <a:sx n="91" d="100"/>
          <a:sy n="91" d="100"/>
        </p:scale>
        <p:origin x="54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0AD4DC-564C-44D9-8A88-6B48C57C3981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D0BF3-4B5B-407F-AA4D-670DA4B3F4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579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5B99A-4DDC-2FF1-E267-F61B9B759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492F9D-8647-5B96-BD49-58FCD611D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DF18B0-2F32-C953-A8FD-C4BAB589D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BA7E0B-68BF-58BA-ACC5-21923FC5E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739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387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89038-847E-F211-BF67-DAF1BF4BC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CAE9AB-C50E-7DEC-A220-F36707F897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DD1585-F04E-0491-AF34-EAE7D8633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35EEDA-B46B-8800-C13A-D4E4C86BA8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4139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EAE2B-6162-C47E-F350-AB97C0C5F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C1186A-D3D7-34EF-AE24-7EA786057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391B37-A63C-4A9F-8EDD-5DD0A6243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F65A04-5CDE-DA11-4C8B-864019954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110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FCEA0-4B75-F11E-DEB6-1FB108D4F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5268C7-523C-A508-1C47-535038ADCD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A35608-0901-6177-6CFD-5233E649B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8C7B45-81AF-DAE8-A608-C1735E7297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590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B7EF31-1E7E-E761-7982-8428B3E23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4F0CA1-5C06-36F3-4FC3-48D53DEB9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55358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A9E1A1-CC56-C290-8321-055CA07B6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06F433-7C77-8F71-882E-F1E6E62A0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73" y="4090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8F7169D-2764-6938-2E44-0E87C65F0DEE}"/>
              </a:ext>
            </a:extLst>
          </p:cNvPr>
          <p:cNvSpPr/>
          <p:nvPr userDrawn="1"/>
        </p:nvSpPr>
        <p:spPr>
          <a:xfrm>
            <a:off x="0" y="1028137"/>
            <a:ext cx="12192000" cy="72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4000">
                <a:srgbClr val="4B2E84"/>
              </a:gs>
              <a:gs pos="83000">
                <a:srgbClr val="4B2E84"/>
              </a:gs>
              <a:gs pos="100000">
                <a:srgbClr val="4B2E8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Picture 2" descr="W&#10;&#10;AI 생성 콘텐츠는 정확하지 않을 수 있습니다.">
            <a:extLst>
              <a:ext uri="{FF2B5EF4-FFF2-40B4-BE49-F238E27FC236}">
                <a16:creationId xmlns:a16="http://schemas.microsoft.com/office/drawing/2014/main" id="{3A8F374F-EC63-DE4B-ABF7-B1202F9951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3800" y="246322"/>
            <a:ext cx="720000" cy="49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8249B928-DD09-6793-46D8-C2C20CDFC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 algn="r"/>
            <a:fld id="{B5D4D0BB-B991-44F1-B26C-EF6F67A43A9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8" name="그림 7" descr="The image depicts a stylized rocketship with a trail of smoke, encircled by a purple moon and stars.&#10;&#10;AI 생성 콘텐츠는 정확하지 않을 수 있습니다.">
            <a:extLst>
              <a:ext uri="{FF2B5EF4-FFF2-40B4-BE49-F238E27FC236}">
                <a16:creationId xmlns:a16="http://schemas.microsoft.com/office/drawing/2014/main" id="{61C76D4C-56E8-876A-5D9C-13D79BABF0C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3440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278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F1E2D3-6CB5-0A57-16ED-00A2A7443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8FFC7BA-6D7D-9FC7-6423-E488B0570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300906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616F52-61DD-B66E-AAB4-D4FF91B8F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16F43C-587B-D48A-1060-2DBBBEDF0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806303-D60E-D9FB-4DA8-BF53F8305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83A119-0649-9049-A330-5797E69FE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ACD7E1-E6A5-0BDC-1A99-F459A7C1E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17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0940F5-EF16-F343-4728-6B6D9C526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EC1735-C9E1-E9AE-6F04-7830A8D54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303780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D3D5D6-77BD-87F9-9B37-60C6D750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3DAFC7-0A41-4BA8-7ADD-AD3E1D18D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89B794-603A-FDC8-2583-297EF1F7A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2FAFCC-AC0D-E37D-387E-C02D845FB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16497C-A9D4-00CB-2114-2851D5D59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417AED-A7EC-2097-DFA0-BC2087816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973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7AC7D4-3384-3FBD-4CDC-228F1B068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AB47B4-ADEB-DD9E-460D-379B6B0A4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B7C628-2B45-77A7-61AE-F885D6C65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6C989CE-23FF-F989-4E36-EF9F9FE043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E007EDF-4B26-82AA-D30D-F83225FD20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17DC338-DDF6-358A-87BF-5FDFA401F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B56BF46-AA0F-9D5B-B0AA-554944A37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50751FD-327C-19FC-3FA7-85A2C786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2939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3ACCE7-4F34-2ECC-04F2-FA4468699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F4EC6C4-9CE4-63D5-82F1-434EF46AD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C6BF7A7-3B37-5B7E-99C4-4E54BC9CA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693DED-6E6F-1801-E917-2EB4006AC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835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5947696-D803-F4C6-471C-1AE256CD1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30EC711-5AC8-BC73-D0EB-57D03059E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221011-FB80-9F77-9098-13A906CE9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134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15CF89-5997-8F84-3830-186B5A82D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7BAD99-B85F-F4D4-EF9E-EDEB2DB47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328D6D-5181-9F6C-CCF4-D033A242AF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12DD21-3395-FD30-A0CC-5A4E48BB9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4D97D9-F899-0ECF-E153-4DF29C923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380BA4-5D9B-7A68-CF18-5D7917833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225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C7AE4E-94DE-A411-963A-3A51E9AB5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858AC6A-709E-313D-2DB0-99B8FBA04D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4F1D1E-136D-BD5B-31F4-AE5B50EB2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F311BF-FD17-09F7-163B-96656414F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4ABF66-2070-EBDC-AFF8-0879E8D07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979F7A-C37A-1519-7277-217E2B255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1235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E16BEC-D232-4B79-4E8A-7FFBF77A7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4809D1D-B771-6EA9-BDA2-3BD4762F4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FF14D9-B3C0-CF01-20AB-7FCA3242F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977234-0064-AEE4-578A-A2FA4E17A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F68DE5-6DD6-1DEE-F1E1-18F33076D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178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2B6D51A-06FE-A3CD-6049-9618E7A28A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D9E49E6-31C6-EA92-D010-EE98F4B12C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E24569-4144-3992-C720-EC5CD9208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CD2A64-7CAB-A483-5CCC-4624260BD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A96D37-671C-93F1-589A-B13B007BC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856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7FB1C08-F769-6F55-6E68-93CC0E396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73" y="136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CFD521-5D24-95D7-F576-99940F3D7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489080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F8157C4-6E54-7A8D-BC8F-ED982BB80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D72E22-EEB3-F943-A7BB-FED982E2A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A0CD7C-C1C4-A576-9E6E-AA6025800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F771D8-F877-41DE-5376-7E19500C27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A60DD2-E944-F9A6-D477-BF3EA6471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4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A9A40-55DD-70F4-969D-E554110CC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21">
            <a:extLst>
              <a:ext uri="{FF2B5EF4-FFF2-40B4-BE49-F238E27FC236}">
                <a16:creationId xmlns:a16="http://schemas.microsoft.com/office/drawing/2014/main" id="{CAE02D63-E375-0CBE-DA55-0FA181339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313" y="609600"/>
            <a:ext cx="6076029" cy="3877197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DD vs TAC Laminate</a:t>
            </a:r>
            <a:b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3200" dirty="0">
                <a:latin typeface="Arial" panose="020B0604020202020204" pitchFamily="34" charset="0"/>
                <a:cs typeface="Arial" panose="020B0604020202020204" pitchFamily="34" charset="0"/>
              </a:rPr>
              <a:t>Stacking Sequence Comparison </a:t>
            </a:r>
            <a:b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ko-KR" altLang="en-US" sz="3600" dirty="0"/>
          </a:p>
        </p:txBody>
      </p:sp>
      <p:pic>
        <p:nvPicPr>
          <p:cNvPr id="2" name="Picture 2" descr="UW Homepage">
            <a:extLst>
              <a:ext uri="{FF2B5EF4-FFF2-40B4-BE49-F238E27FC236}">
                <a16:creationId xmlns:a16="http://schemas.microsoft.com/office/drawing/2014/main" id="{F86350EF-868A-E850-6C83-6364146C9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11" y="5758795"/>
            <a:ext cx="1836828" cy="903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F6DB5E2-A27A-D2CD-F79D-589E08ADD1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149863"/>
              </p:ext>
            </p:extLst>
          </p:nvPr>
        </p:nvGraphicFramePr>
        <p:xfrm>
          <a:off x="8666389" y="549000"/>
          <a:ext cx="1080000" cy="5760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64545465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+30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º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15257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+60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º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8278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-60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º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1840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-30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º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2434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-30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º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83349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-60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º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2138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+60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º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22531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+30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º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062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EDC1A3C-5842-AAC9-39AE-F5E84D23B633}"/>
              </a:ext>
            </a:extLst>
          </p:cNvPr>
          <p:cNvSpPr txBox="1"/>
          <p:nvPr/>
        </p:nvSpPr>
        <p:spPr>
          <a:xfrm>
            <a:off x="8666389" y="6309000"/>
            <a:ext cx="1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DD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1537AA8-BEC4-EE8E-7B5F-35B6E417EC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863018"/>
              </p:ext>
            </p:extLst>
          </p:nvPr>
        </p:nvGraphicFramePr>
        <p:xfrm>
          <a:off x="10362687" y="549000"/>
          <a:ext cx="1080000" cy="5760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64545465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+20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º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15257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+35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º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8278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+55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º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1840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+70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º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2434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-70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º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83349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-55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º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2138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-35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º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22531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-20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º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0628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BA72E4A-0276-DDF9-424A-2AA205E81877}"/>
              </a:ext>
            </a:extLst>
          </p:cNvPr>
          <p:cNvSpPr txBox="1"/>
          <p:nvPr/>
        </p:nvSpPr>
        <p:spPr>
          <a:xfrm>
            <a:off x="10362687" y="6309000"/>
            <a:ext cx="1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TAC</a:t>
            </a:r>
            <a:endParaRPr lang="ko-KR" altLang="en-US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C9EB4E4-FF28-E0DE-0FCE-50B73CBE8744}"/>
              </a:ext>
            </a:extLst>
          </p:cNvPr>
          <p:cNvCxnSpPr>
            <a:cxnSpLocks/>
          </p:cNvCxnSpPr>
          <p:nvPr/>
        </p:nvCxnSpPr>
        <p:spPr>
          <a:xfrm>
            <a:off x="8565289" y="3429000"/>
            <a:ext cx="1260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499E45F-8730-6769-95CB-C848A754AC64}"/>
              </a:ext>
            </a:extLst>
          </p:cNvPr>
          <p:cNvCxnSpPr>
            <a:cxnSpLocks/>
          </p:cNvCxnSpPr>
          <p:nvPr/>
        </p:nvCxnSpPr>
        <p:spPr>
          <a:xfrm>
            <a:off x="10279789" y="3429000"/>
            <a:ext cx="1260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3844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4F98AE1-1024-B3E4-BA09-04F3B9F6F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Basic difference between DD and TAC</a:t>
            </a:r>
            <a:endParaRPr lang="ko-KR" altLang="en-US" sz="40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B89B455-8B49-0FCD-45BE-920044234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5D4D0BB-B991-44F1-B26C-EF6F67A43A9C}" type="slidenum">
              <a:rPr lang="ko-KR" altLang="en-US" smtClean="0"/>
              <a:pPr algn="r"/>
              <a:t>2</a:t>
            </a:fld>
            <a:endParaRPr lang="ko-KR" altLang="en-US" dirty="0"/>
          </a:p>
        </p:txBody>
      </p:sp>
      <p:pic>
        <p:nvPicPr>
          <p:cNvPr id="17" name="그림 16" descr="The diagram displays a sequence of temperature adjustments with positive (+) and negative (-) signs, indicating an alternating increase and decrease of 30ￂﾰ and 60ￂﾰ.&#10;&#10;AI 생성 콘텐츠는 정확하지 않을 수 있습니다.">
            <a:extLst>
              <a:ext uri="{FF2B5EF4-FFF2-40B4-BE49-F238E27FC236}">
                <a16:creationId xmlns:a16="http://schemas.microsoft.com/office/drawing/2014/main" id="{5A526F1C-962B-6EDC-FE69-663D7E558A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73" y="1564362"/>
            <a:ext cx="1080000" cy="525272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2AB617D-D64E-8B9F-D901-8F65E010215E}"/>
              </a:ext>
            </a:extLst>
          </p:cNvPr>
          <p:cNvSpPr txBox="1"/>
          <p:nvPr/>
        </p:nvSpPr>
        <p:spPr>
          <a:xfrm>
            <a:off x="317573" y="1095375"/>
            <a:ext cx="9553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Both use +θ and −θ pairs, but the design freedom is different</a:t>
            </a:r>
          </a:p>
          <a:p>
            <a:endParaRPr lang="ko-KR" altLang="en-US" dirty="0"/>
          </a:p>
        </p:txBody>
      </p:sp>
      <p:pic>
        <p:nvPicPr>
          <p:cNvPr id="22" name="그림 21" descr="The image displays a sequence of temperature changes, starting from +20ￂﾰ, increasing to +35ￂﾰ, +550ￂﾰ, +70ￂﾰ, then decreasing back to -70ￂﾰ, -55ￂﾰ, -35ￂﾰ, and finally -20ￂﾰ.&#10;&#10;AI 생성 콘텐츠는 정확하지 않을 수 있습니다.">
            <a:extLst>
              <a:ext uri="{FF2B5EF4-FFF2-40B4-BE49-F238E27FC236}">
                <a16:creationId xmlns:a16="http://schemas.microsoft.com/office/drawing/2014/main" id="{89CB4913-3665-37C1-B59B-F15A5BEB15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574" y="1564361"/>
            <a:ext cx="1080000" cy="5252729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8F736B65-49C8-665A-F96F-945F0ED0E399}"/>
              </a:ext>
            </a:extLst>
          </p:cNvPr>
          <p:cNvCxnSpPr/>
          <p:nvPr/>
        </p:nvCxnSpPr>
        <p:spPr>
          <a:xfrm>
            <a:off x="6120000" y="1643737"/>
            <a:ext cx="0" cy="492851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BAF5BEF-278B-AD4F-DFEA-71A4367D1C02}"/>
                  </a:ext>
                </a:extLst>
              </p:cNvPr>
              <p:cNvSpPr txBox="1"/>
              <p:nvPr/>
            </p:nvSpPr>
            <p:spPr>
              <a:xfrm>
                <a:off x="1762125" y="1741706"/>
                <a:ext cx="33958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ko-KR" altLang="en-US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ko-KR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ko-KR" altLang="en-US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ko-KR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ko-KR" altLang="en-US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ko-KR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ko-KR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ko-KR" altLang="en-US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ko-KR" sz="28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ko-KR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altLang="ko-KR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ko-KR" altLang="en-US" sz="28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BAF5BEF-278B-AD4F-DFEA-71A4367D1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125" y="1741706"/>
                <a:ext cx="3395847" cy="523220"/>
              </a:xfrm>
              <a:prstGeom prst="rect">
                <a:avLst/>
              </a:prstGeom>
              <a:blipFill>
                <a:blip r:embed="rId5"/>
                <a:stretch>
                  <a:fillRect r="-66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729F53D-4B40-0801-3DE2-05E7142CCE4E}"/>
                  </a:ext>
                </a:extLst>
              </p:cNvPr>
              <p:cNvSpPr txBox="1"/>
              <p:nvPr/>
            </p:nvSpPr>
            <p:spPr>
              <a:xfrm>
                <a:off x="1762125" y="3242444"/>
                <a:ext cx="392430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2000" dirty="0"/>
                  <a:t>Uses only two angle pairs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2000" dirty="0"/>
                  <a:t>DD with repeated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ko-KR" sz="2000" dirty="0"/>
                  <a:t> pairs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2000" dirty="0"/>
                  <a:t>If symmetric, B* = 0</a:t>
                </a:r>
                <a:endParaRPr lang="ko-KR" altLang="en-US" sz="20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729F53D-4B40-0801-3DE2-05E7142CC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125" y="3242444"/>
                <a:ext cx="3924300" cy="1323439"/>
              </a:xfrm>
              <a:prstGeom prst="rect">
                <a:avLst/>
              </a:prstGeom>
              <a:blipFill>
                <a:blip r:embed="rId6"/>
                <a:stretch>
                  <a:fillRect l="-1398" t="-2765" b="-73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739A57-A2AB-D458-3A55-C9EFF6E59538}"/>
                  </a:ext>
                </a:extLst>
              </p:cNvPr>
              <p:cNvSpPr txBox="1"/>
              <p:nvPr/>
            </p:nvSpPr>
            <p:spPr>
              <a:xfrm>
                <a:off x="7684174" y="1741706"/>
                <a:ext cx="3395847" cy="928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altLang="ko-KR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altLang="ko-KR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ko-KR" altLang="en-US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ko-KR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ko-KR" altLang="en-US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ko-KR" altLang="en-US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altLang="ko-KR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ko-KR" altLang="en-US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ko-KR" altLang="en-US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  <m:r>
                            <a:rPr lang="en-US" altLang="ko-KR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ko-KR" altLang="en-US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/−</m:t>
                              </m:r>
                              <m:r>
                                <a:rPr lang="ko-KR" altLang="en-US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ko-KR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ko-KR" altLang="en-US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ko-KR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ko-KR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eqArr>
                    </m:oMath>
                  </m:oMathPara>
                </a14:m>
                <a:endParaRPr lang="ko-KR" altLang="en-US" sz="28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739A57-A2AB-D458-3A55-C9EFF6E59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4174" y="1741706"/>
                <a:ext cx="3395847" cy="928011"/>
              </a:xfrm>
              <a:prstGeom prst="rect">
                <a:avLst/>
              </a:prstGeom>
              <a:blipFill>
                <a:blip r:embed="rId7"/>
                <a:stretch>
                  <a:fillRect r="-32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73DDF002-766D-E30E-96AE-E5BB6EE2E49E}"/>
              </a:ext>
            </a:extLst>
          </p:cNvPr>
          <p:cNvSpPr txBox="1"/>
          <p:nvPr/>
        </p:nvSpPr>
        <p:spPr>
          <a:xfrm>
            <a:off x="7684174" y="3242444"/>
            <a:ext cx="39243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/>
              <a:t>The number of angle pairs is not limited to two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/>
              <a:t>Coupling can be tailored through an antisymmetric relation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/>
              <a:t>B16 and B25 can intentionally become nonzero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97453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D7B13-72E3-241F-E1FB-FDFAF0418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55F9A471-3E40-D60B-B103-6BFA4D1A4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Key point from the DD cases</a:t>
            </a:r>
            <a:endParaRPr lang="ko-KR" altLang="en-US" sz="40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9D60BFB-E60E-F06C-1A11-7B9FC0D06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5D4D0BB-B991-44F1-B26C-EF6F67A43A9C}" type="slidenum">
              <a:rPr lang="ko-KR" altLang="en-US" smtClean="0"/>
              <a:pPr algn="r"/>
              <a:t>3</a:t>
            </a:fld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6C31A3-DD38-10FC-92FF-3CE72C9E2E6D}"/>
              </a:ext>
            </a:extLst>
          </p:cNvPr>
          <p:cNvSpPr txBox="1"/>
          <p:nvPr/>
        </p:nvSpPr>
        <p:spPr>
          <a:xfrm>
            <a:off x="317573" y="1095375"/>
            <a:ext cx="9553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Case 1 and Case 2 contain the same angle counts, but D* changes because the stacking order is different</a:t>
            </a:r>
            <a:endParaRPr lang="ko-KR" altLang="en-US" dirty="0"/>
          </a:p>
        </p:txBody>
      </p:sp>
      <p:pic>
        <p:nvPicPr>
          <p:cNvPr id="7" name="그림 6" descr="The diagram shows a series of positive and negative values representing temperature and angle adjustments, with positive values indicating an increase and negative values indicating a decrease.&#10;&#10;AI 생성 콘텐츠는 정확하지 않을 수 있습니다.">
            <a:extLst>
              <a:ext uri="{FF2B5EF4-FFF2-40B4-BE49-F238E27FC236}">
                <a16:creationId xmlns:a16="http://schemas.microsoft.com/office/drawing/2014/main" id="{1571B035-65A3-312E-2056-480CA4C6A4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964" y="1972726"/>
            <a:ext cx="900000" cy="4377274"/>
          </a:xfrm>
          <a:prstGeom prst="rect">
            <a:avLst/>
          </a:prstGeom>
        </p:spPr>
      </p:pic>
      <p:pic>
        <p:nvPicPr>
          <p:cNvPr id="9" name="그림 8" descr="The diagram shows a series of alternating plus and minus signs with corresponding temperatures: +30ￂﾰ, -30ￂﾰ, +60ￂﾰ, -60ￂﾰ, -60ￂﾰ, +60ￂﾰ, -30ￂﾰ, and +30ￂﾰ.&#10;&#10;AI 생성 콘텐츠는 정확하지 않을 수 있습니다.">
            <a:extLst>
              <a:ext uri="{FF2B5EF4-FFF2-40B4-BE49-F238E27FC236}">
                <a16:creationId xmlns:a16="http://schemas.microsoft.com/office/drawing/2014/main" id="{3C501093-ECAD-6390-0864-A57806CCC3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425" y="1972726"/>
            <a:ext cx="900000" cy="4377274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57487F7-0AF6-AA7D-329C-7BD4C3423184}"/>
              </a:ext>
            </a:extLst>
          </p:cNvPr>
          <p:cNvSpPr/>
          <p:nvPr/>
        </p:nvSpPr>
        <p:spPr>
          <a:xfrm>
            <a:off x="3161211" y="1972726"/>
            <a:ext cx="2880000" cy="1980000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Case 1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A11/A22 = 1.00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D11/D22 = 1.28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B16, B26 = 0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7C4D46A-DA3A-1013-3041-1BA8B86037E1}"/>
              </a:ext>
            </a:extLst>
          </p:cNvPr>
          <p:cNvSpPr/>
          <p:nvPr/>
        </p:nvSpPr>
        <p:spPr>
          <a:xfrm>
            <a:off x="3161211" y="4077751"/>
            <a:ext cx="2880000" cy="1980000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Case 2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A11/A22 = 1.00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D11/D22 = 2.96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B16, B26 = 0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CC9FE5F-26B4-7C6C-A837-041DFD729C68}"/>
              </a:ext>
            </a:extLst>
          </p:cNvPr>
          <p:cNvSpPr/>
          <p:nvPr/>
        </p:nvSpPr>
        <p:spPr>
          <a:xfrm>
            <a:off x="6524626" y="1972727"/>
            <a:ext cx="5249364" cy="227542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chemeClr val="tx1"/>
                </a:solidFill>
              </a:rPr>
              <a:t>A* is the same, but D* is different. This means buckling and bending depend not only on the number of plies at each angle, but also on where those plies are placed through the thickness.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AC67D52-5458-8020-120F-005ADC36F805}"/>
              </a:ext>
            </a:extLst>
          </p:cNvPr>
          <p:cNvSpPr/>
          <p:nvPr/>
        </p:nvSpPr>
        <p:spPr>
          <a:xfrm>
            <a:off x="6568800" y="4479172"/>
            <a:ext cx="5205190" cy="1578579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Conclusion: Case 1 is the more balanced DD baseline. Case 2 has a larger D11, but a much lower D22, so it is more directionally biased.</a:t>
            </a:r>
          </a:p>
        </p:txBody>
      </p:sp>
    </p:spTree>
    <p:extLst>
      <p:ext uri="{BB962C8B-B14F-4D97-AF65-F5344CB8AC3E}">
        <p14:creationId xmlns:p14="http://schemas.microsoft.com/office/powerpoint/2010/main" val="408718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E4768-400E-4006-0067-F35D44681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The image displays a number line with incremental temperature changes, starting at +20ￂﾰ and ending at -20ￂﾰ, including positive and negative increments of +20ￂﾰ, +35ￂﾰ, +550ￂﾰ, and -70ￂﾰ, -55ￂﾰ, -35ￂﾰ, and -20ￂﾰ respectively.&#10;&#10;AI 생성 콘텐츠는 정확하지 않을 수 있습니다.">
            <a:extLst>
              <a:ext uri="{FF2B5EF4-FFF2-40B4-BE49-F238E27FC236}">
                <a16:creationId xmlns:a16="http://schemas.microsoft.com/office/drawing/2014/main" id="{7F5FB724-32CA-FDC1-2018-62D627DD1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425" y="1972726"/>
            <a:ext cx="900000" cy="4377274"/>
          </a:xfrm>
          <a:prstGeom prst="rect">
            <a:avLst/>
          </a:prstGeom>
        </p:spPr>
      </p:pic>
      <p:pic>
        <p:nvPicPr>
          <p:cNvPr id="8" name="그림 7" descr="The diagram displays a series of positive and negative temperature changes, with increments of 15ￂﾰ up to 60ￂﾰ, followed by decrements of 60ￂﾰ down to -15ￂﾰ.&#10;&#10;AI 생성 콘텐츠는 정확하지 않을 수 있습니다.">
            <a:extLst>
              <a:ext uri="{FF2B5EF4-FFF2-40B4-BE49-F238E27FC236}">
                <a16:creationId xmlns:a16="http://schemas.microsoft.com/office/drawing/2014/main" id="{C60667F1-7BCD-4C70-5B21-89CBB1CD5C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55" y="1972726"/>
            <a:ext cx="900000" cy="4377274"/>
          </a:xfrm>
          <a:prstGeom prst="rect">
            <a:avLst/>
          </a:prstGeom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6D061DEA-90D5-3C74-F076-CE8BF1A17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Key point from the TAC cases (8-ply)</a:t>
            </a:r>
            <a:endParaRPr lang="ko-KR" altLang="en-US" sz="40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6641A3D-B694-94FA-F5DC-CDFE410E3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5D4D0BB-B991-44F1-B26C-EF6F67A43A9C}" type="slidenum">
              <a:rPr lang="ko-KR" altLang="en-US" smtClean="0"/>
              <a:pPr algn="r"/>
              <a:t>4</a:t>
            </a:fld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FB788D-61AC-FB01-71E5-4D253F9B3E8F}"/>
              </a:ext>
            </a:extLst>
          </p:cNvPr>
          <p:cNvSpPr txBox="1"/>
          <p:nvPr/>
        </p:nvSpPr>
        <p:spPr>
          <a:xfrm>
            <a:off x="317573" y="1095375"/>
            <a:ext cx="9553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Case 3 and Case 4 contain the same angle counts, but D* changes because the stacking order is different</a:t>
            </a:r>
            <a:endParaRPr lang="ko-KR" altLang="en-US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A1EBACD-454C-35C9-DCBD-F1BA412DADA4}"/>
              </a:ext>
            </a:extLst>
          </p:cNvPr>
          <p:cNvSpPr/>
          <p:nvPr/>
        </p:nvSpPr>
        <p:spPr>
          <a:xfrm>
            <a:off x="3161211" y="1972726"/>
            <a:ext cx="2880000" cy="1980000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Case 3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A11/A22 = 1.76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D11/D22 = 6.27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B16, B26 = -2.6, -1.13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AB40888-A819-F4F5-CEC6-2459CF8B1BC9}"/>
              </a:ext>
            </a:extLst>
          </p:cNvPr>
          <p:cNvSpPr/>
          <p:nvPr/>
        </p:nvSpPr>
        <p:spPr>
          <a:xfrm>
            <a:off x="3161211" y="4077751"/>
            <a:ext cx="2880000" cy="1980000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Case 4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A11/A22 = 1.00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D11/D22 = 3.97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B16, B26 = -2.57, -1.46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E05650F-7DFC-A97B-953D-1A39282D2EC2}"/>
              </a:ext>
            </a:extLst>
          </p:cNvPr>
          <p:cNvSpPr/>
          <p:nvPr/>
        </p:nvSpPr>
        <p:spPr>
          <a:xfrm>
            <a:off x="6524626" y="1972727"/>
            <a:ext cx="5249364" cy="227542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chemeClr val="tx1"/>
                </a:solidFill>
              </a:rPr>
              <a:t>Case 3 gives the higher D11*, so it is stronger in the x-bending direction. Case 4 gives A11* = A22*, so its in-plane stiffness is more balanced. Both have nonzero B16* and B26*, which is the key TAC coupling feature.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6C27D67-C803-56B7-DE8D-98F3A7245951}"/>
              </a:ext>
            </a:extLst>
          </p:cNvPr>
          <p:cNvSpPr/>
          <p:nvPr/>
        </p:nvSpPr>
        <p:spPr>
          <a:xfrm>
            <a:off x="6568800" y="4479172"/>
            <a:ext cx="5205190" cy="1578579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Conclusion: Case 4 is the better 8-py TAC representative for the main comparison because it is more balanced. Case 3 should be described as a specialized high-D11* TAC case</a:t>
            </a:r>
          </a:p>
        </p:txBody>
      </p:sp>
    </p:spTree>
    <p:extLst>
      <p:ext uri="{BB962C8B-B14F-4D97-AF65-F5344CB8AC3E}">
        <p14:creationId xmlns:p14="http://schemas.microsoft.com/office/powerpoint/2010/main" val="2772990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7558D-5E9C-4A0B-6B27-BAAB02CFA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The diagram displays a series of temperature changes, with positive increments of +20ￂﾰ, +35ￂﾰ, and +55ￂﾰ, followed by negative decrements of -55ￂﾰ, -35ￂﾰ, and -20ￂﾰ.&#10;&#10;AI 생성 콘텐츠는 정확하지 않을 수 있습니다.">
            <a:extLst>
              <a:ext uri="{FF2B5EF4-FFF2-40B4-BE49-F238E27FC236}">
                <a16:creationId xmlns:a16="http://schemas.microsoft.com/office/drawing/2014/main" id="{31C5B228-13C5-1044-FDDE-440295C5E7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425" y="2478245"/>
            <a:ext cx="900000" cy="3366235"/>
          </a:xfrm>
          <a:prstGeom prst="rect">
            <a:avLst/>
          </a:prstGeom>
        </p:spPr>
      </p:pic>
      <p:pic>
        <p:nvPicPr>
          <p:cNvPr id="9" name="그림 8" descr="The diagram shows a list of temperature changes, alternating between positive and negative increments, starting with +15ￂﾰ and ending with -15ￂﾰ.&#10;&#10;AI 생성 콘텐츠는 정확하지 않을 수 있습니다.">
            <a:extLst>
              <a:ext uri="{FF2B5EF4-FFF2-40B4-BE49-F238E27FC236}">
                <a16:creationId xmlns:a16="http://schemas.microsoft.com/office/drawing/2014/main" id="{B271C083-6E8C-D4A2-1F83-E6D378E7EB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27" y="2478245"/>
            <a:ext cx="900000" cy="3366235"/>
          </a:xfrm>
          <a:prstGeom prst="rect">
            <a:avLst/>
          </a:prstGeom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D213F1DC-C458-E2E3-8283-8A7D956C7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Key point from the TAC cases (6-ply)</a:t>
            </a:r>
            <a:endParaRPr lang="ko-KR" altLang="en-US" sz="40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CCCD2E9-F7E1-23E0-8188-C88B174E2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5D4D0BB-B991-44F1-B26C-EF6F67A43A9C}" type="slidenum">
              <a:rPr lang="ko-KR" altLang="en-US" smtClean="0"/>
              <a:pPr algn="r"/>
              <a:t>5</a:t>
            </a:fld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C2F7E9-C4CD-464C-68B8-57FCDFF6D881}"/>
              </a:ext>
            </a:extLst>
          </p:cNvPr>
          <p:cNvSpPr txBox="1"/>
          <p:nvPr/>
        </p:nvSpPr>
        <p:spPr>
          <a:xfrm>
            <a:off x="317573" y="1095375"/>
            <a:ext cx="9553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Both use fewer plies to check advantage of TAC</a:t>
            </a:r>
            <a:endParaRPr lang="ko-KR" altLang="en-US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B2180DA-72AC-5316-D091-1ACCAC4AC5E1}"/>
              </a:ext>
            </a:extLst>
          </p:cNvPr>
          <p:cNvSpPr/>
          <p:nvPr/>
        </p:nvSpPr>
        <p:spPr>
          <a:xfrm>
            <a:off x="3161211" y="1972726"/>
            <a:ext cx="2880000" cy="1980000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Case 5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A11/A22 = 3.66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D11/D22 = 9.00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B16, B26 = -2.68, -0.78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7758DB9-ED2F-DC77-6343-C68766360EDE}"/>
              </a:ext>
            </a:extLst>
          </p:cNvPr>
          <p:cNvSpPr/>
          <p:nvPr/>
        </p:nvSpPr>
        <p:spPr>
          <a:xfrm>
            <a:off x="3161211" y="4077751"/>
            <a:ext cx="2880000" cy="1980000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Case 6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A11/A22 = 1.99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D11/D22 = 6.16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B16, B26 = -2.83, -1.12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C48A91B-1C93-5B06-E1EA-9B6E9D1F9F1F}"/>
              </a:ext>
            </a:extLst>
          </p:cNvPr>
          <p:cNvSpPr/>
          <p:nvPr/>
        </p:nvSpPr>
        <p:spPr>
          <a:xfrm>
            <a:off x="6524626" y="1972727"/>
            <a:ext cx="5249364" cy="227542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chemeClr val="tx1"/>
                </a:solidFill>
              </a:rPr>
              <a:t>Case 5 has the largest D11* among all cases, but it is highly directional because D22* is very low. Case 6 sacrifices some D11* but improves A22* and D22*, making it the more balanced 6-ply TAC representative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97B9E2C-57A1-AB9E-C58C-EB74EFF6C508}"/>
              </a:ext>
            </a:extLst>
          </p:cNvPr>
          <p:cNvSpPr/>
          <p:nvPr/>
        </p:nvSpPr>
        <p:spPr>
          <a:xfrm>
            <a:off x="6568800" y="4479172"/>
            <a:ext cx="5205190" cy="1578579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Conclusion: Case 6 is the preferred 6-ply TAC representative because it gives a better balance between x- and y-direction stiffness. Case 5 is best only if the design objective is maximum x-direction (D11*).</a:t>
            </a:r>
          </a:p>
        </p:txBody>
      </p:sp>
    </p:spTree>
    <p:extLst>
      <p:ext uri="{BB962C8B-B14F-4D97-AF65-F5344CB8AC3E}">
        <p14:creationId xmlns:p14="http://schemas.microsoft.com/office/powerpoint/2010/main" val="2583496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DC3EB6-4527-F081-A368-CE305FED3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Result: Which case is best?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6D9C32-EFE6-4ABF-0C28-56665432C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5D4D0BB-B991-44F1-B26C-EF6F67A43A9C}" type="slidenum">
              <a:rPr lang="ko-KR" altLang="en-US" smtClean="0"/>
              <a:pPr algn="r"/>
              <a:t>6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DCC6DD-D0F6-BC21-FB35-7304F951C95F}"/>
              </a:ext>
            </a:extLst>
          </p:cNvPr>
          <p:cNvSpPr txBox="1"/>
          <p:nvPr/>
        </p:nvSpPr>
        <p:spPr>
          <a:xfrm>
            <a:off x="317573" y="1095375"/>
            <a:ext cx="10293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For aerospace structures, the preferred laminate is not simply the one with the largest D11*. </a:t>
            </a:r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9B41CBB-FC75-3A52-0BAF-A3F8021D3F2E}"/>
              </a:ext>
            </a:extLst>
          </p:cNvPr>
          <p:cNvSpPr/>
          <p:nvPr/>
        </p:nvSpPr>
        <p:spPr>
          <a:xfrm>
            <a:off x="331970" y="1703367"/>
            <a:ext cx="5580000" cy="287815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</a:rPr>
              <a:t>DD baseline vs 8-ply TAC</a:t>
            </a:r>
          </a:p>
          <a:p>
            <a:r>
              <a:rPr lang="en-US" altLang="ko-KR" sz="1600" b="1" dirty="0">
                <a:solidFill>
                  <a:schemeClr val="tx1"/>
                </a:solidFill>
              </a:rPr>
              <a:t>Case 1 is the best choice.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Case 4 is the best 8-ply TAC representative because A11*/A22* = 1.00.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However, Case 4 still has nonzero B16* and B26*, so the response is more coupled.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Case 3 has higher D11*, but it is too directionally biased for a general plate design.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F613C7D-5E9A-F61F-431D-1963175E154A}"/>
              </a:ext>
            </a:extLst>
          </p:cNvPr>
          <p:cNvSpPr/>
          <p:nvPr/>
        </p:nvSpPr>
        <p:spPr>
          <a:xfrm>
            <a:off x="6280030" y="1703367"/>
            <a:ext cx="5580000" cy="287815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</a:rPr>
              <a:t>DD baseline vs 6-ply TAC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Case 6 is stronger candidate if we are looking for </a:t>
            </a:r>
            <a:r>
              <a:rPr lang="en-US" altLang="ko-KR" sz="1600" b="1" dirty="0">
                <a:solidFill>
                  <a:schemeClr val="tx1"/>
                </a:solidFill>
              </a:rPr>
              <a:t>weight reduction as primary goal.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Case 6 uses fewer plies and more balanced than Case 5.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Case 5 gives the largest D11*, but very low D22* makes it a specialized x-direction design.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For primary structure, </a:t>
            </a:r>
            <a:r>
              <a:rPr lang="en-US" altLang="ko-KR" sz="1600" b="1" dirty="0">
                <a:solidFill>
                  <a:schemeClr val="tx1"/>
                </a:solidFill>
              </a:rPr>
              <a:t>Case 1 (DD) remains the safer baseline</a:t>
            </a:r>
            <a:r>
              <a:rPr lang="en-US" altLang="ko-KR" sz="1600" dirty="0">
                <a:solidFill>
                  <a:schemeClr val="tx1"/>
                </a:solidFill>
              </a:rPr>
              <a:t> unless TAC coupling is fully validated.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D9D88D6-F53F-452C-D05E-BD55733D874F}"/>
              </a:ext>
            </a:extLst>
          </p:cNvPr>
          <p:cNvSpPr/>
          <p:nvPr/>
        </p:nvSpPr>
        <p:spPr>
          <a:xfrm>
            <a:off x="326010" y="4918420"/>
            <a:ext cx="11539981" cy="1520804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</a:rPr>
              <a:t>Overall structure selection : Case 1 (DD)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It has B*=0, balanced in-plane stiffness, and a more predictable bending/buckling response.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Case 4 is the best 8-ply TAC alternative; Case 6 is the best 6-ply TAC alternative when weight saving is prioritized.</a:t>
            </a:r>
          </a:p>
        </p:txBody>
      </p:sp>
    </p:spTree>
    <p:extLst>
      <p:ext uri="{BB962C8B-B14F-4D97-AF65-F5344CB8AC3E}">
        <p14:creationId xmlns:p14="http://schemas.microsoft.com/office/powerpoint/2010/main" val="952491244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01989B2C2506648ADB6B4DB1757A300" ma:contentTypeVersion="16" ma:contentTypeDescription="새 문서를 만듭니다." ma:contentTypeScope="" ma:versionID="fbb50aa3b2afb54b5ecfb6fb8a4356cd">
  <xsd:schema xmlns:xsd="http://www.w3.org/2001/XMLSchema" xmlns:xs="http://www.w3.org/2001/XMLSchema" xmlns:p="http://schemas.microsoft.com/office/2006/metadata/properties" xmlns:ns2="28cb597c-4272-4f78-b3ed-5407b0427306" xmlns:ns3="fae65177-c50d-4b9d-8753-751b956ab118" targetNamespace="http://schemas.microsoft.com/office/2006/metadata/properties" ma:root="true" ma:fieldsID="7d04c06c664db3785d513290ad855dae" ns2:_="" ns3:_="">
    <xsd:import namespace="28cb597c-4272-4f78-b3ed-5407b0427306"/>
    <xsd:import namespace="fae65177-c50d-4b9d-8753-751b956ab1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cb597c-4272-4f78-b3ed-5407b04273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c7e842fe-0370-40f7-9867-a914a261c5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e65177-c50d-4b9d-8753-751b956ab11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6c18853-826d-4f15-9bae-131896e049c8}" ma:internalName="TaxCatchAll" ma:showField="CatchAllData" ma:web="fae65177-c50d-4b9d-8753-751b956ab1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8cb597c-4272-4f78-b3ed-5407b0427306">
      <Terms xmlns="http://schemas.microsoft.com/office/infopath/2007/PartnerControls"/>
    </lcf76f155ced4ddcb4097134ff3c332f>
    <TaxCatchAll xmlns="fae65177-c50d-4b9d-8753-751b956ab118" xsi:nil="true"/>
  </documentManagement>
</p:properties>
</file>

<file path=customXml/itemProps1.xml><?xml version="1.0" encoding="utf-8"?>
<ds:datastoreItem xmlns:ds="http://schemas.openxmlformats.org/officeDocument/2006/customXml" ds:itemID="{046FB39F-AC51-4D1B-AB3C-14BAA11341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24CA16-E6AF-4438-B45E-4DBE5C886B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cb597c-4272-4f78-b3ed-5407b0427306"/>
    <ds:schemaRef ds:uri="fae65177-c50d-4b9d-8753-751b956ab1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4B52F7-F5F5-40C6-9A72-068E4A412D0B}">
  <ds:schemaRefs>
    <ds:schemaRef ds:uri="fae65177-c50d-4b9d-8753-751b956ab118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http://schemas.microsoft.com/office/infopath/2007/PartnerControls"/>
    <ds:schemaRef ds:uri="28cb597c-4272-4f78-b3ed-5407b0427306"/>
    <ds:schemaRef ds:uri="http://www.w3.org/XML/1998/namespace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8985</TotalTime>
  <Words>758</Words>
  <Application>Microsoft Office PowerPoint</Application>
  <PresentationFormat>와이드스크린</PresentationFormat>
  <Paragraphs>90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Cambria Math</vt:lpstr>
      <vt:lpstr>디자인 사용자 지정</vt:lpstr>
      <vt:lpstr>1_디자인 사용자 지정</vt:lpstr>
      <vt:lpstr>DD vs TAC Laminate Stacking Sequence Comparison  </vt:lpstr>
      <vt:lpstr>Basic difference between DD and TAC</vt:lpstr>
      <vt:lpstr>Key point from the DD cases</vt:lpstr>
      <vt:lpstr>Key point from the TAC cases (8-ply)</vt:lpstr>
      <vt:lpstr>Key point from the TAC cases (6-ply)</vt:lpstr>
      <vt:lpstr>Result: Which case is best?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 in Yoo</dc:creator>
  <cp:lastModifiedBy>Dongwon Lee</cp:lastModifiedBy>
  <cp:revision>293</cp:revision>
  <cp:lastPrinted>2025-04-02T14:38:45Z</cp:lastPrinted>
  <dcterms:created xsi:type="dcterms:W3CDTF">2025-03-25T09:45:53Z</dcterms:created>
  <dcterms:modified xsi:type="dcterms:W3CDTF">2026-07-05T01:53:22Z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0x010100301989B2C2506648ADB6B4DB1757A300</vt:lpwstr>
  </property>
  <property fmtid="{D5CDD505-2E9C-101B-9397-08002B2CF9AE}" pid="3" name="MediaServiceImageTags">
    <vt:lpwstr/>
  </property>
</Properties>
</file>