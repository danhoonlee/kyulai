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  <p:sldMasterId id="2147483660" r:id="rId5"/>
  </p:sldMasterIdLst>
  <p:notesMasterIdLst>
    <p:notesMasterId r:id="rId33"/>
  </p:notesMasterIdLst>
  <p:sldIdLst>
    <p:sldId id="333" r:id="rId6"/>
    <p:sldId id="271" r:id="rId7"/>
    <p:sldId id="347" r:id="rId8"/>
    <p:sldId id="348" r:id="rId9"/>
    <p:sldId id="275" r:id="rId10"/>
    <p:sldId id="349" r:id="rId11"/>
    <p:sldId id="350" r:id="rId12"/>
    <p:sldId id="300" r:id="rId13"/>
    <p:sldId id="351" r:id="rId14"/>
    <p:sldId id="278" r:id="rId15"/>
    <p:sldId id="353" r:id="rId16"/>
    <p:sldId id="354" r:id="rId17"/>
    <p:sldId id="355" r:id="rId18"/>
    <p:sldId id="356" r:id="rId19"/>
    <p:sldId id="334" r:id="rId20"/>
    <p:sldId id="335" r:id="rId21"/>
    <p:sldId id="336" r:id="rId22"/>
    <p:sldId id="337" r:id="rId23"/>
    <p:sldId id="344" r:id="rId24"/>
    <p:sldId id="282" r:id="rId25"/>
    <p:sldId id="338" r:id="rId26"/>
    <p:sldId id="342" r:id="rId27"/>
    <p:sldId id="343" r:id="rId28"/>
    <p:sldId id="341" r:id="rId29"/>
    <p:sldId id="345" r:id="rId30"/>
    <p:sldId id="304" r:id="rId31"/>
    <p:sldId id="332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81D4C81-370D-70E5-91CF-571D739D0DB3}" name="강성천" initials="성강" userId="S::ddmlab@ddmlab.onmicrosoft.com::e03f6518-ebf4-47e1-bfe4-b76aae0ab1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E84"/>
    <a:srgbClr val="767676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 autoAdjust="0"/>
    <p:restoredTop sz="83026" autoAdjust="0"/>
  </p:normalViewPr>
  <p:slideViewPr>
    <p:cSldViewPr snapToGrid="0">
      <p:cViewPr varScale="1">
        <p:scale>
          <a:sx n="91" d="100"/>
          <a:sy n="91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Best 𝑷cr/𝑷tr by Case vs. Benchmarks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15386.6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DD-4B83-914F-4F9B008BC9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Case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15880.6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DD-4B83-914F-4F9B008BC9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Case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15916.5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DD-4B83-914F-4F9B008BC9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Case 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15908.5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DD-4B83-914F-4F9B008BC98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Case 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15484.1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DD-4B83-914F-4F9B008BC98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Quasi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Sheet1!$G$2</c:f>
              <c:numCache>
                <c:formatCode>General</c:formatCode>
                <c:ptCount val="1"/>
                <c:pt idx="0">
                  <c:v>12344.8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0DD-4B83-914F-4F9B008BC98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[0/0]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Sheet1!$H$2</c:f>
              <c:numCache>
                <c:formatCode>General</c:formatCode>
                <c:ptCount val="1"/>
                <c:pt idx="0">
                  <c:v>5406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DD-4B83-914F-4F9B008BC98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[90/90]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Sheet1!$I$2</c:f>
              <c:numCache>
                <c:formatCode>General</c:formatCode>
                <c:ptCount val="1"/>
                <c:pt idx="0">
                  <c:v>4628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0DD-4B83-914F-4F9B008BC9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03664111"/>
        <c:axId val="703659791"/>
      </c:barChart>
      <c:catAx>
        <c:axId val="703664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3659791"/>
        <c:crosses val="autoZero"/>
        <c:auto val="1"/>
        <c:lblAlgn val="ctr"/>
        <c:lblOffset val="100"/>
        <c:noMultiLvlLbl val="0"/>
      </c:catAx>
      <c:valAx>
        <c:axId val="703659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𝑷cr/𝑷tr 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3664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Best f  by Case vs. Benchmarks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2.894787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DD-4B83-914F-4F9B008BC9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Case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2.9987879999999998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DD-4B83-914F-4F9B008BC98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Case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2.9932699999999999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DD-4B83-914F-4F9B008BC9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Case 4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2.9932470000000002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0DD-4B83-914F-4F9B008BC98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Case 5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2.9029410000000002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DD-4B83-914F-4F9B008BC98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Quasi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Sheet1!$G$2</c:f>
              <c:numCache>
                <c:formatCode>General</c:formatCode>
                <c:ptCount val="1"/>
                <c:pt idx="0">
                  <c:v>2.2836820000000002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0DD-4B83-914F-4F9B008BC98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[0/0]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Sheet1!$H$2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0DD-4B83-914F-4F9B008BC98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[90/90]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Sheet1!$I$2</c:f>
              <c:numCache>
                <c:formatCode>General</c:formatCode>
                <c:ptCount val="1"/>
                <c:pt idx="0">
                  <c:v>1.5961989999999999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0DD-4B83-914F-4F9B008BC9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03664111"/>
        <c:axId val="703659791"/>
      </c:barChart>
      <c:catAx>
        <c:axId val="703664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3659791"/>
        <c:crosses val="autoZero"/>
        <c:auto val="1"/>
        <c:lblAlgn val="ctr"/>
        <c:lblOffset val="100"/>
        <c:noMultiLvlLbl val="0"/>
      </c:catAx>
      <c:valAx>
        <c:axId val="7036597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f</a:t>
                </a:r>
                <a:endParaRPr lang="ko-KR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ko-KR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03664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0AD4DC-564C-44D9-8A88-6B48C57C3981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D0BF3-4B5B-407F-AA4D-670DA4B3F4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57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5B99A-4DDC-2FF1-E267-F61B9B75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492F9D-8647-5B96-BD49-58FCD611D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DF18B0-2F32-C953-A8FD-C4BAB589D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A7E0B-68BF-58BA-ACC5-21923FC5E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739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87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36F5-EF51-7567-CC2C-2D33E8907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A954B4-6A61-C648-1DFB-F1AE54835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75115550-6B35-8838-7500-994C252F89F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dirty="0"/>
                  <a:t>[+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1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_1</a:t>
                </a:r>
                <a:r>
                  <a:rPr lang="en-US" altLang="ko-KR" dirty="0"/>
                  <a:t>,+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_1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_1</a:t>
                </a:r>
                <a:r>
                  <a:rPr lang="en-US" altLang="ko-KR" dirty="0"/>
                  <a:t>,+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</a:t>
                </a:r>
                <a:r>
                  <a:rPr lang="en-US" altLang="ko-KR" b="0" i="0" dirty="0">
                    <a:latin typeface="Cambria Math" panose="02040503050406030204" pitchFamily="18" charset="0"/>
                  </a:rPr>
                  <a:t>2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_2</a:t>
                </a:r>
                <a:r>
                  <a:rPr lang="en-US" altLang="ko-KR" dirty="0"/>
                  <a:t>,+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_2</a:t>
                </a:r>
                <a:r>
                  <a:rPr lang="en-US" altLang="ko-KR" dirty="0"/>
                  <a:t>,- </a:t>
                </a:r>
                <a:r>
                  <a:rPr lang="en-US" altLang="ko-KR" i="0" dirty="0">
                    <a:latin typeface="맑은 고딕" panose="020B0503020000020004" pitchFamily="50" charset="-127"/>
                  </a:rPr>
                  <a:t>"θ</a:t>
                </a:r>
                <a:r>
                  <a:rPr lang="en-US" altLang="ko-KR" i="0" dirty="0">
                    <a:latin typeface="Cambria Math" panose="02040503050406030204" pitchFamily="18" charset="0"/>
                  </a:rPr>
                  <a:t>" _2</a:t>
                </a:r>
                <a:r>
                  <a:rPr lang="en-US" altLang="ko-KR" dirty="0"/>
                  <a:t>]</a:t>
                </a:r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2008C-2429-03B2-FA74-AC96A3215A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426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25278-E415-E8D0-CD69-0620B5C7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2A2DD9-78F5-4B6C-B727-C473EEC46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26D314-854B-AC03-FB89-0BE683526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09BAA2-5DE2-40AC-136D-81487AE92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4125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EF18E-CFDB-4D3E-BE7A-A0F680BC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E71A09-EDBE-EE80-59C8-767B8A865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5E43F-85DA-7A31-2066-054B9A47A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A99F71-7453-2820-6CD5-E95A9B2C60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33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A4CD-2FE7-883E-D8CA-0F3D220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0F95D-0D26-F45D-EE8B-57EF5021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6951C3DA-7E1F-2DF9-1BDB-0FA7DC298C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6951C3DA-7E1F-2DF9-1BDB-0FA7DC298C0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b="1" dirty="0"/>
                  <a:t>Why “transition load” matters</a:t>
                </a:r>
                <a:br>
                  <a:rPr lang="en-US" altLang="ko-KR" dirty="0"/>
                </a:br>
                <a:r>
                  <a:rPr lang="en-US" altLang="ko-KR" dirty="0"/>
                  <a:t>“Real parts aren’t perfectly straight or flat. With an initial imperfection, the structure doesn’t suddenly snap at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𝑐𝑟</a:t>
                </a:r>
                <a:r>
                  <a:rPr lang="ar-AE" altLang="ko-KR" dirty="0"/>
                  <a:t>; </a:t>
                </a:r>
                <a:r>
                  <a:rPr lang="en-US" altLang="ko-KR" dirty="0"/>
                  <a:t>it </a:t>
                </a:r>
                <a:r>
                  <a:rPr lang="en-US" altLang="ko-KR" i="1" dirty="0"/>
                  <a:t>gradually</a:t>
                </a:r>
                <a:r>
                  <a:rPr lang="en-US" altLang="ko-KR" dirty="0"/>
                  <a:t> moves into a buckled mode. The load at which that shift becomes dominant is the </a:t>
                </a:r>
                <a:r>
                  <a:rPr lang="en-US" altLang="ko-KR" b="1" dirty="0"/>
                  <a:t>transition load</a:t>
                </a:r>
                <a:r>
                  <a:rPr lang="en-US" altLang="ko-KR" dirty="0"/>
                  <a:t>. In design, this value often governs the </a:t>
                </a:r>
                <a:r>
                  <a:rPr lang="en-US" altLang="ko-KR" b="1" dirty="0"/>
                  <a:t>usable capacity</a:t>
                </a:r>
                <a:r>
                  <a:rPr lang="en-US" altLang="ko-KR" dirty="0"/>
                  <a:t> more than the theoretical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𝑐𝑟</a:t>
                </a:r>
                <a:r>
                  <a:rPr lang="ar-AE" altLang="ko-KR" dirty="0"/>
                  <a:t>. </a:t>
                </a:r>
                <a:r>
                  <a:rPr lang="en-US" altLang="ko-KR" dirty="0"/>
                  <a:t>And importantly, a </a:t>
                </a:r>
                <a:r>
                  <a:rPr lang="en-US" altLang="ko-KR" b="1" dirty="0"/>
                  <a:t>bigger imperfection</a:t>
                </a:r>
                <a:r>
                  <a:rPr lang="en-US" altLang="ko-KR" dirty="0"/>
                  <a:t> means a </a:t>
                </a:r>
                <a:r>
                  <a:rPr lang="en-US" altLang="ko-KR" b="1" dirty="0"/>
                  <a:t>lower</a:t>
                </a:r>
                <a:r>
                  <a:rPr lang="en-US" altLang="ko-KR" dirty="0"/>
                  <a:t> transition load.”</a:t>
                </a:r>
              </a:p>
              <a:p>
                <a:endParaRPr lang="en-US" altLang="ko-KR" dirty="0"/>
              </a:p>
              <a:p>
                <a:r>
                  <a:rPr lang="en-US" altLang="ko-KR" b="1" dirty="0"/>
                  <a:t>Where bending loads come from</a:t>
                </a:r>
                <a:br>
                  <a:rPr lang="en-US" altLang="ko-KR" dirty="0"/>
                </a:br>
                <a:r>
                  <a:rPr lang="en-US" altLang="ko-KR" dirty="0"/>
                  <a:t>“Even if we intend pure in-plane loading, </a:t>
                </a:r>
                <a:r>
                  <a:rPr lang="en-US" altLang="ko-KR" b="1" dirty="0"/>
                  <a:t>bending</a:t>
                </a:r>
                <a:r>
                  <a:rPr lang="en-US" altLang="ko-KR" dirty="0"/>
                  <a:t> appears due to applied moments, </a:t>
                </a:r>
                <a:r>
                  <a:rPr lang="en-US" altLang="ko-KR" b="1" dirty="0"/>
                  <a:t>eccentric</a:t>
                </a:r>
                <a:r>
                  <a:rPr lang="en-US" altLang="ko-KR" dirty="0"/>
                  <a:t> load paths, or </a:t>
                </a:r>
                <a:r>
                  <a:rPr lang="en-US" altLang="ko-KR" b="1" dirty="0"/>
                  <a:t>thickness/geometry variations</a:t>
                </a:r>
                <a:r>
                  <a:rPr lang="en-US" altLang="ko-KR" dirty="0"/>
                  <a:t>—all common in manufacturing and assembly.”</a:t>
                </a:r>
              </a:p>
              <a:p>
                <a:endParaRPr lang="en-US" altLang="ko-KR" b="1" dirty="0"/>
              </a:p>
              <a:p>
                <a:r>
                  <a:rPr lang="en-US" altLang="ko-KR" b="1" dirty="0" err="1"/>
                  <a:t>Unsymmetry</a:t>
                </a:r>
                <a:r>
                  <a:rPr lang="en-US" altLang="ko-KR" b="1" dirty="0"/>
                  <a:t> ⇒ coupling</a:t>
                </a:r>
                <a:br>
                  <a:rPr lang="en-US" altLang="ko-KR" dirty="0"/>
                </a:br>
                <a:r>
                  <a:rPr lang="en-US" altLang="ko-KR" dirty="0"/>
                  <a:t>“If the laminate is </a:t>
                </a:r>
                <a:r>
                  <a:rPr lang="en-US" altLang="ko-KR" b="1" dirty="0"/>
                  <a:t>unsymmetric</a:t>
                </a:r>
                <a:r>
                  <a:rPr lang="en-US" altLang="ko-KR" dirty="0"/>
                  <a:t>, we get </a:t>
                </a:r>
                <a:r>
                  <a:rPr lang="en-US" altLang="ko-KR" b="1" dirty="0"/>
                  <a:t>membrane–bending coupling</a:t>
                </a:r>
                <a:r>
                  <a:rPr lang="en-US" altLang="ko-KR" dirty="0"/>
                  <a:t>. Physically: in-plane forces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𝐍</a:t>
                </a:r>
                <a:r>
                  <a:rPr lang="en-US" altLang="ko-KR" sz="1200" b="1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US" altLang="ko-KR" dirty="0"/>
                  <a:t>induce curvature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𝜿</a:t>
                </a:r>
                <a:r>
                  <a:rPr lang="en-US" altLang="ko-KR" dirty="0"/>
                  <a:t>; applied moments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𝐌</a:t>
                </a:r>
                <a:r>
                  <a:rPr lang="en-US" altLang="ko-KR" sz="1200" b="1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US" altLang="ko-KR" dirty="0"/>
                  <a:t>induce mid-plane strains </a:t>
                </a:r>
                <a:r>
                  <a:rPr lang="ko-KR" alt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𝜺</a:t>
                </a:r>
                <a:r>
                  <a:rPr lang="ar-AE" altLang="ko-K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</a:t>
                </a:r>
                <a:r>
                  <a:rPr lang="ar-AE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ar-AE" altLang="ko-KR" dirty="0"/>
                  <a:t>. </a:t>
                </a:r>
                <a:r>
                  <a:rPr lang="en-US" altLang="ko-KR" dirty="0"/>
                  <a:t>Mathematically, that’s the </a:t>
                </a:r>
                <a:r>
                  <a:rPr lang="en-US" altLang="ko-KR" b="1" dirty="0"/>
                  <a:t>B-matrix</a:t>
                </a:r>
                <a:r>
                  <a:rPr lang="en-US" altLang="ko-KR" dirty="0"/>
                  <a:t> effect: with </a:t>
                </a:r>
                <a:r>
                  <a:rPr lang="ko-KR" altLang="en-US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𝐁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≠0</a:t>
                </a:r>
                <a:r>
                  <a:rPr lang="en-US" altLang="ko-KR" dirty="0"/>
                  <a:t>for unsymmetric stacks.”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59C42-685D-E861-B1A3-81AAE984D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018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1D77A-9FF7-5B09-31BA-A0E105302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A12DB9-823F-71EA-8630-E8D5FE01B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E52E8A8A-4457-C03C-0486-CC0A6484EA9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Some layups are </a:t>
                </a:r>
                <a:r>
                  <a:rPr lang="en-US" altLang="ko-KR" b="1" dirty="0"/>
                  <a:t>unsymmetric</a:t>
                </a:r>
                <a:r>
                  <a:rPr lang="en-US" altLang="ko-KR" dirty="0"/>
                  <a:t>, so a simple linear </a:t>
                </a:r>
                <a:r>
                  <a:rPr lang="en-US" altLang="ko-KR" b="1" dirty="0"/>
                  <a:t>eigenvalue buckling</a:t>
                </a:r>
                <a:r>
                  <a:rPr lang="en-US" altLang="ko-KR" dirty="0"/>
                  <a:t> analysis can be </a:t>
                </a:r>
                <a:r>
                  <a:rPr lang="en-US" altLang="ko-KR" b="1" dirty="0"/>
                  <a:t>misleading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With membrane–bending coupling (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∗∗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𝐵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≠0∗∗</a:t>
                </a:r>
                <a:r>
                  <a:rPr lang="en-US" altLang="ko-KR" dirty="0"/>
                  <a:t>), the linear eigenvalue model tends to </a:t>
                </a:r>
                <a:r>
                  <a:rPr lang="en-US" altLang="ko-KR" b="1" dirty="0"/>
                  <a:t>over-predict the critical load</a:t>
                </a:r>
                <a:r>
                  <a:rPr lang="en-US" altLang="ko-KR" dirty="0"/>
                  <a:t> and can </a:t>
                </a:r>
                <a:r>
                  <a:rPr lang="en-US" altLang="ko-KR" b="1" dirty="0"/>
                  <a:t>miss the actual buckling path</a:t>
                </a:r>
                <a:r>
                  <a:rPr lang="en-US" altLang="ko-KR" dirty="0"/>
                  <a:t>. In practice, we introduce an </a:t>
                </a:r>
                <a:r>
                  <a:rPr lang="en-US" altLang="ko-KR" b="1" dirty="0"/>
                  <a:t>initial imperfection</a:t>
                </a:r>
                <a:r>
                  <a:rPr lang="en-US" altLang="ko-KR" dirty="0"/>
                  <a:t> and run a </a:t>
                </a:r>
                <a:r>
                  <a:rPr lang="en-US" altLang="ko-KR" b="1" dirty="0"/>
                  <a:t>nonlinear static</a:t>
                </a:r>
                <a:r>
                  <a:rPr lang="en-US" altLang="ko-KR" dirty="0"/>
                  <a:t> analysis to capture the real transition into buckling.</a:t>
                </a:r>
              </a:p>
              <a:p>
                <a:r>
                  <a:rPr lang="en-US" altLang="ko-KR" dirty="0"/>
                  <a:t>The workflow is:</a:t>
                </a:r>
              </a:p>
              <a:p>
                <a:r>
                  <a:rPr lang="en-US" altLang="ko-KR" dirty="0"/>
                  <a:t>Run a </a:t>
                </a:r>
                <a:r>
                  <a:rPr lang="en-US" altLang="ko-KR" b="1" dirty="0"/>
                  <a:t>linear buckling</a:t>
                </a:r>
                <a:r>
                  <a:rPr lang="en-US" altLang="ko-KR" dirty="0"/>
                  <a:t> analysis to obtain </a:t>
                </a:r>
                <a:r>
                  <a:rPr lang="en-US" altLang="ko-KR" b="1" dirty="0"/>
                  <a:t>mode shapes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b="1" dirty="0"/>
                  <a:t>Seed</a:t>
                </a:r>
                <a:r>
                  <a:rPr lang="en-US" altLang="ko-KR" dirty="0"/>
                  <a:t> the geometry with a scaled combination of those modes as the </a:t>
                </a:r>
                <a:r>
                  <a:rPr lang="en-US" altLang="ko-KR" b="1" dirty="0"/>
                  <a:t>initial imperfection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Perform a </a:t>
                </a:r>
                <a:r>
                  <a:rPr lang="en-US" altLang="ko-KR" b="1" dirty="0"/>
                  <a:t>nonlinear static</a:t>
                </a:r>
                <a:r>
                  <a:rPr lang="en-US" altLang="ko-KR" dirty="0"/>
                  <a:t> (e.g., Riks/arc-length) analysis and read off the </a:t>
                </a:r>
                <a:r>
                  <a:rPr lang="en-US" altLang="ko-KR" b="1" dirty="0"/>
                  <a:t>transition load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en-US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"transition</a:t>
                </a:r>
                <a:r>
                  <a:rPr lang="ar-AE" altLang="ko-K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</a:t>
                </a:r>
                <a:r>
                  <a:rPr lang="en-US" altLang="ko-KR" dirty="0"/>
                  <a:t>from the load–deflection curve.</a:t>
                </a:r>
              </a:p>
              <a:p>
                <a:r>
                  <a:rPr lang="en-US" altLang="ko-KR" dirty="0"/>
                  <a:t>This approach reflects how imperfect structures actually behave: they ease into a buckled configuration, and the transition load—not the ideal 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</a:t>
                </a:r>
                <a:r>
                  <a:rPr lang="ko-KR" alt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𝑐𝑟</a:t>
                </a:r>
                <a:r>
                  <a:rPr lang="ar-AE" altLang="ko-KR" dirty="0"/>
                  <a:t>—</a:t>
                </a:r>
                <a:r>
                  <a:rPr lang="en-US" altLang="ko-KR" dirty="0"/>
                  <a:t>often governs usable capacity.”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The </a:t>
                </a:r>
                <a:r>
                  <a:rPr lang="en-US" altLang="ko-KR" b="1" dirty="0"/>
                  <a:t>lowest plate buckling modes</a:t>
                </a:r>
                <a:r>
                  <a:rPr lang="en-US" altLang="ko-KR" dirty="0"/>
                  <a:t> for common boundary conditions are sinusoidal, so it matches the </a:t>
                </a:r>
                <a:r>
                  <a:rPr lang="en-US" altLang="ko-KR" b="1" dirty="0"/>
                  <a:t>shape with the least energy</a:t>
                </a:r>
                <a:r>
                  <a:rPr lang="en-US" altLang="ko-KR" dirty="0"/>
                  <a:t> and what the eigenproblem predicts.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597758-1FEE-4F8F-A2BB-18F60C7A1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681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Font typeface="Arial" panose="020B0604020202020204" pitchFamily="34" charset="0"/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200" dirty="0"/>
                  <a:t>Given ply orientation, using python script, the </a:t>
                </a:r>
                <a:r>
                  <a:rPr lang="en-US" altLang="ko-KR" sz="1200" dirty="0" err="1"/>
                  <a:t>abaqus</a:t>
                </a:r>
                <a:r>
                  <a:rPr lang="en-US" altLang="ko-KR" sz="1200" dirty="0"/>
                  <a:t> will run the buckling/imperfection analysis.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200" dirty="0"/>
                  <a:t>From either .</a:t>
                </a:r>
                <a:r>
                  <a:rPr lang="en-US" altLang="ko-KR" sz="1200" dirty="0" err="1"/>
                  <a:t>dat</a:t>
                </a:r>
                <a:r>
                  <a:rPr lang="en-US" altLang="ko-KR" sz="1200" dirty="0"/>
                  <a:t> or .</a:t>
                </a:r>
                <a:r>
                  <a:rPr lang="en-US" altLang="ko-KR" sz="1200" dirty="0" err="1"/>
                  <a:t>odb</a:t>
                </a:r>
                <a:r>
                  <a:rPr lang="en-US" altLang="ko-KR" sz="1200" dirty="0"/>
                  <a:t> file, </a:t>
                </a:r>
                <a:r>
                  <a:rPr lang="en-US" altLang="ko-KR" sz="1200" b="1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𝑷_𝒄𝒓</a:t>
                </a:r>
                <a:r>
                  <a:rPr lang="en-US" altLang="ko-KR" sz="1200" dirty="0"/>
                  <a:t> can be obtained.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1200" dirty="0"/>
                  <a:t>After 200 runs, we will see which orientation will have highest value.</a:t>
                </a:r>
                <a:endParaRPr lang="ko-KR" altLang="en-US" sz="1200" dirty="0"/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2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FC2EA-5515-51E7-F68F-90655FD2B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81419F-4462-ACDF-3F93-6193A59661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03C5AB-9D7B-62B0-DCF5-25773D8E06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1CAB1-37BB-D7A9-B839-77798C754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382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9AA8C-D137-1800-9EF1-0BCBE2350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B7170A-A5EB-37DD-B14B-6063AF5A6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529A95-F72F-F759-121B-B085DC0B6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CA51FA-3AB3-B222-3921-5A695DA9A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570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0ABE-1AE4-81A9-77AB-15F94026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6F4DEA-DB98-6C02-CA23-4C42873BA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62D280-39D4-9FFC-A960-0C208028E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1F803-F49A-1A64-D121-0C03412DA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045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120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541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The </a:t>
            </a:r>
            <a:r>
              <a:rPr lang="ko-KR" altLang="ko-KR" dirty="0" err="1"/>
              <a:t>objective</a:t>
            </a:r>
            <a:r>
              <a:rPr lang="ko-KR" altLang="ko-KR" dirty="0"/>
              <a:t> </a:t>
            </a:r>
            <a:r>
              <a:rPr lang="ko-KR" altLang="ko-KR" dirty="0" err="1"/>
              <a:t>function</a:t>
            </a:r>
            <a:r>
              <a:rPr lang="ko-KR" altLang="ko-KR" dirty="0"/>
              <a:t> </a:t>
            </a:r>
            <a:r>
              <a:rPr lang="ko-KR" altLang="ko-KR" dirty="0" err="1"/>
              <a:t>was</a:t>
            </a:r>
            <a:r>
              <a:rPr lang="ko-KR" altLang="ko-KR" dirty="0"/>
              <a:t> </a:t>
            </a:r>
            <a:r>
              <a:rPr lang="ko-KR" altLang="ko-KR" dirty="0" err="1"/>
              <a:t>defined</a:t>
            </a:r>
            <a:r>
              <a:rPr lang="ko-KR" altLang="ko-KR" dirty="0"/>
              <a:t> </a:t>
            </a:r>
            <a:r>
              <a:rPr lang="ko-KR" altLang="ko-KR" dirty="0" err="1"/>
              <a:t>as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weighted</a:t>
            </a:r>
            <a:r>
              <a:rPr lang="ko-KR" altLang="ko-KR" dirty="0"/>
              <a:t> </a:t>
            </a:r>
            <a:r>
              <a:rPr lang="ko-KR" altLang="ko-KR" dirty="0" err="1"/>
              <a:t>normalized</a:t>
            </a:r>
            <a:r>
              <a:rPr lang="ko-KR" altLang="ko-KR" dirty="0"/>
              <a:t> </a:t>
            </a:r>
            <a:r>
              <a:rPr lang="ko-KR" altLang="ko-KR" dirty="0" err="1"/>
              <a:t>sum</a:t>
            </a:r>
            <a:r>
              <a:rPr lang="ko-KR" altLang="ko-KR" dirty="0"/>
              <a:t> of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buckling</a:t>
            </a:r>
            <a:r>
              <a:rPr lang="ko-KR" altLang="ko-KR" dirty="0"/>
              <a:t>/</a:t>
            </a:r>
            <a:r>
              <a:rPr lang="ko-KR" altLang="ko-KR" dirty="0" err="1"/>
              <a:t>transition</a:t>
            </a:r>
            <a:r>
              <a:rPr lang="ko-KR" altLang="ko-KR" dirty="0"/>
              <a:t> </a:t>
            </a:r>
            <a:r>
              <a:rPr lang="ko-KR" altLang="ko-KR" dirty="0" err="1"/>
              <a:t>load</a:t>
            </a:r>
            <a:r>
              <a:rPr lang="ko-KR" altLang="ko-KR" dirty="0"/>
              <a:t> and </a:t>
            </a:r>
            <a:r>
              <a:rPr lang="ko-KR" altLang="ko-KR" dirty="0" err="1"/>
              <a:t>natural</a:t>
            </a:r>
            <a:r>
              <a:rPr lang="ko-KR" altLang="ko-KR" dirty="0"/>
              <a:t> </a:t>
            </a:r>
            <a:r>
              <a:rPr lang="ko-KR" altLang="ko-KR" dirty="0" err="1"/>
              <a:t>frequency</a:t>
            </a:r>
            <a:r>
              <a:rPr lang="ko-KR" altLang="ko-KR" dirty="0"/>
              <a:t>.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weighting</a:t>
            </a:r>
            <a:r>
              <a:rPr lang="ko-KR" altLang="ko-KR" dirty="0"/>
              <a:t> </a:t>
            </a:r>
            <a:r>
              <a:rPr lang="ko-KR" altLang="ko-KR" dirty="0" err="1"/>
              <a:t>factor</a:t>
            </a:r>
            <a:r>
              <a:rPr lang="ko-KR" altLang="ko-KR" dirty="0"/>
              <a:t> of 0.7 </a:t>
            </a:r>
            <a:r>
              <a:rPr lang="ko-KR" altLang="ko-KR" dirty="0" err="1"/>
              <a:t>was</a:t>
            </a:r>
            <a:r>
              <a:rPr lang="ko-KR" altLang="ko-KR" dirty="0"/>
              <a:t> </a:t>
            </a:r>
            <a:r>
              <a:rPr lang="ko-KR" altLang="ko-KR" dirty="0" err="1"/>
              <a:t>assigned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buckling</a:t>
            </a:r>
            <a:r>
              <a:rPr lang="ko-KR" altLang="ko-KR" dirty="0"/>
              <a:t> </a:t>
            </a:r>
            <a:r>
              <a:rPr lang="ko-KR" altLang="ko-KR" dirty="0" err="1"/>
              <a:t>or</a:t>
            </a:r>
            <a:r>
              <a:rPr lang="ko-KR" altLang="ko-KR" dirty="0"/>
              <a:t> </a:t>
            </a:r>
            <a:r>
              <a:rPr lang="ko-KR" altLang="ko-KR" dirty="0" err="1"/>
              <a:t>transition</a:t>
            </a:r>
            <a:r>
              <a:rPr lang="ko-KR" altLang="ko-KR" dirty="0"/>
              <a:t> </a:t>
            </a:r>
            <a:r>
              <a:rPr lang="ko-KR" altLang="ko-KR" dirty="0" err="1"/>
              <a:t>load</a:t>
            </a:r>
            <a:r>
              <a:rPr lang="ko-KR" altLang="ko-KR" dirty="0"/>
              <a:t> </a:t>
            </a:r>
            <a:r>
              <a:rPr lang="ko-KR" altLang="ko-KR" dirty="0" err="1"/>
              <a:t>because</a:t>
            </a:r>
            <a:r>
              <a:rPr lang="ko-KR" altLang="ko-KR" dirty="0"/>
              <a:t> </a:t>
            </a:r>
            <a:r>
              <a:rPr lang="ko-KR" altLang="ko-KR" dirty="0" err="1"/>
              <a:t>structural</a:t>
            </a:r>
            <a:r>
              <a:rPr lang="ko-KR" altLang="ko-KR" dirty="0"/>
              <a:t> </a:t>
            </a:r>
            <a:r>
              <a:rPr lang="ko-KR" altLang="ko-KR" dirty="0" err="1"/>
              <a:t>stability</a:t>
            </a:r>
            <a:r>
              <a:rPr lang="ko-KR" altLang="ko-KR" dirty="0"/>
              <a:t> </a:t>
            </a:r>
            <a:r>
              <a:rPr lang="ko-KR" altLang="ko-KR" dirty="0" err="1"/>
              <a:t>was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primary</a:t>
            </a:r>
            <a:r>
              <a:rPr lang="ko-KR" altLang="ko-KR" dirty="0"/>
              <a:t> </a:t>
            </a:r>
            <a:r>
              <a:rPr lang="ko-KR" altLang="ko-KR" dirty="0" err="1"/>
              <a:t>design</a:t>
            </a:r>
            <a:r>
              <a:rPr lang="ko-KR" altLang="ko-KR" dirty="0"/>
              <a:t> </a:t>
            </a:r>
            <a:r>
              <a:rPr lang="ko-KR" altLang="ko-KR" dirty="0" err="1"/>
              <a:t>objective</a:t>
            </a:r>
            <a:r>
              <a:rPr lang="ko-KR" altLang="ko-KR" dirty="0"/>
              <a:t>, </a:t>
            </a:r>
            <a:r>
              <a:rPr lang="ko-KR" altLang="ko-KR" dirty="0" err="1"/>
              <a:t>while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weighting</a:t>
            </a:r>
            <a:r>
              <a:rPr lang="ko-KR" altLang="ko-KR" dirty="0"/>
              <a:t> </a:t>
            </a:r>
            <a:r>
              <a:rPr lang="ko-KR" altLang="ko-KR" dirty="0" err="1"/>
              <a:t>factor</a:t>
            </a:r>
            <a:r>
              <a:rPr lang="ko-KR" altLang="ko-KR" dirty="0"/>
              <a:t> of 0.3 </a:t>
            </a:r>
            <a:r>
              <a:rPr lang="ko-KR" altLang="ko-KR" dirty="0" err="1"/>
              <a:t>was</a:t>
            </a:r>
            <a:r>
              <a:rPr lang="ko-KR" altLang="ko-KR" dirty="0"/>
              <a:t> </a:t>
            </a:r>
            <a:r>
              <a:rPr lang="ko-KR" altLang="ko-KR" dirty="0" err="1"/>
              <a:t>assigned</a:t>
            </a:r>
            <a:r>
              <a:rPr lang="ko-KR" altLang="ko-KR" dirty="0"/>
              <a:t> </a:t>
            </a:r>
            <a:r>
              <a:rPr lang="ko-KR" altLang="ko-KR" dirty="0" err="1"/>
              <a:t>to</a:t>
            </a:r>
            <a:r>
              <a:rPr lang="ko-KR" altLang="ko-KR" dirty="0"/>
              <a:t> </a:t>
            </a:r>
            <a:r>
              <a:rPr lang="ko-KR" altLang="ko-KR" dirty="0" err="1"/>
              <a:t>the</a:t>
            </a:r>
            <a:r>
              <a:rPr lang="ko-KR" altLang="ko-KR" dirty="0"/>
              <a:t> </a:t>
            </a:r>
            <a:r>
              <a:rPr lang="ko-KR" altLang="ko-KR" dirty="0" err="1"/>
              <a:t>natural</a:t>
            </a:r>
            <a:r>
              <a:rPr lang="ko-KR" altLang="ko-KR" dirty="0"/>
              <a:t> </a:t>
            </a:r>
            <a:r>
              <a:rPr lang="ko-KR" altLang="ko-KR" dirty="0" err="1"/>
              <a:t>frequency</a:t>
            </a:r>
            <a:r>
              <a:rPr lang="ko-KR" altLang="ko-KR" dirty="0"/>
              <a:t> </a:t>
            </a:r>
            <a:r>
              <a:rPr lang="ko-KR" altLang="ko-KR" dirty="0" err="1"/>
              <a:t>as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secondary</a:t>
            </a:r>
            <a:r>
              <a:rPr lang="ko-KR" altLang="ko-KR" dirty="0"/>
              <a:t> </a:t>
            </a:r>
            <a:r>
              <a:rPr lang="ko-KR" altLang="ko-KR" dirty="0" err="1"/>
              <a:t>dynamic</a:t>
            </a:r>
            <a:r>
              <a:rPr lang="ko-KR" altLang="ko-KR" dirty="0"/>
              <a:t> </a:t>
            </a:r>
            <a:r>
              <a:rPr lang="ko-KR" altLang="ko-KR" dirty="0" err="1"/>
              <a:t>performance</a:t>
            </a:r>
            <a:r>
              <a:rPr lang="ko-KR" altLang="ko-KR" dirty="0"/>
              <a:t> </a:t>
            </a:r>
            <a:r>
              <a:rPr lang="ko-KR" altLang="ko-KR" dirty="0" err="1"/>
              <a:t>criterion</a:t>
            </a:r>
            <a:r>
              <a:rPr lang="ko-KR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8801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81409-393A-DE4D-F9DF-BC6E70E9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F3E008-C583-6F8F-1523-0F7892341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64DA94-B60D-45D7-4951-BCE7B2966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6CBD73-F24F-FA32-31AA-9BFD6B5A0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3588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CED71-A333-AA24-3762-B2C626C5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A04647-965D-A4F7-ED7E-DA24D72BF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CA1832-BB14-3C30-C475-723B65D32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9FC8F6-1129-D942-DAB0-67A3C4231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434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846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993DD-EA2F-60B5-D23A-69876F49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852DFF5-C41E-8CDB-6EEE-AD25E60A2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465647-7029-875B-2926-C106F874B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4CE9A2-05F2-A4A8-6F80-741465D86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BD0BF3-4B5B-407F-AA4D-670DA4B3F4C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2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7EF31-1E7E-E761-7982-8428B3E23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4F0CA1-5C06-36F3-4FC3-48D53DEB9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55358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A9E1A1-CC56-C290-8321-055CA07B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06F433-7C77-8F71-882E-F1E6E62A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73" y="409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F7169D-2764-6938-2E44-0E87C65F0DEE}"/>
              </a:ext>
            </a:extLst>
          </p:cNvPr>
          <p:cNvSpPr/>
          <p:nvPr userDrawn="1"/>
        </p:nvSpPr>
        <p:spPr>
          <a:xfrm>
            <a:off x="0" y="1028137"/>
            <a:ext cx="12192000" cy="7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74000">
                <a:srgbClr val="4B2E84"/>
              </a:gs>
              <a:gs pos="83000">
                <a:srgbClr val="4B2E84"/>
              </a:gs>
              <a:gs pos="100000">
                <a:srgbClr val="4B2E8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2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1E2D3-6CB5-0A57-16ED-00A2A7443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FFC7BA-6D7D-9FC7-6423-E488B0570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00906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16F52-61DD-B66E-AAB4-D4FF91B8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6F43C-587B-D48A-1060-2DBBBEDF0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806303-D60E-D9FB-4DA8-BF53F830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3A119-0649-9049-A330-5797E69FE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ACD7E1-E6A5-0BDC-1A99-F459A7C1E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17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940F5-EF16-F343-4728-6B6D9C52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EC1735-C9E1-E9AE-6F04-7830A8D5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30378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3D5D6-77BD-87F9-9B37-60C6D750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DAFC7-0A41-4BA8-7ADD-AD3E1D18D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89B794-603A-FDC8-2583-297EF1F7A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FAFCC-AC0D-E37D-387E-C02D845F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16497C-A9D4-00CB-2114-2851D5D5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417AED-A7EC-2097-DFA0-BC208781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97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AC7D4-3384-3FBD-4CDC-228F1B06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AB47B4-ADEB-DD9E-460D-379B6B0A4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B7C628-2B45-77A7-61AE-F885D6C65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C989CE-23FF-F989-4E36-EF9F9FE04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007EDF-4B26-82AA-D30D-F83225FD2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7DC338-DDF6-358A-87BF-5FDFA401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56BF46-AA0F-9D5B-B0AA-554944A37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0751FD-327C-19FC-3FA7-85A2C786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939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ACCE7-4F34-2ECC-04F2-FA446869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4EC6C4-9CE4-63D5-82F1-434EF46A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6BF7A7-3B37-5B7E-99C4-4E54BC9C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693DED-6E6F-1801-E917-2EB4006A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83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947696-D803-F4C6-471C-1AE256CD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0EC711-5AC8-BC73-D0EB-57D03059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21011-FB80-9F77-9098-13A906CE9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13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5CF89-5997-8F84-3830-186B5A82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7BAD99-B85F-F4D4-EF9E-EDEB2DB47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328D6D-5181-9F6C-CCF4-D033A242A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12DD21-3395-FD30-A0CC-5A4E48BB9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4D97D9-F899-0ECF-E153-4DF29C9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380BA4-5D9B-7A68-CF18-5D791783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22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7AE4E-94DE-A411-963A-3A51E9AB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58AC6A-709E-313D-2DB0-99B8FBA04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4F1D1E-136D-BD5B-31F4-AE5B50EB2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F311BF-FD17-09F7-163B-96656414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4ABF66-2070-EBDC-AFF8-0879E8D07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79F7A-C37A-1519-7277-217E2B25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235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16BEC-D232-4B79-4E8A-7FFBF77A7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809D1D-B771-6EA9-BDA2-3BD4762F4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F14D9-B3C0-CF01-20AB-7FCA3242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977234-0064-AEE4-578A-A2FA4E17A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F68DE5-6DD6-1DEE-F1E1-18F33076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178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B6D51A-06FE-A3CD-6049-9618E7A28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9E49E6-31C6-EA92-D010-EE98F4B12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24569-4144-3992-C720-EC5CD920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D2A64-7CAB-A483-5CCC-4624260BD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96D37-671C-93F1-589A-B13B007B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85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FB1C08-F769-6F55-6E68-93CC0E39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573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CFD521-5D24-95D7-F576-99940F3D7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89080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F8157C4-6E54-7A8D-BC8F-ED982BB8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72E22-EEB3-F943-A7BB-FED982E2A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0CD7C-C1C4-A576-9E6E-AA6025800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79D21-5E37-47DF-B842-B2476AA22663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F771D8-F877-41DE-5376-7E19500C2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A60DD2-E944-F9A6-D477-BF3EA6471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4D0BB-B991-44F1-B26C-EF6F67A43A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4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image" Target="../media/image50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.png"/><Relationship Id="rId5" Type="http://schemas.openxmlformats.org/officeDocument/2006/relationships/image" Target="../media/image70.png"/><Relationship Id="rId10" Type="http://schemas.openxmlformats.org/officeDocument/2006/relationships/image" Target="../media/image120.png"/><Relationship Id="rId4" Type="http://schemas.openxmlformats.org/officeDocument/2006/relationships/image" Target="../media/image61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jpg"/><Relationship Id="rId7" Type="http://schemas.openxmlformats.org/officeDocument/2006/relationships/image" Target="../media/image4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7" Type="http://schemas.openxmlformats.org/officeDocument/2006/relationships/image" Target="../media/image44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43.jp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2.png"/><Relationship Id="rId4" Type="http://schemas.openxmlformats.org/officeDocument/2006/relationships/image" Target="../media/image49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57.jpg"/><Relationship Id="rId7" Type="http://schemas.openxmlformats.org/officeDocument/2006/relationships/image" Target="../media/image6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7" Type="http://schemas.openxmlformats.org/officeDocument/2006/relationships/image" Target="../media/image44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7.jp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2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A9A40-55DD-70F4-969D-E554110C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2447A300-911F-0EA9-B70A-3FA632D5D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17" b="27891"/>
          <a:stretch>
            <a:fillRect/>
          </a:stretch>
        </p:blipFill>
        <p:spPr>
          <a:xfrm>
            <a:off x="5174934" y="0"/>
            <a:ext cx="6912365" cy="2951039"/>
          </a:xfrm>
          <a:prstGeom prst="rect">
            <a:avLst/>
          </a:prstGeom>
        </p:spPr>
      </p:pic>
      <p:sp>
        <p:nvSpPr>
          <p:cNvPr id="22" name="제목 21">
            <a:extLst>
              <a:ext uri="{FF2B5EF4-FFF2-40B4-BE49-F238E27FC236}">
                <a16:creationId xmlns:a16="http://schemas.microsoft.com/office/drawing/2014/main" id="{CAE02D63-E375-0CBE-DA55-0FA181339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314" y="609600"/>
            <a:ext cx="4775200" cy="3877197"/>
          </a:xfrm>
        </p:spPr>
        <p:txBody>
          <a:bodyPr>
            <a:normAutofit/>
          </a:bodyPr>
          <a:lstStyle/>
          <a:p>
            <a:pPr algn="l"/>
            <a: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  <a:t>Double-Double laminates</a:t>
            </a:r>
            <a:b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  <a:t>for improved impact and</a:t>
            </a:r>
            <a:b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4400" dirty="0">
                <a:latin typeface="Arial" panose="020B0604020202020204" pitchFamily="34" charset="0"/>
                <a:cs typeface="Arial" panose="020B0604020202020204" pitchFamily="34" charset="0"/>
              </a:rPr>
              <a:t>post-impact resistance</a:t>
            </a:r>
            <a:endParaRPr lang="ko-KR" altLang="en-US" sz="4400" dirty="0"/>
          </a:p>
        </p:txBody>
      </p:sp>
      <p:pic>
        <p:nvPicPr>
          <p:cNvPr id="2" name="Picture 2" descr="UW Homepage">
            <a:extLst>
              <a:ext uri="{FF2B5EF4-FFF2-40B4-BE49-F238E27FC236}">
                <a16:creationId xmlns:a16="http://schemas.microsoft.com/office/drawing/2014/main" id="{F86350EF-868A-E850-6C83-6364146C9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1" y="5758795"/>
            <a:ext cx="1836828" cy="90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1E2A4B-1FBD-104F-E82E-E1267EC22E32}"/>
              </a:ext>
            </a:extLst>
          </p:cNvPr>
          <p:cNvSpPr txBox="1"/>
          <p:nvPr/>
        </p:nvSpPr>
        <p:spPr>
          <a:xfrm>
            <a:off x="2949690" y="5602069"/>
            <a:ext cx="3816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Dongwon Lee</a:t>
            </a:r>
          </a:p>
          <a:p>
            <a:r>
              <a:rPr lang="en-US" altLang="ko-KR" b="1" dirty="0"/>
              <a:t>Avin</a:t>
            </a:r>
            <a:r>
              <a:rPr lang="ko-KR" altLang="en-US" b="1" dirty="0"/>
              <a:t> </a:t>
            </a:r>
            <a:r>
              <a:rPr lang="en-US" altLang="ko-KR" b="1" dirty="0"/>
              <a:t>Vijay</a:t>
            </a:r>
          </a:p>
        </p:txBody>
      </p:sp>
      <p:pic>
        <p:nvPicPr>
          <p:cNvPr id="15" name="그림 14" descr="W&#10;&#10;AI 생성 콘텐츠는 정확하지 않을 수 있습니다.">
            <a:extLst>
              <a:ext uri="{FF2B5EF4-FFF2-40B4-BE49-F238E27FC236}">
                <a16:creationId xmlns:a16="http://schemas.microsoft.com/office/drawing/2014/main" id="{C068D1B7-72B1-808E-3961-3428EB7731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805" y="2294580"/>
            <a:ext cx="6838195" cy="456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4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80DC2E3-E86E-89EF-017C-94A16007C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256" y="13664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What is quasi-isotropic laminates?</a:t>
            </a:r>
          </a:p>
          <a:p>
            <a:r>
              <a:rPr lang="en-US" altLang="ko-KR" dirty="0"/>
              <a:t>Quasi-isotropic</a:t>
            </a:r>
          </a:p>
          <a:p>
            <a:pPr lvl="1"/>
            <a:r>
              <a:rPr lang="en-US" altLang="ko-KR" dirty="0"/>
              <a:t>Quasi means “almost” and Isotropic means that material that behaves the same in all direction.</a:t>
            </a:r>
          </a:p>
          <a:p>
            <a:r>
              <a:rPr lang="en-US" altLang="ko-KR" dirty="0"/>
              <a:t>Why do we need Quasi-isotropic?</a:t>
            </a:r>
          </a:p>
          <a:p>
            <a:r>
              <a:rPr lang="en-US" altLang="ko-KR" dirty="0"/>
              <a:t>Design</a:t>
            </a:r>
          </a:p>
          <a:p>
            <a:pPr lvl="1"/>
            <a:r>
              <a:rPr lang="en-US" altLang="ko-KR" dirty="0"/>
              <a:t>Only using 0, 45, -45, 90 orientation</a:t>
            </a:r>
          </a:p>
          <a:p>
            <a:pPr lvl="1"/>
            <a:r>
              <a:rPr lang="en-US" altLang="ko-KR" dirty="0"/>
              <a:t>Lacking rational basis– extension of </a:t>
            </a:r>
            <a:br>
              <a:rPr lang="en-US" altLang="ko-KR" dirty="0"/>
            </a:br>
            <a:r>
              <a:rPr lang="en-US" altLang="ko-KR" dirty="0"/>
              <a:t>isotropic mechanics</a:t>
            </a:r>
          </a:p>
          <a:p>
            <a:pPr lvl="1"/>
            <a:r>
              <a:rPr lang="en-US" altLang="ko-KR" dirty="0"/>
              <a:t>Weight penalty</a:t>
            </a:r>
          </a:p>
          <a:p>
            <a:pPr marL="457200" lvl="1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4F98AE1-1024-B3E4-BA09-04F3B9F6F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Quasi-isotropic laminates</a:t>
            </a:r>
            <a:endParaRPr lang="ko-KR" altLang="en-US" sz="4000" dirty="0"/>
          </a:p>
        </p:txBody>
      </p:sp>
      <p:pic>
        <p:nvPicPr>
          <p:cNvPr id="7" name="Picture 2" descr="LeoLau2024">
            <a:extLst>
              <a:ext uri="{FF2B5EF4-FFF2-40B4-BE49-F238E27FC236}">
                <a16:creationId xmlns:a16="http://schemas.microsoft.com/office/drawing/2014/main" id="{57A0637B-D51A-0BB2-3AE0-F65876E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565" y="3096917"/>
            <a:ext cx="3894974" cy="326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45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59E60-201C-5741-139C-4668EBEB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DFA5A73F-0242-0032-05BF-015F3320C97D}"/>
                  </a:ext>
                </a:extLst>
              </p:cNvPr>
              <p:cNvSpPr/>
              <p:nvPr/>
            </p:nvSpPr>
            <p:spPr>
              <a:xfrm>
                <a:off x="739045" y="2055460"/>
                <a:ext cx="5968881" cy="4136996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2800" dirty="0">
                    <a:solidFill>
                      <a:schemeClr val="tx1"/>
                    </a:solidFill>
                  </a:rPr>
                  <a:t>Double-double laminates have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Most general orientation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altLang="ko-KR" sz="2000" dirty="0">
                  <a:solidFill>
                    <a:schemeClr val="tx1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Can have other permutations or symmetry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No need to </a:t>
                </a:r>
                <a:r>
                  <a:rPr lang="en-US" altLang="ko-KR" sz="2000" b="1" dirty="0">
                    <a:solidFill>
                      <a:schemeClr val="tx1"/>
                    </a:solidFill>
                  </a:rPr>
                  <a:t>enforce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 mid-plane symmetry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Homogeneous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Balanced and minimal [D]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Efficient manufacturing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Easy to rework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DFA5A73F-0242-0032-05BF-015F3320C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45" y="2055460"/>
                <a:ext cx="5968881" cy="413699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AC2A1D9-F6D1-F0DB-E350-0062E79B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047" y="1366472"/>
            <a:ext cx="9840213" cy="821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What are double-double laminates and its benefits?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CF6BF539-41CC-6EEB-F723-EB38C3251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Double-Double (DD) Laminates</a:t>
            </a:r>
            <a:endParaRPr lang="ko-KR" altLang="en-US" sz="4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9F1093-983C-EE89-2561-2A70E0799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444" y="2963824"/>
            <a:ext cx="5015306" cy="232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8C8ED-8AF9-005E-4985-0623D1F5B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">
            <a:extLst>
              <a:ext uri="{FF2B5EF4-FFF2-40B4-BE49-F238E27FC236}">
                <a16:creationId xmlns:a16="http://schemas.microsoft.com/office/drawing/2014/main" id="{99F1FC38-E1FF-C8A0-F454-7DEABE1974D6}"/>
              </a:ext>
            </a:extLst>
          </p:cNvPr>
          <p:cNvSpPr txBox="1">
            <a:spLocks/>
          </p:cNvSpPr>
          <p:nvPr/>
        </p:nvSpPr>
        <p:spPr>
          <a:xfrm>
            <a:off x="682256" y="136647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Low velocity impact/ BVID- typical to occur</a:t>
            </a:r>
            <a:br>
              <a:rPr lang="en-US" altLang="ko-KR" dirty="0"/>
            </a:br>
            <a:r>
              <a:rPr lang="en-US" altLang="ko-KR" dirty="0"/>
              <a:t>in service like tool drops.</a:t>
            </a:r>
          </a:p>
          <a:p>
            <a:r>
              <a:rPr lang="en-US" altLang="ko-KR" dirty="0"/>
              <a:t>The CAI test simulates real-world damage</a:t>
            </a:r>
            <a:br>
              <a:rPr lang="en-US" altLang="ko-KR" dirty="0"/>
            </a:br>
            <a:r>
              <a:rPr lang="en-US" altLang="ko-KR" dirty="0"/>
              <a:t> scenarios that could occur in service.</a:t>
            </a:r>
          </a:p>
          <a:p>
            <a:r>
              <a:rPr lang="en-US" altLang="ko-KR" dirty="0"/>
              <a:t>The goal is to evaluate how much</a:t>
            </a:r>
            <a:br>
              <a:rPr lang="en-US" altLang="ko-KR" dirty="0"/>
            </a:br>
            <a:r>
              <a:rPr lang="en-US" altLang="ko-KR" dirty="0"/>
              <a:t>compressive load a composite laminate</a:t>
            </a:r>
            <a:br>
              <a:rPr lang="en-US" altLang="ko-KR" dirty="0"/>
            </a:br>
            <a:r>
              <a:rPr lang="en-US" altLang="ko-KR" dirty="0"/>
              <a:t>can carry after sustaining such damage</a:t>
            </a:r>
          </a:p>
          <a:p>
            <a:r>
              <a:rPr lang="en-US" altLang="ko-KR" dirty="0"/>
              <a:t>Two stages</a:t>
            </a:r>
          </a:p>
          <a:p>
            <a:pPr lvl="1"/>
            <a:r>
              <a:rPr lang="en-US" altLang="ko-KR" dirty="0"/>
              <a:t>Impact stage</a:t>
            </a:r>
          </a:p>
          <a:p>
            <a:pPr lvl="1"/>
            <a:r>
              <a:rPr lang="en-US" altLang="ko-KR" dirty="0"/>
              <a:t>Compression stage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2E01772-EACF-D304-681C-483D46A2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Impact and Compression After Impact</a:t>
            </a:r>
            <a:endParaRPr lang="ko-KR" altLang="en-US" sz="4000" dirty="0"/>
          </a:p>
        </p:txBody>
      </p:sp>
      <p:pic>
        <p:nvPicPr>
          <p:cNvPr id="6" name="Picture 2" descr="IMG_3107">
            <a:extLst>
              <a:ext uri="{FF2B5EF4-FFF2-40B4-BE49-F238E27FC236}">
                <a16:creationId xmlns:a16="http://schemas.microsoft.com/office/drawing/2014/main" id="{4027CF7A-5C49-EE1A-9E2A-7D3784458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961" y="3429000"/>
            <a:ext cx="4036131" cy="269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Low-Velocity Impact Resistance and Compression After Impact Strength of  Thermoplastic Nanofiber Toughened Carbon/Epoxy Composites with Different  Layups">
            <a:extLst>
              <a:ext uri="{FF2B5EF4-FFF2-40B4-BE49-F238E27FC236}">
                <a16:creationId xmlns:a16="http://schemas.microsoft.com/office/drawing/2014/main" id="{369658C6-119C-7B3A-3303-5D7959164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217" y="1589271"/>
            <a:ext cx="3399120" cy="1731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96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C9B8AD8-C1A5-FD2B-1B9E-A4871325D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Mechanics Problem</a:t>
            </a:r>
            <a:endParaRPr lang="ko-KR" altLang="en-US" sz="40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479AB1-4795-720B-3680-EFA57BC795CF}"/>
              </a:ext>
            </a:extLst>
          </p:cNvPr>
          <p:cNvGrpSpPr/>
          <p:nvPr/>
        </p:nvGrpSpPr>
        <p:grpSpPr>
          <a:xfrm>
            <a:off x="6946251" y="1092083"/>
            <a:ext cx="5052774" cy="3633464"/>
            <a:chOff x="6651254" y="882331"/>
            <a:chExt cx="6178403" cy="42056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0EC562-3F00-AE5E-4DE1-2B924693B6EE}"/>
                    </a:ext>
                  </a:extLst>
                </p:cNvPr>
                <p:cNvSpPr txBox="1"/>
                <p:nvPr/>
              </p:nvSpPr>
              <p:spPr>
                <a:xfrm>
                  <a:off x="12213157" y="4183672"/>
                  <a:ext cx="616500" cy="4274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ko-KR" dirty="0">
                      <a:solidFill>
                        <a:srgbClr val="0033CC"/>
                      </a:solidFill>
                    </a:rPr>
                    <a:t>u</a:t>
                  </a:r>
                  <a:endParaRPr lang="ko-KR" altLang="en-US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0EC562-3F00-AE5E-4DE1-2B924693B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3157" y="4183672"/>
                  <a:ext cx="616500" cy="427492"/>
                </a:xfrm>
                <a:prstGeom prst="rect">
                  <a:avLst/>
                </a:prstGeom>
                <a:blipFill>
                  <a:blip r:embed="rId3"/>
                  <a:stretch>
                    <a:fillRect t="-9836" r="-8434" b="-245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DCA298D5-9044-362C-8A26-C2DE9D2C6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63126" y="4226259"/>
              <a:ext cx="461858" cy="482280"/>
            </a:xfrm>
            <a:prstGeom prst="line">
              <a:avLst/>
            </a:prstGeom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" name="정육면체 9">
              <a:extLst>
                <a:ext uri="{FF2B5EF4-FFF2-40B4-BE49-F238E27FC236}">
                  <a16:creationId xmlns:a16="http://schemas.microsoft.com/office/drawing/2014/main" id="{534808E5-F7B5-741D-A3A8-D7508A71532B}"/>
                </a:ext>
              </a:extLst>
            </p:cNvPr>
            <p:cNvSpPr/>
            <p:nvPr/>
          </p:nvSpPr>
          <p:spPr>
            <a:xfrm>
              <a:off x="7635650" y="1708378"/>
              <a:ext cx="3984655" cy="2520000"/>
            </a:xfrm>
            <a:prstGeom prst="cube">
              <a:avLst>
                <a:gd name="adj" fmla="val 1865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9D9241C-2C8D-FDA4-5C9B-49D8CDD8C789}"/>
                </a:ext>
              </a:extLst>
            </p:cNvPr>
            <p:cNvCxnSpPr/>
            <p:nvPr/>
          </p:nvCxnSpPr>
          <p:spPr>
            <a:xfrm>
              <a:off x="11994577" y="4204475"/>
              <a:ext cx="512146" cy="0"/>
            </a:xfrm>
            <a:prstGeom prst="line">
              <a:avLst/>
            </a:prstGeom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1F05C7E4-56E6-A942-6998-ED502DF3C6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7410574" y="1452305"/>
              <a:ext cx="512146" cy="0"/>
            </a:xfrm>
            <a:prstGeom prst="line">
              <a:avLst/>
            </a:prstGeom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ECE16C-EDDF-90D4-9964-1C5FA7915FBD}"/>
                    </a:ext>
                  </a:extLst>
                </p:cNvPr>
                <p:cNvSpPr txBox="1"/>
                <p:nvPr/>
              </p:nvSpPr>
              <p:spPr>
                <a:xfrm>
                  <a:off x="7421975" y="882331"/>
                  <a:ext cx="360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ECE16C-EDDF-90D4-9964-1C5FA7915F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1975" y="882331"/>
                  <a:ext cx="360000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81633" b="-28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4686A5-33BA-C476-4525-4BD7B9710627}"/>
                    </a:ext>
                  </a:extLst>
                </p:cNvPr>
                <p:cNvSpPr txBox="1"/>
                <p:nvPr/>
              </p:nvSpPr>
              <p:spPr>
                <a:xfrm>
                  <a:off x="6893714" y="4586621"/>
                  <a:ext cx="360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ko-KR" altLang="en-US" dirty="0">
                    <a:solidFill>
                      <a:srgbClr val="0033CC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54686A5-33BA-C476-4525-4BD7B9710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3714" y="4586621"/>
                  <a:ext cx="36000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9167" b="-5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3801271-7D54-C3AF-B090-01850FDE0585}"/>
                    </a:ext>
                  </a:extLst>
                </p:cNvPr>
                <p:cNvSpPr txBox="1"/>
                <p:nvPr/>
              </p:nvSpPr>
              <p:spPr>
                <a:xfrm>
                  <a:off x="9417946" y="1339046"/>
                  <a:ext cx="3599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3801271-7D54-C3AF-B090-01850FDE05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7946" y="1339046"/>
                  <a:ext cx="35999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4490" b="-3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AB900F8-98C6-0D30-C131-751CD91CCF0D}"/>
                    </a:ext>
                  </a:extLst>
                </p:cNvPr>
                <p:cNvSpPr txBox="1"/>
                <p:nvPr/>
              </p:nvSpPr>
              <p:spPr>
                <a:xfrm>
                  <a:off x="9417946" y="4183722"/>
                  <a:ext cx="3599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𝑠𝑠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AB900F8-98C6-0D30-C131-751CD91CC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7946" y="4183722"/>
                  <a:ext cx="35999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4490" b="-3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F57C586-D131-3F4D-2729-5AA013B6FCA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7207948" y="4670660"/>
              <a:ext cx="834072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444A2B5A-510C-1823-CB21-8C9D08F90520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1147333" y="4670929"/>
              <a:ext cx="834072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56807621-17DC-4359-FCB8-2878170FF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31524" y="5033215"/>
              <a:ext cx="3932845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arrow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A8E481B-F613-C876-C058-3C18B52EDEE1}"/>
                    </a:ext>
                  </a:extLst>
                </p:cNvPr>
                <p:cNvSpPr txBox="1"/>
                <p:nvPr/>
              </p:nvSpPr>
              <p:spPr>
                <a:xfrm>
                  <a:off x="9447976" y="4653309"/>
                  <a:ext cx="3599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A8E481B-F613-C876-C058-3C18B52EDE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7976" y="4653309"/>
                  <a:ext cx="35999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377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A8A300F-204A-79CF-0211-D2B8922F862C}"/>
                </a:ext>
              </a:extLst>
            </p:cNvPr>
            <p:cNvGrpSpPr/>
            <p:nvPr/>
          </p:nvGrpSpPr>
          <p:grpSpPr>
            <a:xfrm>
              <a:off x="6651254" y="1734364"/>
              <a:ext cx="918718" cy="2491896"/>
              <a:chOff x="2532467" y="1543393"/>
              <a:chExt cx="918718" cy="2592006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A8DB0C6D-C25E-0C2C-ABD5-715FEE8CD4F2}"/>
                  </a:ext>
                </a:extLst>
              </p:cNvPr>
              <p:cNvGrpSpPr/>
              <p:nvPr/>
            </p:nvGrpSpPr>
            <p:grpSpPr>
              <a:xfrm>
                <a:off x="2532467" y="1605666"/>
                <a:ext cx="834339" cy="2464065"/>
                <a:chOff x="8514082" y="2240017"/>
                <a:chExt cx="834339" cy="2464065"/>
              </a:xfrm>
            </p:grpSpPr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9BBC7D62-7E96-225B-85C7-912D2C7569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14082" y="4704082"/>
                  <a:ext cx="834072" cy="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35AA5FB3-F1CD-5DBD-6A9D-AA98911B3A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514349" y="2240017"/>
                  <a:ext cx="834072" cy="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DB63048B-322B-F0B1-D6CD-E876B1675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52144" y="2249542"/>
                  <a:ext cx="0" cy="2448000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solid"/>
                  <a:round/>
                  <a:headEnd type="arrow" w="med" len="med"/>
                  <a:tailEnd type="arrow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91FD5BCA-2917-84E1-4447-A517FE8111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04697" y="3257433"/>
                      <a:ext cx="346096" cy="44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lang="ko-KR" altLang="en-US" dirty="0"/>
                    </a:p>
                  </p:txBody>
                </p:sp>
              </mc:Choice>
              <mc:Fallback xmlns=""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91FD5BCA-2917-84E1-4447-A517FE8111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04697" y="3257433"/>
                      <a:ext cx="346096" cy="444666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65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38" name="직선 연결선 37">
                <a:extLst>
                  <a:ext uri="{FF2B5EF4-FFF2-40B4-BE49-F238E27FC236}">
                    <a16:creationId xmlns:a16="http://schemas.microsoft.com/office/drawing/2014/main" id="{92548546-CA81-F26C-D65C-C8BD7377676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155185" y="2839399"/>
                <a:ext cx="2592000" cy="0"/>
              </a:xfrm>
              <a:prstGeom prst="line">
                <a:avLst/>
              </a:prstGeom>
              <a:ln w="381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BFB5A4A-CD84-81B0-3B8D-5F16E0150C97}"/>
                  </a:ext>
                </a:extLst>
              </p:cNvPr>
              <p:cNvSpPr/>
              <p:nvPr/>
            </p:nvSpPr>
            <p:spPr>
              <a:xfrm rot="5400000">
                <a:off x="2109831" y="2806519"/>
                <a:ext cx="2591999" cy="65748"/>
              </a:xfrm>
              <a:prstGeom prst="rect">
                <a:avLst/>
              </a:prstGeom>
              <a:solidFill>
                <a:srgbClr val="AEABA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1B6D55DC-1C4C-1CA8-7A19-CFDFA62712F2}"/>
                </a:ext>
              </a:extLst>
            </p:cNvPr>
            <p:cNvGrpSpPr/>
            <p:nvPr/>
          </p:nvGrpSpPr>
          <p:grpSpPr>
            <a:xfrm rot="5400000">
              <a:off x="10808100" y="2557235"/>
              <a:ext cx="2484000" cy="838259"/>
              <a:chOff x="3895826" y="703589"/>
              <a:chExt cx="2484000" cy="838259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B2B108C7-C83A-37AD-0538-4464D859364A}"/>
                  </a:ext>
                </a:extLst>
              </p:cNvPr>
              <p:cNvGrpSpPr/>
              <p:nvPr/>
            </p:nvGrpSpPr>
            <p:grpSpPr>
              <a:xfrm>
                <a:off x="3895826" y="1181848"/>
                <a:ext cx="2484000" cy="360000"/>
                <a:chOff x="3895826" y="1181848"/>
                <a:chExt cx="2484000" cy="360000"/>
              </a:xfrm>
            </p:grpSpPr>
            <p:cxnSp>
              <p:nvCxnSpPr>
                <p:cNvPr id="31" name="직선 화살표 연결선 30">
                  <a:extLst>
                    <a:ext uri="{FF2B5EF4-FFF2-40B4-BE49-F238E27FC236}">
                      <a16:creationId xmlns:a16="http://schemas.microsoft.com/office/drawing/2014/main" id="{5BA2C318-B610-B256-0A1C-851B368424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05882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화살표 연결선 31">
                  <a:extLst>
                    <a:ext uri="{FF2B5EF4-FFF2-40B4-BE49-F238E27FC236}">
                      <a16:creationId xmlns:a16="http://schemas.microsoft.com/office/drawing/2014/main" id="{1F99716D-F198-9DD5-29F7-03A3E9D374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70640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화살표 연결선 32">
                  <a:extLst>
                    <a:ext uri="{FF2B5EF4-FFF2-40B4-BE49-F238E27FC236}">
                      <a16:creationId xmlns:a16="http://schemas.microsoft.com/office/drawing/2014/main" id="{E1264A03-FFAF-558D-97D2-5F10FAB339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38261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55501DC8-D427-E096-4E05-2C6B18943D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95826" y="1183965"/>
                  <a:ext cx="2484000" cy="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화살표 연결선 34">
                  <a:extLst>
                    <a:ext uri="{FF2B5EF4-FFF2-40B4-BE49-F238E27FC236}">
                      <a16:creationId xmlns:a16="http://schemas.microsoft.com/office/drawing/2014/main" id="{5FB08374-4083-322F-B7B6-13638D8E8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22072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직선 화살표 연결선 35">
                  <a:extLst>
                    <a:ext uri="{FF2B5EF4-FFF2-40B4-BE49-F238E27FC236}">
                      <a16:creationId xmlns:a16="http://schemas.microsoft.com/office/drawing/2014/main" id="{DDA15F89-2680-8A39-1562-0026CFCDD9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451" y="1181848"/>
                  <a:ext cx="0" cy="36000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80170764-DE32-9FEE-EB7B-38018AC12505}"/>
                      </a:ext>
                    </a:extLst>
                  </p:cNvPr>
                  <p:cNvSpPr txBox="1"/>
                  <p:nvPr/>
                </p:nvSpPr>
                <p:spPr>
                  <a:xfrm>
                    <a:off x="4957826" y="703589"/>
                    <a:ext cx="360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80170764-DE32-9FEE-EB7B-38018AC125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57826" y="703589"/>
                    <a:ext cx="360000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0000" b="-23529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D61A152-1DDE-A03E-DD1F-0B7C880424BC}"/>
              </a:ext>
            </a:extLst>
          </p:cNvPr>
          <p:cNvGrpSpPr/>
          <p:nvPr/>
        </p:nvGrpSpPr>
        <p:grpSpPr>
          <a:xfrm>
            <a:off x="8099397" y="5072826"/>
            <a:ext cx="3983254" cy="1412128"/>
            <a:chOff x="1448707" y="3919468"/>
            <a:chExt cx="3983254" cy="1412128"/>
          </a:xfrm>
        </p:grpSpPr>
        <p:pic>
          <p:nvPicPr>
            <p:cNvPr id="58" name="그림 5">
              <a:extLst>
                <a:ext uri="{FF2B5EF4-FFF2-40B4-BE49-F238E27FC236}">
                  <a16:creationId xmlns:a16="http://schemas.microsoft.com/office/drawing/2014/main" id="{AE7BBCF0-D95A-1C09-A5FC-69CBBA89E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9961"/>
            <a:stretch>
              <a:fillRect/>
            </a:stretch>
          </p:blipFill>
          <p:spPr>
            <a:xfrm>
              <a:off x="1448707" y="3919468"/>
              <a:ext cx="3983254" cy="1412128"/>
            </a:xfrm>
            <a:prstGeom prst="rect">
              <a:avLst/>
            </a:prstGeom>
          </p:spPr>
        </p:pic>
        <p:sp>
          <p:nvSpPr>
            <p:cNvPr id="59" name="직사각형 7">
              <a:extLst>
                <a:ext uri="{FF2B5EF4-FFF2-40B4-BE49-F238E27FC236}">
                  <a16:creationId xmlns:a16="http://schemas.microsoft.com/office/drawing/2014/main" id="{2EABCA0B-6BFE-0899-88F7-FD115D0F085A}"/>
                </a:ext>
              </a:extLst>
            </p:cNvPr>
            <p:cNvSpPr/>
            <p:nvPr/>
          </p:nvSpPr>
          <p:spPr>
            <a:xfrm>
              <a:off x="1517088" y="4400958"/>
              <a:ext cx="3603009" cy="5595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921B457B-2241-24F5-F59B-75604177904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5373" y="6448466"/>
            <a:ext cx="6588249" cy="2277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내용 개체 틀 1">
                <a:extLst>
                  <a:ext uri="{FF2B5EF4-FFF2-40B4-BE49-F238E27FC236}">
                    <a16:creationId xmlns:a16="http://schemas.microsoft.com/office/drawing/2014/main" id="{961C5D12-6E4C-A0EC-D3F0-07663FAC73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2256" y="1366472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ko-KR" dirty="0"/>
                  <a:t>A flat, rectangle panel</a:t>
                </a:r>
              </a:p>
              <a:p>
                <a:pPr lvl="1"/>
                <a:r>
                  <a:rPr lang="en-US" altLang="ko-KR" dirty="0"/>
                  <a:t>6 in x 4 in</a:t>
                </a:r>
              </a:p>
              <a:p>
                <a:r>
                  <a:rPr lang="en-US" altLang="ko-KR" dirty="0"/>
                  <a:t>Simply supported on lateral edges</a:t>
                </a:r>
              </a:p>
              <a:p>
                <a:r>
                  <a:rPr lang="en-US" altLang="ko-KR" dirty="0"/>
                  <a:t>Clamped at x=0,a</a:t>
                </a:r>
              </a:p>
              <a:p>
                <a:r>
                  <a:rPr lang="en-US" altLang="ko-KR" dirty="0"/>
                  <a:t>Load applied from x=a</a:t>
                </a:r>
              </a:p>
              <a:p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b="1" dirty="0"/>
                  <a:t>Material Properties</a:t>
                </a:r>
              </a:p>
              <a:p>
                <a:r>
                  <a:rPr lang="en-US" altLang="ko-KR" dirty="0"/>
                  <a:t>Toray T800/3900S </a:t>
                </a:r>
              </a:p>
              <a:p>
                <a:r>
                  <a:rPr lang="en-US" altLang="ko-KR" dirty="0"/>
                  <a:t>Each lamina will have thickness of 0.0075 in</a:t>
                </a:r>
              </a:p>
              <a:p>
                <a:r>
                  <a:rPr lang="en-US" altLang="ko-KR" dirty="0"/>
                  <a:t>Density 1.44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altLang="ko-KR" dirty="0"/>
                  <a:t> inch-lbf-s</a:t>
                </a:r>
              </a:p>
              <a:p>
                <a:pPr marL="0" indent="0">
                  <a:buNone/>
                </a:pPr>
                <a:endParaRPr lang="en-US" altLang="ko-KR" b="1" dirty="0"/>
              </a:p>
            </p:txBody>
          </p:sp>
        </mc:Choice>
        <mc:Fallback>
          <p:sp>
            <p:nvSpPr>
              <p:cNvPr id="8" name="내용 개체 틀 1">
                <a:extLst>
                  <a:ext uri="{FF2B5EF4-FFF2-40B4-BE49-F238E27FC236}">
                    <a16:creationId xmlns:a16="http://schemas.microsoft.com/office/drawing/2014/main" id="{961C5D12-6E4C-A0EC-D3F0-07663FAC73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2256" y="1366472"/>
                <a:ext cx="10515600" cy="4351338"/>
              </a:xfrm>
              <a:blipFill>
                <a:blip r:embed="rId13"/>
                <a:stretch>
                  <a:fillRect l="-1043" t="-3081" b="-22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820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DB5C6-178A-081C-219C-984A3650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A6500A41-BEEF-A777-84A7-C69F12A740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4000" i="1" dirty="0" smtClean="0">
                        <a:latin typeface="Cambria Math" panose="02040503050406030204" pitchFamily="18" charset="0"/>
                      </a:rPr>
                      <m:t>𝐷𝐷</m:t>
                    </m:r>
                  </m:oMath>
                </a14:m>
                <a:r>
                  <a:rPr lang="en-US" altLang="ko-KR" sz="4000" dirty="0"/>
                  <a:t>and </a:t>
                </a:r>
                <a14:m>
                  <m:oMath xmlns:m="http://schemas.openxmlformats.org/officeDocument/2006/math">
                    <m:r>
                      <a:rPr lang="en-US" altLang="ko-KR" sz="4000" i="1" dirty="0" smtClean="0">
                        <a:latin typeface="Cambria Math" panose="02040503050406030204" pitchFamily="18" charset="0"/>
                      </a:rPr>
                      <m:t>𝐷</m:t>
                    </m:r>
                    <m:acc>
                      <m:accPr>
                        <m:chr m:val="̅"/>
                        <m:ctrlPr>
                          <a:rPr lang="en-US" altLang="ko-KR" sz="4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40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ko-KR" altLang="en-US" sz="4000" dirty="0"/>
                  <a:t> </a:t>
                </a:r>
                <a:r>
                  <a:rPr lang="en-US" altLang="ko-KR" sz="4000" dirty="0"/>
                  <a:t>Orientations</a:t>
                </a:r>
                <a:endParaRPr lang="ko-KR" altLang="en-US" sz="4000" dirty="0"/>
              </a:p>
            </p:txBody>
          </p:sp>
        </mc:Choice>
        <mc:Fallback xmlns="">
          <p:sp>
            <p:nvSpPr>
              <p:cNvPr id="5" name="제목 4">
                <a:extLst>
                  <a:ext uri="{FF2B5EF4-FFF2-40B4-BE49-F238E27FC236}">
                    <a16:creationId xmlns:a16="http://schemas.microsoft.com/office/drawing/2014/main" id="{804E4BF4-1A9A-F406-3A80-08522CDBCC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C7ECA4F5-F0C7-90B8-BDA3-5994D287D4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78"/>
          <a:stretch>
            <a:fillRect/>
          </a:stretch>
        </p:blipFill>
        <p:spPr>
          <a:xfrm>
            <a:off x="7299357" y="1581679"/>
            <a:ext cx="4320000" cy="44793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1">
                <a:extLst>
                  <a:ext uri="{FF2B5EF4-FFF2-40B4-BE49-F238E27FC236}">
                    <a16:creationId xmlns:a16="http://schemas.microsoft.com/office/drawing/2014/main" id="{54707641-4103-909B-A1E2-CB87ED6883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2256" y="1366472"/>
                <a:ext cx="10515600" cy="4351338"/>
              </a:xfrm>
            </p:spPr>
            <p:txBody>
              <a:bodyPr/>
              <a:lstStyle/>
              <a:p>
                <a:r>
                  <a:rPr lang="en-US" altLang="ko-KR" dirty="0"/>
                  <a:t>Total of 16 plies</a:t>
                </a:r>
              </a:p>
              <a:p>
                <a:r>
                  <a:rPr lang="en-US" altLang="ko-KR" dirty="0"/>
                  <a:t>5 different cases</a:t>
                </a:r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1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2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3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4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ko-KR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b="1" dirty="0"/>
              </a:p>
              <a:p>
                <a:pPr marL="800100" lvl="1" indent="-342900"/>
                <a:r>
                  <a:rPr lang="en-US" altLang="ko-KR" b="1" dirty="0"/>
                  <a:t>Case 5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∓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altLang="ko-KR" b="1" dirty="0"/>
              </a:p>
            </p:txBody>
          </p:sp>
        </mc:Choice>
        <mc:Fallback>
          <p:sp>
            <p:nvSpPr>
              <p:cNvPr id="7" name="내용 개체 틀 1">
                <a:extLst>
                  <a:ext uri="{FF2B5EF4-FFF2-40B4-BE49-F238E27FC236}">
                    <a16:creationId xmlns:a16="http://schemas.microsoft.com/office/drawing/2014/main" id="{54707641-4103-909B-A1E2-CB87ED6883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2256" y="1366472"/>
                <a:ext cx="10515600" cy="4351338"/>
              </a:xfrm>
              <a:blipFill>
                <a:blip r:embed="rId5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664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D844-87FE-5F99-77F7-48EA0A58F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0CC6D9E2-ABDB-60CE-5C71-792137E6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9" t="5751"/>
          <a:stretch>
            <a:fillRect/>
          </a:stretch>
        </p:blipFill>
        <p:spPr>
          <a:xfrm>
            <a:off x="6876360" y="4297091"/>
            <a:ext cx="4199622" cy="252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D96AB09D-D2E8-6997-B5B0-5D3D241B674B}"/>
                  </a:ext>
                </a:extLst>
              </p:cNvPr>
              <p:cNvSpPr/>
              <p:nvPr/>
            </p:nvSpPr>
            <p:spPr>
              <a:xfrm>
                <a:off x="495301" y="1249447"/>
                <a:ext cx="5249364" cy="525295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en-US" altLang="ko-KR" sz="2400" b="1" dirty="0">
                    <a:solidFill>
                      <a:schemeClr val="tx1"/>
                    </a:solidFill>
                  </a:rPr>
                  <a:t>, the critical load, is the minimum load at which a structure switches stable load paths due to buckling</a:t>
                </a:r>
              </a:p>
              <a:p>
                <a:endParaRPr lang="en-US" altLang="ko-KR" sz="1100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ko-KR" alt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2400" b="1" dirty="0">
                    <a:solidFill>
                      <a:schemeClr val="tx1"/>
                    </a:solidFill>
                  </a:rPr>
                  <a:t>can be obtained through linear eigenvalue buckling analysis</a:t>
                </a:r>
              </a:p>
              <a:p>
                <a:endParaRPr lang="en-US" altLang="ko-KR" sz="1100" b="1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400" b="1" dirty="0">
                    <a:solidFill>
                      <a:schemeClr val="tx1"/>
                    </a:solidFill>
                  </a:rPr>
                  <a:t>For symmetric laminates, lowest eigenvalue reliably predicts the critical buckling loads</a:t>
                </a:r>
                <a:endParaRPr lang="ko-KR" alt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D96AB09D-D2E8-6997-B5B0-5D3D241B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1" y="1249447"/>
                <a:ext cx="5249364" cy="525295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492B0C3-27ED-29FE-9F7A-AF5C4AF1EA99}"/>
              </a:ext>
            </a:extLst>
          </p:cNvPr>
          <p:cNvSpPr/>
          <p:nvPr/>
        </p:nvSpPr>
        <p:spPr>
          <a:xfrm>
            <a:off x="6447336" y="1446247"/>
            <a:ext cx="5057671" cy="2800299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Load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vs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end-shortening 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Solid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Ideal (perfect)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Theoretical equilibrium path is symmetric</a:t>
            </a:r>
          </a:p>
          <a:p>
            <a:r>
              <a:rPr lang="en-US" altLang="ko-KR" dirty="0">
                <a:solidFill>
                  <a:schemeClr val="tx1"/>
                </a:solidFill>
              </a:rPr>
              <a:t>Dashed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Real (imperfect) structure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Realistic response with small 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initial imperfections or load eccentricity 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660B9D6-95B2-4838-D34F-C523819EE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Buckling vs. Transition Loads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34423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097D7-68C4-FFB8-0F1D-90B4C8AE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593DF67-F391-154E-F2EE-47AEA993F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Transition Loads</a:t>
            </a:r>
            <a:endParaRPr lang="ko-KR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EC9454-64D6-400F-8FFB-AB804DB2B0DD}"/>
                  </a:ext>
                </a:extLst>
              </p:cNvPr>
              <p:cNvSpPr txBox="1"/>
              <p:nvPr/>
            </p:nvSpPr>
            <p:spPr>
              <a:xfrm>
                <a:off x="7349995" y="5411753"/>
                <a:ext cx="3252354" cy="807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e>
                                <m:r>
                                  <a:rPr lang="en-US" altLang="ko-KR" sz="28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ko-KR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ko-KR" sz="2800" dirty="0"/>
                                  <m:t>ε</m:t>
                                </m:r>
                              </m:e>
                              <m:sub>
                                <m:r>
                                  <a:rPr lang="en-US" altLang="ko-KR" sz="28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en-US" altLang="ko-KR" sz="2800" dirty="0"/>
                              <m:t>κ</m:t>
                            </m:r>
                          </m:e>
                        </m:mr>
                      </m:m>
                      <m:r>
                        <a:rPr lang="en-US" altLang="ko-KR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EC9454-64D6-400F-8FFB-AB804DB2B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995" y="5411753"/>
                <a:ext cx="3252354" cy="807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7C44BE02-B2D9-BFB2-6E53-6E7CF4534121}"/>
                  </a:ext>
                </a:extLst>
              </p:cNvPr>
              <p:cNvSpPr/>
              <p:nvPr/>
            </p:nvSpPr>
            <p:spPr>
              <a:xfrm>
                <a:off x="495300" y="1249447"/>
                <a:ext cx="5249365" cy="525295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chemeClr val="tx1"/>
                    </a:solidFill>
                  </a:rPr>
                  <a:t>With initial imperfection, the structure smoothly shifts into a buckling mode</a:t>
                </a:r>
              </a:p>
              <a:p>
                <a:endParaRPr lang="en-US" altLang="ko-KR" sz="11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chemeClr val="tx1"/>
                    </a:solidFill>
                  </a:rPr>
                  <a:t>Transition load often governs usable capacity more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</m:sSub>
                  </m:oMath>
                </a14:m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endParaRPr lang="en-US" altLang="ko-KR" sz="11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chemeClr val="tx1"/>
                    </a:solidFill>
                  </a:rPr>
                  <a:t>Lager imperfection will give lower transition load</a:t>
                </a:r>
              </a:p>
              <a:p>
                <a:endParaRPr lang="en-US" altLang="ko-KR" sz="11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ko-KR" sz="2400" dirty="0">
                    <a:solidFill>
                      <a:schemeClr val="tx1"/>
                    </a:solidFill>
                  </a:rPr>
                  <a:t>Bending loads &amp; </a:t>
                </a:r>
                <a:r>
                  <a:rPr lang="en-US" altLang="ko-KR" sz="2400" dirty="0" err="1">
                    <a:solidFill>
                      <a:schemeClr val="tx1"/>
                    </a:solidFill>
                  </a:rPr>
                  <a:t>Unsymmetry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 → </a:t>
                </a:r>
                <a:r>
                  <a:rPr lang="en-US" altLang="ko-KR" sz="2400" b="1" dirty="0">
                    <a:solidFill>
                      <a:schemeClr val="tx1"/>
                    </a:solidFill>
                  </a:rPr>
                  <a:t>Coupling</a:t>
                </a:r>
              </a:p>
            </p:txBody>
          </p:sp>
        </mc:Choice>
        <mc:Fallback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7C44BE02-B2D9-BFB2-6E53-6E7CF4534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1249447"/>
                <a:ext cx="5249365" cy="525295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8D2ACEDA-F19B-7711-C84C-5AE3952CB4F4}"/>
                  </a:ext>
                </a:extLst>
              </p:cNvPr>
              <p:cNvSpPr/>
              <p:nvPr/>
            </p:nvSpPr>
            <p:spPr>
              <a:xfrm>
                <a:off x="6447337" y="1446247"/>
                <a:ext cx="5057671" cy="367854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400" b="1" dirty="0">
                    <a:solidFill>
                      <a:schemeClr val="tx1"/>
                    </a:solidFill>
                  </a:rPr>
                  <a:t>Bending loads 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arise from external moments, eccentricity, or thickness/geometry variations</a:t>
                </a:r>
              </a:p>
              <a:p>
                <a:endParaRPr lang="en-US" altLang="ko-KR" sz="11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400" b="1" dirty="0">
                    <a:solidFill>
                      <a:schemeClr val="tx1"/>
                    </a:solidFill>
                  </a:rPr>
                  <a:t>Unsymmetric laminate 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→ </a:t>
                </a:r>
                <a:r>
                  <a:rPr lang="en-US" altLang="ko-KR" sz="2400" b="1" dirty="0">
                    <a:solidFill>
                      <a:schemeClr val="tx1"/>
                    </a:solidFill>
                  </a:rPr>
                  <a:t>membrane-bending coupling </a:t>
                </a:r>
                <a:r>
                  <a:rPr lang="en-US" altLang="ko-KR" sz="2400" dirty="0">
                    <a:solidFill>
                      <a:schemeClr val="tx1"/>
                    </a:solidFill>
                  </a:rPr>
                  <a:t>(B≠0)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In-plane forces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N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induce curvatures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κ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Moments </a:t>
                </a:r>
                <a:r>
                  <a:rPr lang="en-US" altLang="ko-KR" b="1" dirty="0">
                    <a:solidFill>
                      <a:schemeClr val="tx1"/>
                    </a:solidFill>
                  </a:rPr>
                  <a:t>M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induce mid-plane strains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 b="1" dirty="0">
                            <a:solidFill>
                              <a:schemeClr val="tx1"/>
                            </a:solidFill>
                          </a:rPr>
                          <m:t>ε</m:t>
                        </m:r>
                      </m:e>
                      <m:sub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8D2ACEDA-F19B-7711-C84C-5AE3952CB4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337" y="1446247"/>
                <a:ext cx="5057671" cy="3678541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 l="-1563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64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EA67-94D5-514F-1399-E3B0267F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54F800B-32E4-4BFF-CFDA-943995025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Imperfection seeding</a:t>
            </a:r>
            <a:endParaRPr lang="ko-KR" altLang="en-US" sz="4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74F7B9E-E437-51B9-4012-3CE59562B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90" y="3631485"/>
            <a:ext cx="3977065" cy="31538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FF88A7-840F-DE08-8410-256D69EAD6C9}"/>
                  </a:ext>
                </a:extLst>
              </p:cNvPr>
              <p:cNvSpPr txBox="1"/>
              <p:nvPr/>
            </p:nvSpPr>
            <p:spPr>
              <a:xfrm>
                <a:off x="7003499" y="5594938"/>
                <a:ext cx="4006850" cy="84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0" i="1" dirty="0">
                    <a:latin typeface="Cambria Math" panose="02040503050406030204" pitchFamily="18" charset="0"/>
                  </a:rPr>
                  <a:t>Sinusoidal model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𝑚𝑛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FF88A7-840F-DE08-8410-256D69EAD6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499" y="5594938"/>
                <a:ext cx="4006850" cy="843693"/>
              </a:xfrm>
              <a:prstGeom prst="rect">
                <a:avLst/>
              </a:prstGeom>
              <a:blipFill>
                <a:blip r:embed="rId4"/>
                <a:stretch>
                  <a:fillRect l="-1370" t="-507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6F67437F-78E1-8615-22CA-D3F2424C57D9}"/>
                  </a:ext>
                </a:extLst>
              </p:cNvPr>
              <p:cNvSpPr/>
              <p:nvPr/>
            </p:nvSpPr>
            <p:spPr>
              <a:xfrm>
                <a:off x="6382242" y="1366473"/>
                <a:ext cx="5249365" cy="3938444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2400" b="1" dirty="0">
                    <a:solidFill>
                      <a:schemeClr val="tx1"/>
                    </a:solidFill>
                  </a:rPr>
                  <a:t>Generalized Imperfect seeding</a:t>
                </a:r>
                <a:endParaRPr lang="en-US" altLang="ko-KR" sz="2400" dirty="0">
                  <a:solidFill>
                    <a:schemeClr val="tx1"/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Obtain buckling mode shape from Eigen value analysis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Scaling one or more of these mode shapes as initial geometric imperfections in a subsequent nonlinear static analysis.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2000" dirty="0">
                    <a:solidFill>
                      <a:schemeClr val="tx1"/>
                    </a:solidFill>
                  </a:rPr>
                  <a:t>Identify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𝑡𝑟𝑎𝑛𝑠𝑖𝑡𝑖𝑜𝑛</m:t>
                        </m:r>
                      </m:sub>
                    </m:sSub>
                  </m:oMath>
                </a14:m>
                <a:r>
                  <a:rPr lang="ko-KR" alt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2000" dirty="0">
                    <a:solidFill>
                      <a:schemeClr val="tx1"/>
                    </a:solidFill>
                  </a:rPr>
                  <a:t>from the plot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사각형: 둥근 모서리 2">
                <a:extLst>
                  <a:ext uri="{FF2B5EF4-FFF2-40B4-BE49-F238E27FC236}">
                    <a16:creationId xmlns:a16="http://schemas.microsoft.com/office/drawing/2014/main" id="{6F67437F-78E1-8615-22CA-D3F2424C5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242" y="1366473"/>
                <a:ext cx="5249365" cy="393844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1C9CCF9-881D-0B3B-DC30-3FCE52B3D859}"/>
              </a:ext>
            </a:extLst>
          </p:cNvPr>
          <p:cNvSpPr/>
          <p:nvPr/>
        </p:nvSpPr>
        <p:spPr>
          <a:xfrm>
            <a:off x="752088" y="1496425"/>
            <a:ext cx="5057671" cy="2103304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tx1"/>
                </a:solidFill>
              </a:rPr>
              <a:t>What if some layups are not symmetric?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If it is non-symmetric, we cannot use eigenvalue.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It overestimates the critical load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Miss the actual buckling 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B matrix in stiffness matrix is not zero</a:t>
            </a:r>
          </a:p>
        </p:txBody>
      </p:sp>
    </p:spTree>
    <p:extLst>
      <p:ext uri="{BB962C8B-B14F-4D97-AF65-F5344CB8AC3E}">
        <p14:creationId xmlns:p14="http://schemas.microsoft.com/office/powerpoint/2010/main" val="2014084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83EBE6C-2B82-9543-D7BC-F6EC697F6D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sz="2000" dirty="0"/>
                  <a:t>Stage 0 : Create sample input file</a:t>
                </a:r>
              </a:p>
              <a:p>
                <a:pPr lvl="1"/>
                <a:r>
                  <a:rPr lang="en-US" altLang="ko-KR" sz="1600" dirty="0"/>
                  <a:t>B.C.s</a:t>
                </a:r>
              </a:p>
              <a:p>
                <a:pPr lvl="1"/>
                <a:r>
                  <a:rPr lang="en-US" altLang="ko-KR" sz="1600" dirty="0"/>
                  <a:t>Material Properties</a:t>
                </a:r>
              </a:p>
              <a:p>
                <a:r>
                  <a:rPr lang="en-US" altLang="ko-KR" sz="2000" dirty="0"/>
                  <a:t>Stage 1 : Python Pre-Process</a:t>
                </a:r>
              </a:p>
              <a:p>
                <a:pPr lvl="1"/>
                <a:r>
                  <a:rPr lang="en-US" altLang="ko-KR" sz="1600" dirty="0"/>
                  <a:t>Imperfection seeding</a:t>
                </a:r>
              </a:p>
              <a:p>
                <a:pPr lvl="1"/>
                <a:r>
                  <a:rPr lang="en-US" altLang="ko-KR" sz="1600" dirty="0"/>
                  <a:t>Orientation</a:t>
                </a:r>
              </a:p>
              <a:p>
                <a:r>
                  <a:rPr lang="en-US" altLang="ko-KR" sz="2000" dirty="0"/>
                  <a:t>Stage 2 : .</a:t>
                </a:r>
                <a:r>
                  <a:rPr lang="en-US" altLang="ko-KR" sz="2000" dirty="0" err="1"/>
                  <a:t>inp</a:t>
                </a:r>
                <a:r>
                  <a:rPr lang="en-US" altLang="ko-KR" sz="2000" dirty="0"/>
                  <a:t> Generation &amp; Abaqus Run</a:t>
                </a:r>
              </a:p>
              <a:p>
                <a:r>
                  <a:rPr lang="en-US" altLang="ko-KR" sz="2000" dirty="0"/>
                  <a:t>Stage 3 : .</a:t>
                </a:r>
                <a:r>
                  <a:rPr lang="en-US" altLang="ko-KR" sz="2000" dirty="0" err="1"/>
                  <a:t>dat</a:t>
                </a:r>
                <a:r>
                  <a:rPr lang="en-US" altLang="ko-KR" sz="2000" dirty="0"/>
                  <a:t> &amp; .</a:t>
                </a:r>
                <a:r>
                  <a:rPr lang="en-US" altLang="ko-KR" sz="2000" dirty="0" err="1"/>
                  <a:t>odb</a:t>
                </a:r>
                <a:endParaRPr lang="en-US" altLang="ko-KR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𝒕𝒓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𝒓</m:t>
                        </m:r>
                      </m:sub>
                    </m:sSub>
                  </m:oMath>
                </a14:m>
                <a:endParaRPr lang="en-US" altLang="ko-KR" sz="1600" b="1" dirty="0"/>
              </a:p>
              <a:p>
                <a:pPr lvl="1"/>
                <a:r>
                  <a:rPr lang="el-GR" altLang="ko-KR" sz="1600" b="1" dirty="0">
                    <a:ea typeface="맑은 고딕" panose="020B0503020000020004" pitchFamily="50" charset="-127"/>
                  </a:rPr>
                  <a:t>ω</a:t>
                </a:r>
                <a:endParaRPr lang="en-US" altLang="ko-KR" sz="1600" b="1" dirty="0">
                  <a:ea typeface="맑은 고딕" panose="020B0503020000020004" pitchFamily="50" charset="-127"/>
                </a:endParaRPr>
              </a:p>
              <a:p>
                <a:r>
                  <a:rPr lang="en-US" altLang="ko-KR" sz="2000" dirty="0"/>
                  <a:t>Stage 4 : Post-Processing &amp; QC</a:t>
                </a:r>
              </a:p>
              <a:p>
                <a:pPr lvl="1"/>
                <a:r>
                  <a:rPr lang="en-US" altLang="ko-KR" sz="1600" dirty="0"/>
                  <a:t>Check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𝒕𝒓</m:t>
                        </m:r>
                      </m:sub>
                    </m:sSub>
                  </m:oMath>
                </a14:m>
                <a:r>
                  <a:rPr lang="en-US" altLang="ko-KR" sz="1600" dirty="0"/>
                  <a:t> is correct by looking at the </a:t>
                </a:r>
                <a:r>
                  <a:rPr lang="en-US" altLang="ko-KR" sz="1600" dirty="0" err="1"/>
                  <a:t>xy</a:t>
                </a:r>
                <a:r>
                  <a:rPr lang="en-US" altLang="ko-KR" sz="1600" dirty="0"/>
                  <a:t> plot</a:t>
                </a:r>
              </a:p>
              <a:p>
                <a:r>
                  <a:rPr lang="en-US" altLang="ko-KR" sz="2000" dirty="0"/>
                  <a:t>Stage 5 : Output &amp; Data Management</a:t>
                </a:r>
              </a:p>
              <a:p>
                <a:pPr lvl="1"/>
                <a:r>
                  <a:rPr lang="en-US" altLang="ko-KR" sz="1600" dirty="0"/>
                  <a:t>Generate .csv file to save data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583EBE6C-2B82-9543-D7BC-F6EC697F6D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22" t="-2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제목 4">
            <a:extLst>
              <a:ext uri="{FF2B5EF4-FFF2-40B4-BE49-F238E27FC236}">
                <a16:creationId xmlns:a16="http://schemas.microsoft.com/office/drawing/2014/main" id="{3874E901-AFB3-3866-D819-AAC7E58F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Optimization workflow</a:t>
            </a:r>
            <a:endParaRPr lang="ko-KR" altLang="en-US" sz="4000" dirty="0"/>
          </a:p>
        </p:txBody>
      </p:sp>
      <p:pic>
        <p:nvPicPr>
          <p:cNvPr id="10" name="그림 9" descr="The diagram appears to be a flowchart or decision tree outlining a process for generating input files (.inp) for a computational simulation in Abaqus software, including steps for setting up orientation, seeding, determining points of interest, and creating various data files for further analysis.&#10;&#10;AI 생성 콘텐츠는 정확하지 않을 수 있습니다.">
            <a:extLst>
              <a:ext uri="{FF2B5EF4-FFF2-40B4-BE49-F238E27FC236}">
                <a16:creationId xmlns:a16="http://schemas.microsoft.com/office/drawing/2014/main" id="{3B6CBE5A-0402-46FE-09CE-593A7E1392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563" y="1202385"/>
            <a:ext cx="3831416" cy="559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6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46333-EB72-66A4-3560-DBC43403A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A1A9CC3-2637-28C8-F097-BB02BFE3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Type 1: Imperfection perfect</a:t>
            </a:r>
            <a:endParaRPr lang="ko-KR" altLang="en-US" sz="4000" dirty="0"/>
          </a:p>
        </p:txBody>
      </p:sp>
      <p:pic>
        <p:nvPicPr>
          <p:cNvPr id="9" name="그림 8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239328-C6B9-64C4-6704-72B92B7B3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71" y="1929423"/>
            <a:ext cx="6120000" cy="367200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3A2E0FD-3D0C-AEC8-C404-3FC3BA2A94A3}"/>
              </a:ext>
            </a:extLst>
          </p:cNvPr>
          <p:cNvCxnSpPr>
            <a:cxnSpLocks/>
          </p:cNvCxnSpPr>
          <p:nvPr/>
        </p:nvCxnSpPr>
        <p:spPr>
          <a:xfrm flipV="1">
            <a:off x="1223809" y="2589879"/>
            <a:ext cx="2593975" cy="2638425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DF78630-06CE-F677-47CA-A0377499C06D}"/>
              </a:ext>
            </a:extLst>
          </p:cNvPr>
          <p:cNvCxnSpPr>
            <a:cxnSpLocks/>
          </p:cNvCxnSpPr>
          <p:nvPr/>
        </p:nvCxnSpPr>
        <p:spPr>
          <a:xfrm flipV="1">
            <a:off x="1452409" y="2869279"/>
            <a:ext cx="3673475" cy="1254125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78F660DA-428E-9CEB-9392-F9F1B4589B87}"/>
              </a:ext>
            </a:extLst>
          </p:cNvPr>
          <p:cNvSpPr/>
          <p:nvPr/>
        </p:nvSpPr>
        <p:spPr>
          <a:xfrm>
            <a:off x="2709099" y="3636874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56FEBF3-FC0D-5594-748E-4E8C634C7026}"/>
              </a:ext>
            </a:extLst>
          </p:cNvPr>
          <p:cNvGrpSpPr/>
          <p:nvPr/>
        </p:nvGrpSpPr>
        <p:grpSpPr>
          <a:xfrm>
            <a:off x="3149733" y="5617653"/>
            <a:ext cx="1546225" cy="369332"/>
            <a:chOff x="3028950" y="4979471"/>
            <a:chExt cx="1546225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7DA7A0F-9AAF-2F80-A077-6043218D0621}"/>
                    </a:ext>
                  </a:extLst>
                </p:cNvPr>
                <p:cNvSpPr txBox="1"/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/>
                    <a:t> 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</m:sub>
                      </m:sSub>
                    </m:oMath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7DA7A0F-9AAF-2F80-A077-6043218D06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7FE17384-9BA6-2086-0A93-2E757C511BFE}"/>
                </a:ext>
              </a:extLst>
            </p:cNvPr>
            <p:cNvSpPr/>
            <p:nvPr/>
          </p:nvSpPr>
          <p:spPr>
            <a:xfrm>
              <a:off x="3427355" y="5100879"/>
              <a:ext cx="124883" cy="12382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79DBF91-D345-7343-11E0-FA586B24F0E2}"/>
              </a:ext>
            </a:extLst>
          </p:cNvPr>
          <p:cNvSpPr/>
          <p:nvPr/>
        </p:nvSpPr>
        <p:spPr>
          <a:xfrm>
            <a:off x="500743" y="1499616"/>
            <a:ext cx="6433457" cy="4672584"/>
          </a:xfrm>
          <a:prstGeom prst="roundRect">
            <a:avLst>
              <a:gd name="adj" fmla="val 11342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EAE60C25-305E-EFDF-A4C7-390EEF615D91}"/>
              </a:ext>
            </a:extLst>
          </p:cNvPr>
          <p:cNvSpPr/>
          <p:nvPr/>
        </p:nvSpPr>
        <p:spPr>
          <a:xfrm>
            <a:off x="658368" y="1261872"/>
            <a:ext cx="3264478" cy="468000"/>
          </a:xfrm>
          <a:prstGeom prst="roundRect">
            <a:avLst>
              <a:gd name="adj" fmla="val 17857"/>
            </a:avLst>
          </a:prstGeom>
          <a:solidFill>
            <a:schemeClr val="accent6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Type 1: Imperfection perfect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003129F-FD94-C891-182C-35E889C8C3AD}"/>
              </a:ext>
            </a:extLst>
          </p:cNvPr>
          <p:cNvSpPr/>
          <p:nvPr/>
        </p:nvSpPr>
        <p:spPr>
          <a:xfrm>
            <a:off x="7162800" y="1683421"/>
            <a:ext cx="4741796" cy="2779722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solidFill>
                  <a:schemeClr val="tx1"/>
                </a:solidFill>
              </a:rPr>
              <a:t>Characteristics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Initial stiffness is nearly 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Post-transition stiffness is also approximately 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Knee point is clear and stable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5EE9A5-3046-B56A-2C77-08B8182169EB}"/>
              </a:ext>
            </a:extLst>
          </p:cNvPr>
          <p:cNvSpPr/>
          <p:nvPr/>
        </p:nvSpPr>
        <p:spPr>
          <a:xfrm>
            <a:off x="7162800" y="4593770"/>
            <a:ext cx="4741796" cy="137887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Decision: Transition load = intersection of the initial and post-transition fitted lines.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31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B04A6-0C78-1330-B284-CC2F7FFA6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C23E773-55E0-193E-365E-5E889835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Type 2: Imperfection imperfect - 1</a:t>
            </a:r>
            <a:endParaRPr lang="ko-KR" altLang="en-US" sz="4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1998DAA-37B8-B39C-C58C-BAAC391638F7}"/>
              </a:ext>
            </a:extLst>
          </p:cNvPr>
          <p:cNvSpPr/>
          <p:nvPr/>
        </p:nvSpPr>
        <p:spPr>
          <a:xfrm>
            <a:off x="500742" y="1499616"/>
            <a:ext cx="5400000" cy="3600000"/>
          </a:xfrm>
          <a:prstGeom prst="roundRect">
            <a:avLst>
              <a:gd name="adj" fmla="val 11342"/>
            </a:avLst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FD675D0F-5A8A-B501-306C-052411503A30}"/>
              </a:ext>
            </a:extLst>
          </p:cNvPr>
          <p:cNvSpPr/>
          <p:nvPr/>
        </p:nvSpPr>
        <p:spPr>
          <a:xfrm>
            <a:off x="658368" y="1261872"/>
            <a:ext cx="3996182" cy="468000"/>
          </a:xfrm>
          <a:prstGeom prst="roundRect">
            <a:avLst>
              <a:gd name="adj" fmla="val 17857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Type 2: Imperfection imperfect - 1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B4C5153F-9AAE-72BB-30C3-87B9F693FF6C}"/>
              </a:ext>
            </a:extLst>
          </p:cNvPr>
          <p:cNvSpPr/>
          <p:nvPr/>
        </p:nvSpPr>
        <p:spPr>
          <a:xfrm>
            <a:off x="5916000" y="3010776"/>
            <a:ext cx="360000" cy="570191"/>
          </a:xfrm>
          <a:prstGeom prst="chevr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3" name="그림 42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6DBAE6-5086-9525-55E4-0F2BDE3163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742" y="1863016"/>
            <a:ext cx="4680000" cy="2615575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80E3F946-B381-A131-3251-4EB4EDEC7804}"/>
              </a:ext>
            </a:extLst>
          </p:cNvPr>
          <p:cNvCxnSpPr>
            <a:cxnSpLocks/>
          </p:cNvCxnSpPr>
          <p:nvPr/>
        </p:nvCxnSpPr>
        <p:spPr>
          <a:xfrm flipV="1">
            <a:off x="1291000" y="2491189"/>
            <a:ext cx="1252818" cy="1725571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9E1E07D-F2C0-3CC4-C7DD-C89C4853EC15}"/>
              </a:ext>
            </a:extLst>
          </p:cNvPr>
          <p:cNvCxnSpPr>
            <a:cxnSpLocks/>
          </p:cNvCxnSpPr>
          <p:nvPr/>
        </p:nvCxnSpPr>
        <p:spPr>
          <a:xfrm flipV="1">
            <a:off x="1406525" y="2825750"/>
            <a:ext cx="1943100" cy="815975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08A51F4C-5BC6-2A49-01F6-58C0A72367B5}"/>
              </a:ext>
            </a:extLst>
          </p:cNvPr>
          <p:cNvSpPr/>
          <p:nvPr/>
        </p:nvSpPr>
        <p:spPr>
          <a:xfrm>
            <a:off x="1816316" y="3429000"/>
            <a:ext cx="55059" cy="5128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25B7EF0-5731-2A02-FCF3-8950AAC31AAB}"/>
              </a:ext>
            </a:extLst>
          </p:cNvPr>
          <p:cNvGrpSpPr/>
          <p:nvPr/>
        </p:nvGrpSpPr>
        <p:grpSpPr>
          <a:xfrm>
            <a:off x="2609983" y="4478591"/>
            <a:ext cx="1546225" cy="369332"/>
            <a:chOff x="3028950" y="4979471"/>
            <a:chExt cx="1546225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B011B1-D400-AFF3-62F3-B0FFDB229BBD}"/>
                    </a:ext>
                  </a:extLst>
                </p:cNvPr>
                <p:cNvSpPr txBox="1"/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/>
                    <a:t> 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3B011B1-D400-AFF3-62F3-B0FFDB229B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5151E29-A059-B688-D51D-AC338725EBB9}"/>
                </a:ext>
              </a:extLst>
            </p:cNvPr>
            <p:cNvSpPr/>
            <p:nvPr/>
          </p:nvSpPr>
          <p:spPr>
            <a:xfrm>
              <a:off x="3391514" y="5102224"/>
              <a:ext cx="124883" cy="12382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4" name="그림 53">
            <a:extLst>
              <a:ext uri="{FF2B5EF4-FFF2-40B4-BE49-F238E27FC236}">
                <a16:creationId xmlns:a16="http://schemas.microsoft.com/office/drawing/2014/main" id="{2FAB8250-EE2D-5882-86CB-1DC813C103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258" y="1888713"/>
            <a:ext cx="4680000" cy="2615575"/>
          </a:xfrm>
          <a:prstGeom prst="rect">
            <a:avLst/>
          </a:prstGeom>
        </p:spPr>
      </p:pic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727DCD1-81BB-FDFB-F784-24C0EBE5BB33}"/>
              </a:ext>
            </a:extLst>
          </p:cNvPr>
          <p:cNvCxnSpPr>
            <a:cxnSpLocks/>
          </p:cNvCxnSpPr>
          <p:nvPr/>
        </p:nvCxnSpPr>
        <p:spPr>
          <a:xfrm flipV="1">
            <a:off x="7083758" y="2465180"/>
            <a:ext cx="347196" cy="1777587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47249EB-76E7-438E-B698-3010E8AE87D1}"/>
              </a:ext>
            </a:extLst>
          </p:cNvPr>
          <p:cNvCxnSpPr>
            <a:cxnSpLocks/>
          </p:cNvCxnSpPr>
          <p:nvPr/>
        </p:nvCxnSpPr>
        <p:spPr>
          <a:xfrm flipV="1">
            <a:off x="7060017" y="3429000"/>
            <a:ext cx="1158128" cy="316619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40B1DD98-C7B7-3B8D-D7ED-DDCC7132B652}"/>
              </a:ext>
            </a:extLst>
          </p:cNvPr>
          <p:cNvSpPr/>
          <p:nvPr/>
        </p:nvSpPr>
        <p:spPr>
          <a:xfrm>
            <a:off x="7171098" y="3693479"/>
            <a:ext cx="34962" cy="3467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E47A98A-4F14-9BA6-F8CA-063CEFCA622D}"/>
              </a:ext>
            </a:extLst>
          </p:cNvPr>
          <p:cNvGrpSpPr/>
          <p:nvPr/>
        </p:nvGrpSpPr>
        <p:grpSpPr>
          <a:xfrm>
            <a:off x="8218145" y="4478590"/>
            <a:ext cx="1546225" cy="369332"/>
            <a:chOff x="3028950" y="4979471"/>
            <a:chExt cx="1546225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46EAA23-AE7A-096E-FF66-446F23277F1B}"/>
                    </a:ext>
                  </a:extLst>
                </p:cNvPr>
                <p:cNvSpPr txBox="1"/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/>
                    <a:t> 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046EAA23-AE7A-096E-FF66-446F23277F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40B83D00-D4E4-97A6-61CF-75FC3C7CF0D9}"/>
                </a:ext>
              </a:extLst>
            </p:cNvPr>
            <p:cNvSpPr/>
            <p:nvPr/>
          </p:nvSpPr>
          <p:spPr>
            <a:xfrm>
              <a:off x="3391514" y="5102224"/>
              <a:ext cx="124883" cy="12382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4BB796D2-94B8-150C-A207-464B829D11A3}"/>
              </a:ext>
            </a:extLst>
          </p:cNvPr>
          <p:cNvSpPr/>
          <p:nvPr/>
        </p:nvSpPr>
        <p:spPr>
          <a:xfrm>
            <a:off x="500742" y="5315458"/>
            <a:ext cx="5400000" cy="1439762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tx1"/>
                </a:solidFill>
              </a:rPr>
              <a:t>Characteristics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Initial stiffness is nearly 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Post-transition stiffness curves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Knee point is somewhat unclear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Need to look at u3 displacement plot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23521C9-7C3E-C61C-DDC2-1AF3F246DA26}"/>
              </a:ext>
            </a:extLst>
          </p:cNvPr>
          <p:cNvSpPr/>
          <p:nvPr/>
        </p:nvSpPr>
        <p:spPr>
          <a:xfrm>
            <a:off x="6348876" y="5315458"/>
            <a:ext cx="5356564" cy="143976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Decision: Transition load = (intersection of the initial and post-transition fitted lines from force plot + intersection of initial and post-transition fitted lines from u3 plot) / 2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6B11696B-6D1A-4B3C-69B2-5B6827851D63}"/>
              </a:ext>
            </a:extLst>
          </p:cNvPr>
          <p:cNvSpPr/>
          <p:nvPr/>
        </p:nvSpPr>
        <p:spPr>
          <a:xfrm>
            <a:off x="6305440" y="1499616"/>
            <a:ext cx="5400000" cy="3600000"/>
          </a:xfrm>
          <a:prstGeom prst="roundRect">
            <a:avLst>
              <a:gd name="adj" fmla="val 11342"/>
            </a:avLst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2CFFEBF6-0F4F-12C3-E202-343FF0F4B0F4}"/>
              </a:ext>
            </a:extLst>
          </p:cNvPr>
          <p:cNvSpPr/>
          <p:nvPr/>
        </p:nvSpPr>
        <p:spPr>
          <a:xfrm>
            <a:off x="6463066" y="1261872"/>
            <a:ext cx="2567520" cy="468000"/>
          </a:xfrm>
          <a:prstGeom prst="roundRect">
            <a:avLst>
              <a:gd name="adj" fmla="val 17857"/>
            </a:avLst>
          </a:prstGeom>
          <a:solidFill>
            <a:schemeClr val="accent4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U3 displacement plot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01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F1B4-4658-04F2-7DE9-23148DEF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라인, 그래프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F3055B-F2E8-C10C-A5FF-DB5F21A11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182" y="1889937"/>
            <a:ext cx="4680000" cy="261435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61D930C-3DE7-BC65-F4B2-65BD21B90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18" y="1888713"/>
            <a:ext cx="4680000" cy="261557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090F25D3-C184-B8AB-AFAC-6816D7A5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Type 3: Imperfection imperfect - 2</a:t>
            </a:r>
            <a:endParaRPr lang="ko-KR" altLang="en-US" sz="4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5D1E50B-49C2-0A3B-E707-A655641AF89C}"/>
              </a:ext>
            </a:extLst>
          </p:cNvPr>
          <p:cNvSpPr/>
          <p:nvPr/>
        </p:nvSpPr>
        <p:spPr>
          <a:xfrm>
            <a:off x="500742" y="1499616"/>
            <a:ext cx="5400000" cy="3600000"/>
          </a:xfrm>
          <a:prstGeom prst="roundRect">
            <a:avLst>
              <a:gd name="adj" fmla="val 11342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C4FD956A-D5C9-1112-32DD-E7BDC627314D}"/>
              </a:ext>
            </a:extLst>
          </p:cNvPr>
          <p:cNvSpPr/>
          <p:nvPr/>
        </p:nvSpPr>
        <p:spPr>
          <a:xfrm>
            <a:off x="658368" y="1261872"/>
            <a:ext cx="3996182" cy="468000"/>
          </a:xfrm>
          <a:prstGeom prst="roundRect">
            <a:avLst>
              <a:gd name="adj" fmla="val 17857"/>
            </a:avLst>
          </a:prstGeom>
          <a:solidFill>
            <a:schemeClr val="accent2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Type 3: Imperfection imperfect - 2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1" name="화살표: 갈매기형 수장 40">
            <a:extLst>
              <a:ext uri="{FF2B5EF4-FFF2-40B4-BE49-F238E27FC236}">
                <a16:creationId xmlns:a16="http://schemas.microsoft.com/office/drawing/2014/main" id="{F758D6FE-8359-6653-AD50-BFACB78BEF87}"/>
              </a:ext>
            </a:extLst>
          </p:cNvPr>
          <p:cNvSpPr/>
          <p:nvPr/>
        </p:nvSpPr>
        <p:spPr>
          <a:xfrm>
            <a:off x="5916000" y="3010776"/>
            <a:ext cx="360000" cy="570191"/>
          </a:xfrm>
          <a:prstGeom prst="chevr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A99ABD77-1CCD-E464-F7F5-371273269D30}"/>
              </a:ext>
            </a:extLst>
          </p:cNvPr>
          <p:cNvCxnSpPr>
            <a:cxnSpLocks/>
          </p:cNvCxnSpPr>
          <p:nvPr/>
        </p:nvCxnSpPr>
        <p:spPr>
          <a:xfrm flipV="1">
            <a:off x="1291000" y="2825750"/>
            <a:ext cx="724696" cy="139101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C52D2C2-955F-4EDE-C586-5C8F51D06D13}"/>
              </a:ext>
            </a:extLst>
          </p:cNvPr>
          <p:cNvCxnSpPr>
            <a:cxnSpLocks/>
          </p:cNvCxnSpPr>
          <p:nvPr/>
        </p:nvCxnSpPr>
        <p:spPr>
          <a:xfrm flipV="1">
            <a:off x="1366838" y="3068638"/>
            <a:ext cx="1363662" cy="750887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B8883D9D-6719-DC7D-2A5D-266A8066EAB7}"/>
              </a:ext>
            </a:extLst>
          </p:cNvPr>
          <p:cNvSpPr/>
          <p:nvPr/>
        </p:nvSpPr>
        <p:spPr>
          <a:xfrm>
            <a:off x="1522629" y="3690725"/>
            <a:ext cx="55059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840ADD4-667D-F453-3F4E-E1E9EF926310}"/>
              </a:ext>
            </a:extLst>
          </p:cNvPr>
          <p:cNvGrpSpPr/>
          <p:nvPr/>
        </p:nvGrpSpPr>
        <p:grpSpPr>
          <a:xfrm>
            <a:off x="2609983" y="4478591"/>
            <a:ext cx="1546225" cy="369332"/>
            <a:chOff x="3028950" y="4979471"/>
            <a:chExt cx="1546225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8A4569C-B7FE-6353-33D2-0DE788064DCC}"/>
                    </a:ext>
                  </a:extLst>
                </p:cNvPr>
                <p:cNvSpPr txBox="1"/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/>
                    <a:t> 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8A4569C-B7FE-6353-33D2-0DE788064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790A9B5D-83AB-DF7A-0C37-B0BC8CD0BC46}"/>
                </a:ext>
              </a:extLst>
            </p:cNvPr>
            <p:cNvSpPr/>
            <p:nvPr/>
          </p:nvSpPr>
          <p:spPr>
            <a:xfrm>
              <a:off x="3391514" y="5102224"/>
              <a:ext cx="124883" cy="12382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7FB5C32F-FA04-FE65-2022-9FEFF05B6E24}"/>
              </a:ext>
            </a:extLst>
          </p:cNvPr>
          <p:cNvCxnSpPr>
            <a:cxnSpLocks/>
          </p:cNvCxnSpPr>
          <p:nvPr/>
        </p:nvCxnSpPr>
        <p:spPr>
          <a:xfrm flipV="1">
            <a:off x="7083758" y="2865967"/>
            <a:ext cx="199404" cy="1376800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29C6BA3-8C39-09BE-0C93-E5FCAFC5A2A0}"/>
              </a:ext>
            </a:extLst>
          </p:cNvPr>
          <p:cNvCxnSpPr>
            <a:cxnSpLocks/>
          </p:cNvCxnSpPr>
          <p:nvPr/>
        </p:nvCxnSpPr>
        <p:spPr>
          <a:xfrm flipV="1">
            <a:off x="7083758" y="3690725"/>
            <a:ext cx="921475" cy="192537"/>
          </a:xfrm>
          <a:prstGeom prst="line">
            <a:avLst/>
          </a:prstGeom>
          <a:ln w="635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타원 56">
            <a:extLst>
              <a:ext uri="{FF2B5EF4-FFF2-40B4-BE49-F238E27FC236}">
                <a16:creationId xmlns:a16="http://schemas.microsoft.com/office/drawing/2014/main" id="{09D2C2E2-20D5-33D2-0B89-4A1CAA2EAC17}"/>
              </a:ext>
            </a:extLst>
          </p:cNvPr>
          <p:cNvSpPr/>
          <p:nvPr/>
        </p:nvSpPr>
        <p:spPr>
          <a:xfrm>
            <a:off x="7110397" y="3846870"/>
            <a:ext cx="54000" cy="5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00CF7C8C-63BC-2BB0-9AB4-550EB7A332DF}"/>
              </a:ext>
            </a:extLst>
          </p:cNvPr>
          <p:cNvGrpSpPr/>
          <p:nvPr/>
        </p:nvGrpSpPr>
        <p:grpSpPr>
          <a:xfrm>
            <a:off x="8218145" y="4478590"/>
            <a:ext cx="1546225" cy="369332"/>
            <a:chOff x="3028950" y="4979471"/>
            <a:chExt cx="1546225" cy="36933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043099B-549E-A376-8BCF-0B0F653D5E87}"/>
                    </a:ext>
                  </a:extLst>
                </p:cNvPr>
                <p:cNvSpPr txBox="1"/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dirty="0"/>
                    <a:t>  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ko-KR" altLang="en-US" dirty="0"/>
                </a:p>
              </p:txBody>
            </p:sp>
          </mc:Choice>
          <mc:Fallback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043099B-549E-A376-8BCF-0B0F653D5E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950" y="4979471"/>
                  <a:ext cx="1546225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8EDB157D-660B-280E-CF0D-2783B156F706}"/>
                </a:ext>
              </a:extLst>
            </p:cNvPr>
            <p:cNvSpPr/>
            <p:nvPr/>
          </p:nvSpPr>
          <p:spPr>
            <a:xfrm>
              <a:off x="3391514" y="5102224"/>
              <a:ext cx="124883" cy="12382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FF7AFAE8-2A3D-D7B5-9370-6069CF5BC50F}"/>
              </a:ext>
            </a:extLst>
          </p:cNvPr>
          <p:cNvSpPr/>
          <p:nvPr/>
        </p:nvSpPr>
        <p:spPr>
          <a:xfrm>
            <a:off x="500742" y="5315458"/>
            <a:ext cx="5400000" cy="1439762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b="1" dirty="0">
                <a:solidFill>
                  <a:schemeClr val="tx1"/>
                </a:solidFill>
              </a:rPr>
              <a:t>Characteristics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Initial stiffness is nearly linear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Post-transition stiffness curves heavily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Knee point is somewhat unclear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tx1"/>
                </a:solidFill>
              </a:rPr>
              <a:t>Need to look at u3 displacement plot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A61FEB1-2F72-7CE7-0DB1-677F3CA8DFAD}"/>
              </a:ext>
            </a:extLst>
          </p:cNvPr>
          <p:cNvSpPr/>
          <p:nvPr/>
        </p:nvSpPr>
        <p:spPr>
          <a:xfrm>
            <a:off x="6348876" y="5315458"/>
            <a:ext cx="5356564" cy="143976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</a:rPr>
              <a:t>Decision: Transition load = intersection of initial and post-transition fitted lines from u3 plot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09B552C-3E9A-D209-49AF-5DA5570A6667}"/>
              </a:ext>
            </a:extLst>
          </p:cNvPr>
          <p:cNvSpPr/>
          <p:nvPr/>
        </p:nvSpPr>
        <p:spPr>
          <a:xfrm>
            <a:off x="6305440" y="1499616"/>
            <a:ext cx="5400000" cy="3600000"/>
          </a:xfrm>
          <a:prstGeom prst="roundRect">
            <a:avLst>
              <a:gd name="adj" fmla="val 11342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Shape 4">
            <a:extLst>
              <a:ext uri="{FF2B5EF4-FFF2-40B4-BE49-F238E27FC236}">
                <a16:creationId xmlns:a16="http://schemas.microsoft.com/office/drawing/2014/main" id="{B229550B-3BFC-B59E-D1A7-EECDF3533DD1}"/>
              </a:ext>
            </a:extLst>
          </p:cNvPr>
          <p:cNvSpPr/>
          <p:nvPr/>
        </p:nvSpPr>
        <p:spPr>
          <a:xfrm>
            <a:off x="6463066" y="1261872"/>
            <a:ext cx="2567520" cy="468000"/>
          </a:xfrm>
          <a:prstGeom prst="roundRect">
            <a:avLst>
              <a:gd name="adj" fmla="val 17857"/>
            </a:avLst>
          </a:prstGeom>
          <a:solidFill>
            <a:schemeClr val="accent2">
              <a:lumMod val="7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U3 displacement plot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79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F776569-EC5D-EE97-C3B8-626B4D4C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Three different types and selection rule</a:t>
            </a:r>
            <a:endParaRPr lang="ko-KR" altLang="en-US"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6" name="표 35">
                <a:extLst>
                  <a:ext uri="{FF2B5EF4-FFF2-40B4-BE49-F238E27FC236}">
                    <a16:creationId xmlns:a16="http://schemas.microsoft.com/office/drawing/2014/main" id="{082C29E6-B0C3-A54E-78F8-16D9C4508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387763"/>
                  </p:ext>
                </p:extLst>
              </p:nvPr>
            </p:nvGraphicFramePr>
            <p:xfrm>
              <a:off x="1123028" y="1485890"/>
              <a:ext cx="9945944" cy="3335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818">
                      <a:extLst>
                        <a:ext uri="{9D8B030D-6E8A-4147-A177-3AD203B41FA5}">
                          <a16:colId xmlns:a16="http://schemas.microsoft.com/office/drawing/2014/main" val="2549888718"/>
                        </a:ext>
                      </a:extLst>
                    </a:gridCol>
                    <a:gridCol w="3424154">
                      <a:extLst>
                        <a:ext uri="{9D8B030D-6E8A-4147-A177-3AD203B41FA5}">
                          <a16:colId xmlns:a16="http://schemas.microsoft.com/office/drawing/2014/main" val="741572771"/>
                        </a:ext>
                      </a:extLst>
                    </a:gridCol>
                    <a:gridCol w="2125068">
                      <a:extLst>
                        <a:ext uri="{9D8B030D-6E8A-4147-A177-3AD203B41FA5}">
                          <a16:colId xmlns:a16="http://schemas.microsoft.com/office/drawing/2014/main" val="4279771107"/>
                        </a:ext>
                      </a:extLst>
                    </a:gridCol>
                    <a:gridCol w="2847904">
                      <a:extLst>
                        <a:ext uri="{9D8B030D-6E8A-4147-A177-3AD203B41FA5}">
                          <a16:colId xmlns:a16="http://schemas.microsoft.com/office/drawing/2014/main" val="1484252481"/>
                        </a:ext>
                      </a:extLst>
                    </a:gridCol>
                  </a:tblGrid>
                  <a:tr h="8501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Type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Curve behavior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U3 usage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Final transition load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758040"/>
                      </a:ext>
                    </a:extLst>
                  </a:tr>
                  <a:tr h="7370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Type 1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Clear bilinear curve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Not necessary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Use bilinear intersection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5500173"/>
                      </a:ext>
                    </a:extLst>
                  </a:tr>
                  <a:tr h="105289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Type 2</a:t>
                          </a:r>
                          <a:endParaRPr lang="ko-KR" altLang="en-US" b="1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Somewhat bilinear, but second region curves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Necessary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ko-KR" alt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𝒃𝒊𝒍𝒊𝒏𝒆𝒂𝒓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𝒆𝒔𝒕𝒊𝒎𝒂𝒕𝒆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num>
                                  <m:den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altLang="en-US" b="1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4571218"/>
                      </a:ext>
                    </a:extLst>
                  </a:tr>
                  <a:tr h="69572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Type 3</a:t>
                          </a:r>
                          <a:endParaRPr lang="ko-KR" altLang="en-US" b="1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Bilinear fitting is unreliable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Necessary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u3-based transition load only</a:t>
                          </a:r>
                          <a:endParaRPr lang="ko-KR" altLang="en-US" b="1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6943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6" name="표 35">
                <a:extLst>
                  <a:ext uri="{FF2B5EF4-FFF2-40B4-BE49-F238E27FC236}">
                    <a16:creationId xmlns:a16="http://schemas.microsoft.com/office/drawing/2014/main" id="{082C29E6-B0C3-A54E-78F8-16D9C4508E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0387763"/>
                  </p:ext>
                </p:extLst>
              </p:nvPr>
            </p:nvGraphicFramePr>
            <p:xfrm>
              <a:off x="1123028" y="1485890"/>
              <a:ext cx="9945944" cy="33358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48818">
                      <a:extLst>
                        <a:ext uri="{9D8B030D-6E8A-4147-A177-3AD203B41FA5}">
                          <a16:colId xmlns:a16="http://schemas.microsoft.com/office/drawing/2014/main" val="2549888718"/>
                        </a:ext>
                      </a:extLst>
                    </a:gridCol>
                    <a:gridCol w="3424154">
                      <a:extLst>
                        <a:ext uri="{9D8B030D-6E8A-4147-A177-3AD203B41FA5}">
                          <a16:colId xmlns:a16="http://schemas.microsoft.com/office/drawing/2014/main" val="741572771"/>
                        </a:ext>
                      </a:extLst>
                    </a:gridCol>
                    <a:gridCol w="2125068">
                      <a:extLst>
                        <a:ext uri="{9D8B030D-6E8A-4147-A177-3AD203B41FA5}">
                          <a16:colId xmlns:a16="http://schemas.microsoft.com/office/drawing/2014/main" val="4279771107"/>
                        </a:ext>
                      </a:extLst>
                    </a:gridCol>
                    <a:gridCol w="2847904">
                      <a:extLst>
                        <a:ext uri="{9D8B030D-6E8A-4147-A177-3AD203B41FA5}">
                          <a16:colId xmlns:a16="http://schemas.microsoft.com/office/drawing/2014/main" val="1484252481"/>
                        </a:ext>
                      </a:extLst>
                    </a:gridCol>
                  </a:tblGrid>
                  <a:tr h="8501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Type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Curve behavior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U3 usage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Final transition load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4758040"/>
                      </a:ext>
                    </a:extLst>
                  </a:tr>
                  <a:tr h="737027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Type 1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Clear bilinear curve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Not necessary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Use bilinear intersection</a:t>
                          </a:r>
                        </a:p>
                      </a:txBody>
                      <a:tcPr anchor="ctr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5500173"/>
                      </a:ext>
                    </a:extLst>
                  </a:tr>
                  <a:tr h="105289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Type 2</a:t>
                          </a:r>
                          <a:endParaRPr lang="ko-KR" altLang="en-US" b="1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Somewhat bilinear, but second region curves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Necessary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49679" t="-151445" r="-857" b="-72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4571218"/>
                      </a:ext>
                    </a:extLst>
                  </a:tr>
                  <a:tr h="69572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Type 3</a:t>
                          </a:r>
                          <a:endParaRPr lang="ko-KR" altLang="en-US" b="1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Bilinear fitting is unreliable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Necessary</a:t>
                          </a:r>
                          <a:endParaRPr lang="ko-KR" altLang="en-US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b="1" dirty="0"/>
                            <a:t>u3-based transition load only</a:t>
                          </a:r>
                          <a:endParaRPr lang="ko-KR" altLang="en-US" b="1" dirty="0"/>
                        </a:p>
                      </a:txBody>
                      <a:tcPr anchor="ctr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4694388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7" name="그룹 36">
            <a:extLst>
              <a:ext uri="{FF2B5EF4-FFF2-40B4-BE49-F238E27FC236}">
                <a16:creationId xmlns:a16="http://schemas.microsoft.com/office/drawing/2014/main" id="{1CB5A3C8-DB83-4D4E-9C41-25648B030240}"/>
              </a:ext>
            </a:extLst>
          </p:cNvPr>
          <p:cNvGrpSpPr/>
          <p:nvPr/>
        </p:nvGrpSpPr>
        <p:grpSpPr>
          <a:xfrm>
            <a:off x="1778463" y="5115861"/>
            <a:ext cx="8635074" cy="1513155"/>
            <a:chOff x="129540" y="1227916"/>
            <a:chExt cx="8635074" cy="1513155"/>
          </a:xfrm>
        </p:grpSpPr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0D540A1A-3BDA-0026-964D-D81532055622}"/>
                </a:ext>
              </a:extLst>
            </p:cNvPr>
            <p:cNvSpPr/>
            <p:nvPr/>
          </p:nvSpPr>
          <p:spPr>
            <a:xfrm>
              <a:off x="129540" y="1229205"/>
              <a:ext cx="1800000" cy="64800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77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solidFill>
                    <a:srgbClr val="13233A"/>
                  </a:solidFill>
                </a:rPr>
                <a:t>Check force-displacement curve</a:t>
              </a:r>
              <a:endParaRPr lang="en-US" altLang="ko-KR" sz="1400" dirty="0"/>
            </a:p>
          </p:txBody>
        </p:sp>
        <p:sp>
          <p:nvSpPr>
            <p:cNvPr id="39" name="Shape 6">
              <a:extLst>
                <a:ext uri="{FF2B5EF4-FFF2-40B4-BE49-F238E27FC236}">
                  <a16:creationId xmlns:a16="http://schemas.microsoft.com/office/drawing/2014/main" id="{0076609F-C97F-4DFB-67C3-73C3DE13D717}"/>
                </a:ext>
              </a:extLst>
            </p:cNvPr>
            <p:cNvSpPr/>
            <p:nvPr/>
          </p:nvSpPr>
          <p:spPr>
            <a:xfrm>
              <a:off x="2287898" y="1227916"/>
              <a:ext cx="1800000" cy="64800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77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solidFill>
                    <a:srgbClr val="13233A"/>
                  </a:solidFill>
                </a:rPr>
                <a:t>Clear Bilinear?</a:t>
              </a:r>
              <a:endParaRPr lang="en-US" altLang="ko-KR" sz="1400" dirty="0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47DF7EFA-FACF-6FC4-CD66-C33E4031B245}"/>
                </a:ext>
              </a:extLst>
            </p:cNvPr>
            <p:cNvSpPr/>
            <p:nvPr/>
          </p:nvSpPr>
          <p:spPr>
            <a:xfrm>
              <a:off x="4446256" y="1227916"/>
              <a:ext cx="2160000" cy="64800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77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solidFill>
                    <a:srgbClr val="13233A"/>
                  </a:solidFill>
                </a:rPr>
                <a:t>Unclear knee point with somewhat curve second region</a:t>
              </a:r>
              <a:endParaRPr lang="en-US" altLang="ko-KR" sz="1400" dirty="0"/>
            </a:p>
          </p:txBody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F6E62AFC-F0A5-7B69-0BEF-88F5EC41769F}"/>
                </a:ext>
              </a:extLst>
            </p:cNvPr>
            <p:cNvSpPr/>
            <p:nvPr/>
          </p:nvSpPr>
          <p:spPr>
            <a:xfrm>
              <a:off x="6964614" y="1227916"/>
              <a:ext cx="1800000" cy="648000"/>
            </a:xfrm>
            <a:prstGeom prst="roundRect">
              <a:avLst>
                <a:gd name="adj" fmla="val 1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7780">
              <a:solidFill>
                <a:schemeClr val="accent5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solidFill>
                    <a:srgbClr val="13233A"/>
                  </a:solidFill>
                </a:rPr>
                <a:t>Second region curves heavily?</a:t>
              </a:r>
              <a:endParaRPr lang="en-US" altLang="ko-KR" sz="1400" dirty="0"/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552EE3DF-8B11-831A-9143-0C4CE2CAAE03}"/>
                </a:ext>
              </a:extLst>
            </p:cNvPr>
            <p:cNvCxnSpPr>
              <a:cxnSpLocks/>
              <a:stCxn id="38" idx="3"/>
              <a:endCxn id="39" idx="1"/>
            </p:cNvCxnSpPr>
            <p:nvPr/>
          </p:nvCxnSpPr>
          <p:spPr>
            <a:xfrm flipV="1">
              <a:off x="1929540" y="1551916"/>
              <a:ext cx="358358" cy="1289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900BCDE3-3318-AB12-059B-A63EC3BFB0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898" y="1551916"/>
              <a:ext cx="358358" cy="1289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762D4FA6-D75D-23E9-7955-31108BB9BA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6256" y="1551916"/>
              <a:ext cx="358358" cy="1289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5B2C700A-0FAE-F889-B60C-A2E8FFE9EE10}"/>
                </a:ext>
              </a:extLst>
            </p:cNvPr>
            <p:cNvCxnSpPr>
              <a:cxnSpLocks/>
              <a:stCxn id="39" idx="2"/>
              <a:endCxn id="46" idx="0"/>
            </p:cNvCxnSpPr>
            <p:nvPr/>
          </p:nvCxnSpPr>
          <p:spPr>
            <a:xfrm>
              <a:off x="3187898" y="1875916"/>
              <a:ext cx="0" cy="505155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Shape 6">
              <a:extLst>
                <a:ext uri="{FF2B5EF4-FFF2-40B4-BE49-F238E27FC236}">
                  <a16:creationId xmlns:a16="http://schemas.microsoft.com/office/drawing/2014/main" id="{EF2CB58A-C35C-528D-6390-3706E1BFD50D}"/>
                </a:ext>
              </a:extLst>
            </p:cNvPr>
            <p:cNvSpPr/>
            <p:nvPr/>
          </p:nvSpPr>
          <p:spPr>
            <a:xfrm>
              <a:off x="2647898" y="2381071"/>
              <a:ext cx="1080000" cy="360000"/>
            </a:xfrm>
            <a:prstGeom prst="roundRect">
              <a:avLst>
                <a:gd name="adj" fmla="val 1000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7780">
              <a:solidFill>
                <a:schemeClr val="accent6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solidFill>
                    <a:srgbClr val="13233A"/>
                  </a:solidFill>
                </a:rPr>
                <a:t>Type 1</a:t>
              </a:r>
              <a:endParaRPr lang="en-US" altLang="ko-KR" sz="14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E5A152-AA7C-CC5B-94E6-91DF0DB755F6}"/>
                </a:ext>
              </a:extLst>
            </p:cNvPr>
            <p:cNvSpPr txBox="1"/>
            <p:nvPr/>
          </p:nvSpPr>
          <p:spPr>
            <a:xfrm>
              <a:off x="3161719" y="1987689"/>
              <a:ext cx="635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6"/>
                  </a:solidFill>
                </a:rPr>
                <a:t>Yes</a:t>
              </a:r>
              <a:endParaRPr lang="ko-KR" altLang="en-US" sz="1200" b="1" dirty="0">
                <a:solidFill>
                  <a:schemeClr val="accent6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820FCA6-902B-4E71-5BC1-B1B24CA5B976}"/>
                </a:ext>
              </a:extLst>
            </p:cNvPr>
            <p:cNvSpPr txBox="1"/>
            <p:nvPr/>
          </p:nvSpPr>
          <p:spPr>
            <a:xfrm>
              <a:off x="3949480" y="1269824"/>
              <a:ext cx="635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No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67CBABF0-56BC-A152-72C7-742463BC93CE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>
              <a:off x="5526256" y="1875916"/>
              <a:ext cx="0" cy="505155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Shape 6">
              <a:extLst>
                <a:ext uri="{FF2B5EF4-FFF2-40B4-BE49-F238E27FC236}">
                  <a16:creationId xmlns:a16="http://schemas.microsoft.com/office/drawing/2014/main" id="{DB844232-0F9D-33E4-61E4-4A95FA045481}"/>
                </a:ext>
              </a:extLst>
            </p:cNvPr>
            <p:cNvSpPr/>
            <p:nvPr/>
          </p:nvSpPr>
          <p:spPr>
            <a:xfrm>
              <a:off x="4986256" y="2381071"/>
              <a:ext cx="1080000" cy="360000"/>
            </a:xfrm>
            <a:prstGeom prst="roundRect">
              <a:avLst>
                <a:gd name="adj" fmla="val 1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7780">
              <a:solidFill>
                <a:schemeClr val="accent4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solidFill>
                    <a:srgbClr val="13233A"/>
                  </a:solidFill>
                </a:rPr>
                <a:t>Type 2</a:t>
              </a:r>
              <a:endParaRPr lang="en-US" altLang="ko-KR" sz="14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DC0ED72-D86B-9154-28E1-CBE5160EA183}"/>
                </a:ext>
              </a:extLst>
            </p:cNvPr>
            <p:cNvSpPr txBox="1"/>
            <p:nvPr/>
          </p:nvSpPr>
          <p:spPr>
            <a:xfrm>
              <a:off x="5500077" y="1987689"/>
              <a:ext cx="635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6"/>
                  </a:solidFill>
                </a:rPr>
                <a:t>Yes</a:t>
              </a:r>
              <a:endParaRPr lang="ko-KR" altLang="en-US" sz="1200" b="1" dirty="0">
                <a:solidFill>
                  <a:schemeClr val="accent6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5CA73A9-6D93-3B11-280D-FF1D447140C8}"/>
                </a:ext>
              </a:extLst>
            </p:cNvPr>
            <p:cNvSpPr txBox="1"/>
            <p:nvPr/>
          </p:nvSpPr>
          <p:spPr>
            <a:xfrm>
              <a:off x="6467838" y="1269823"/>
              <a:ext cx="635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FF0000"/>
                  </a:solidFill>
                </a:rPr>
                <a:t>No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F139B82F-F03D-834D-717F-CA88F6FB5FBE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7864613" y="1875916"/>
              <a:ext cx="0" cy="505155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Shape 6">
              <a:extLst>
                <a:ext uri="{FF2B5EF4-FFF2-40B4-BE49-F238E27FC236}">
                  <a16:creationId xmlns:a16="http://schemas.microsoft.com/office/drawing/2014/main" id="{4EC2593A-2D4C-C5B7-1BAE-9DB96EB4B0C2}"/>
                </a:ext>
              </a:extLst>
            </p:cNvPr>
            <p:cNvSpPr/>
            <p:nvPr/>
          </p:nvSpPr>
          <p:spPr>
            <a:xfrm>
              <a:off x="7324613" y="2381071"/>
              <a:ext cx="1080000" cy="360000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7780">
              <a:solidFill>
                <a:schemeClr val="accent2">
                  <a:lumMod val="75000"/>
                </a:schemeClr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400" b="1" dirty="0">
                  <a:solidFill>
                    <a:srgbClr val="13233A"/>
                  </a:solidFill>
                </a:rPr>
                <a:t>Type 3</a:t>
              </a:r>
              <a:endParaRPr lang="en-US" altLang="ko-KR" sz="14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73CC79B-5004-A2B5-6301-BA8A6FEABD2C}"/>
                </a:ext>
              </a:extLst>
            </p:cNvPr>
            <p:cNvSpPr txBox="1"/>
            <p:nvPr/>
          </p:nvSpPr>
          <p:spPr>
            <a:xfrm>
              <a:off x="7838434" y="1987689"/>
              <a:ext cx="6351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6"/>
                  </a:solidFill>
                </a:rPr>
                <a:t>Yes</a:t>
              </a:r>
              <a:endParaRPr lang="ko-KR" altLang="en-US" sz="1200" b="1" dirty="0">
                <a:solidFill>
                  <a:schemeClr val="accent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7105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A8270FF-EA23-5980-02E7-592FE275EA6D}"/>
              </a:ext>
            </a:extLst>
          </p:cNvPr>
          <p:cNvSpPr/>
          <p:nvPr/>
        </p:nvSpPr>
        <p:spPr>
          <a:xfrm>
            <a:off x="500743" y="1499616"/>
            <a:ext cx="6142080" cy="2368296"/>
          </a:xfrm>
          <a:prstGeom prst="roundRect">
            <a:avLst>
              <a:gd name="adj" fmla="val 11342"/>
            </a:avLst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D7D7ECA-8B7C-1655-E31A-58595CA0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Result Overview: 5 Cases, 2 Surface Patterns</a:t>
            </a:r>
            <a:endParaRPr lang="ko-KR" altLang="en-US" sz="4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DD9770B-DBD2-BB80-7C95-9A98DF954D10}"/>
              </a:ext>
            </a:extLst>
          </p:cNvPr>
          <p:cNvSpPr/>
          <p:nvPr/>
        </p:nvSpPr>
        <p:spPr>
          <a:xfrm>
            <a:off x="658368" y="1261872"/>
            <a:ext cx="2880000" cy="468000"/>
          </a:xfrm>
          <a:prstGeom prst="roundRect">
            <a:avLst>
              <a:gd name="adj" fmla="val 17857"/>
            </a:avLst>
          </a:prstGeom>
          <a:solidFill>
            <a:srgbClr val="5A1B66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Pattern I: Case 1 &amp; 5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476D04A-EBF9-C807-45CB-237B9E79A500}"/>
              </a:ext>
            </a:extLst>
          </p:cNvPr>
          <p:cNvSpPr/>
          <p:nvPr/>
        </p:nvSpPr>
        <p:spPr>
          <a:xfrm>
            <a:off x="500743" y="4259265"/>
            <a:ext cx="8152891" cy="2368296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9448CFED-B93D-D80A-0260-780DD8C0F604}"/>
              </a:ext>
            </a:extLst>
          </p:cNvPr>
          <p:cNvSpPr/>
          <p:nvPr/>
        </p:nvSpPr>
        <p:spPr>
          <a:xfrm>
            <a:off x="658368" y="4021521"/>
            <a:ext cx="2880000" cy="468000"/>
          </a:xfrm>
          <a:prstGeom prst="roundRect">
            <a:avLst>
              <a:gd name="adj" fmla="val 17857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Pattern II: Case 2, 3 &amp; 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02CB3A-6383-3FC6-F8EB-9D7D10AC8765}"/>
              </a:ext>
            </a:extLst>
          </p:cNvPr>
          <p:cNvSpPr txBox="1"/>
          <p:nvPr/>
        </p:nvSpPr>
        <p:spPr>
          <a:xfrm>
            <a:off x="1146472" y="3448070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1</a:t>
            </a:r>
            <a:endParaRPr lang="ko-KR" alt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B9DC26-D3C2-2377-F08A-6459540B035D}"/>
              </a:ext>
            </a:extLst>
          </p:cNvPr>
          <p:cNvSpPr txBox="1"/>
          <p:nvPr/>
        </p:nvSpPr>
        <p:spPr>
          <a:xfrm>
            <a:off x="3168670" y="3448070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5</a:t>
            </a:r>
            <a:endParaRPr lang="ko-KR" alt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3AE3A9-9CA3-FCE6-73EE-C6CAD3D40CC6}"/>
              </a:ext>
            </a:extLst>
          </p:cNvPr>
          <p:cNvSpPr txBox="1"/>
          <p:nvPr/>
        </p:nvSpPr>
        <p:spPr>
          <a:xfrm>
            <a:off x="5042860" y="2083599"/>
            <a:ext cx="1599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B2E84"/>
                </a:solidFill>
              </a:rPr>
              <a:t>Similar twin-ridge / </a:t>
            </a:r>
          </a:p>
          <a:p>
            <a:r>
              <a:rPr lang="en-US" altLang="ko-KR" dirty="0">
                <a:solidFill>
                  <a:srgbClr val="4B2E84"/>
                </a:solidFill>
              </a:rPr>
              <a:t>Center basin pattern</a:t>
            </a:r>
            <a:endParaRPr lang="ko-KR" altLang="en-US" dirty="0">
              <a:solidFill>
                <a:srgbClr val="4B2E84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BCF894-B0CD-8693-FCE4-D406AEBAC8F5}"/>
              </a:ext>
            </a:extLst>
          </p:cNvPr>
          <p:cNvSpPr txBox="1"/>
          <p:nvPr/>
        </p:nvSpPr>
        <p:spPr>
          <a:xfrm>
            <a:off x="1065408" y="621229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2</a:t>
            </a:r>
            <a:endParaRPr lang="ko-KR" alt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FE1419-6D82-E7B6-C817-56814525B913}"/>
              </a:ext>
            </a:extLst>
          </p:cNvPr>
          <p:cNvSpPr txBox="1"/>
          <p:nvPr/>
        </p:nvSpPr>
        <p:spPr>
          <a:xfrm>
            <a:off x="3180943" y="6223844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3</a:t>
            </a:r>
            <a:endParaRPr lang="ko-KR" alt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40E54B-5EC0-AEF2-536D-9D42D40AA8EE}"/>
              </a:ext>
            </a:extLst>
          </p:cNvPr>
          <p:cNvSpPr txBox="1"/>
          <p:nvPr/>
        </p:nvSpPr>
        <p:spPr>
          <a:xfrm>
            <a:off x="5212627" y="62170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4</a:t>
            </a:r>
            <a:endParaRPr lang="ko-KR" alt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DD83DCB-29B6-6864-AFED-DB5E20B1CB6A}"/>
              </a:ext>
            </a:extLst>
          </p:cNvPr>
          <p:cNvSpPr txBox="1"/>
          <p:nvPr/>
        </p:nvSpPr>
        <p:spPr>
          <a:xfrm>
            <a:off x="6901082" y="4813679"/>
            <a:ext cx="1657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4-corner peak structure with a low center region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76" name="그림 75" descr="The image is a contour plot depicting a 3D surface with contours at various values, with labeled contour levels and a color gradient.&#10;&#10;AI 생성 콘텐츠는 정확하지 않을 수 있습니다.">
            <a:extLst>
              <a:ext uri="{FF2B5EF4-FFF2-40B4-BE49-F238E27FC236}">
                <a16:creationId xmlns:a16="http://schemas.microsoft.com/office/drawing/2014/main" id="{CEA6B16E-2FB6-6984-E07D-55E242987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1863016"/>
            <a:ext cx="2160000" cy="1620000"/>
          </a:xfrm>
          <a:prstGeom prst="rect">
            <a:avLst/>
          </a:prstGeom>
        </p:spPr>
      </p:pic>
      <p:pic>
        <p:nvPicPr>
          <p:cNvPr id="78" name="그림 77" descr="The image is a contour plot representing the parameter P, which varies from 0 to 80, and another variable (possibly angle or position) ranging from -80 to 0.&#10;&#10;AI 생성 콘텐츠는 정확하지 않을 수 있습니다.">
            <a:extLst>
              <a:ext uri="{FF2B5EF4-FFF2-40B4-BE49-F238E27FC236}">
                <a16:creationId xmlns:a16="http://schemas.microsoft.com/office/drawing/2014/main" id="{BB1ACE28-A882-441F-22F3-66F77D9CF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157" y="1880632"/>
            <a:ext cx="2160000" cy="1620000"/>
          </a:xfrm>
          <a:prstGeom prst="rect">
            <a:avLst/>
          </a:prstGeom>
        </p:spPr>
      </p:pic>
      <p:pic>
        <p:nvPicPr>
          <p:cNvPr id="80" name="그림 79" descr="The image is a contour plot illustrating values of a variable (possibly P) across different angles in degrees, with a range from -80 to 80 and -50 to 50.&#10;&#10;AI 생성 콘텐츠는 정확하지 않을 수 있습니다.">
            <a:extLst>
              <a:ext uri="{FF2B5EF4-FFF2-40B4-BE49-F238E27FC236}">
                <a16:creationId xmlns:a16="http://schemas.microsoft.com/office/drawing/2014/main" id="{0F46FC97-D134-B068-913D-BF91E1AAA3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4614645"/>
            <a:ext cx="2160000" cy="1620000"/>
          </a:xfrm>
          <a:prstGeom prst="rect">
            <a:avLst/>
          </a:prstGeom>
        </p:spPr>
      </p:pic>
      <p:pic>
        <p:nvPicPr>
          <p:cNvPr id="82" name="그림 81" descr="The image is a contour plot illustrating the magnitude (P) of an electromagnetic field or similar physical quantity, with values ranging from -80 to 80 in units of Tesla (T) or another field-related unit, and plotted against an angle (degrees).&#10;&#10;AI 생성 콘텐츠는 정확하지 않을 수 있습니다.">
            <a:extLst>
              <a:ext uri="{FF2B5EF4-FFF2-40B4-BE49-F238E27FC236}">
                <a16:creationId xmlns:a16="http://schemas.microsoft.com/office/drawing/2014/main" id="{3C84BF50-578B-3CC7-21CF-84B0C0BC64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157" y="4631838"/>
            <a:ext cx="2160000" cy="1620000"/>
          </a:xfrm>
          <a:prstGeom prst="rect">
            <a:avLst/>
          </a:prstGeom>
        </p:spPr>
      </p:pic>
      <p:pic>
        <p:nvPicPr>
          <p:cNvPr id="84" name="그림 83" descr="The image is a contour plot showing values of P (perhaps a physical quantity like pressure or concentration) across different degrees.&#10;&#10;AI 생성 콘텐츠는 정확하지 않을 수 있습니다.">
            <a:extLst>
              <a:ext uri="{FF2B5EF4-FFF2-40B4-BE49-F238E27FC236}">
                <a16:creationId xmlns:a16="http://schemas.microsoft.com/office/drawing/2014/main" id="{0ADC7615-FF7F-94B9-3707-EEF803523B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841" y="4639143"/>
            <a:ext cx="2160000" cy="1620000"/>
          </a:xfrm>
          <a:prstGeom prst="rect">
            <a:avLst/>
          </a:prstGeom>
        </p:spPr>
      </p:pic>
      <p:sp>
        <p:nvSpPr>
          <p:cNvPr id="90" name="직사각형 89">
            <a:extLst>
              <a:ext uri="{FF2B5EF4-FFF2-40B4-BE49-F238E27FC236}">
                <a16:creationId xmlns:a16="http://schemas.microsoft.com/office/drawing/2014/main" id="{10004914-31E0-2AB3-BB83-22A503DC8A72}"/>
              </a:ext>
            </a:extLst>
          </p:cNvPr>
          <p:cNvSpPr/>
          <p:nvPr/>
        </p:nvSpPr>
        <p:spPr>
          <a:xfrm>
            <a:off x="7114478" y="1499616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C90C0EA-A11D-2EE0-5A15-75C1B723C659}"/>
              </a:ext>
            </a:extLst>
          </p:cNvPr>
          <p:cNvSpPr/>
          <p:nvPr/>
        </p:nvSpPr>
        <p:spPr>
          <a:xfrm>
            <a:off x="7114478" y="1499616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DB0F7CC-1E90-7DF8-1139-4E44A0FF4520}"/>
              </a:ext>
            </a:extLst>
          </p:cNvPr>
          <p:cNvSpPr txBox="1"/>
          <p:nvPr/>
        </p:nvSpPr>
        <p:spPr>
          <a:xfrm>
            <a:off x="7214839" y="1499616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Key contrast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1F7473-A260-BD71-17A2-03059AACA6BE}"/>
              </a:ext>
            </a:extLst>
          </p:cNvPr>
          <p:cNvSpPr txBox="1"/>
          <p:nvPr/>
        </p:nvSpPr>
        <p:spPr>
          <a:xfrm>
            <a:off x="7214838" y="1807393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+28.93% vs Quasi</a:t>
            </a:r>
            <a:endParaRPr lang="ko-KR" altLang="en-US" sz="24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15E663C-BC32-DCFC-F482-E5FBEC3AEBAB}"/>
              </a:ext>
            </a:extLst>
          </p:cNvPr>
          <p:cNvSpPr txBox="1"/>
          <p:nvPr/>
        </p:nvSpPr>
        <p:spPr>
          <a:xfrm>
            <a:off x="7214839" y="2285292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Case 3 best / quasi = 15916.5 / 12344.8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6A38796-5B8D-3279-1A0A-C8FCB22CEC13}"/>
              </a:ext>
            </a:extLst>
          </p:cNvPr>
          <p:cNvSpPr/>
          <p:nvPr/>
        </p:nvSpPr>
        <p:spPr>
          <a:xfrm>
            <a:off x="7114478" y="2845633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D4BE3C1-BCC4-67D6-5251-11DB7A3FD9C4}"/>
              </a:ext>
            </a:extLst>
          </p:cNvPr>
          <p:cNvSpPr/>
          <p:nvPr/>
        </p:nvSpPr>
        <p:spPr>
          <a:xfrm>
            <a:off x="7114478" y="2845633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5B009E7-94A1-2E0F-87A1-FD79515A02FD}"/>
              </a:ext>
            </a:extLst>
          </p:cNvPr>
          <p:cNvSpPr txBox="1"/>
          <p:nvPr/>
        </p:nvSpPr>
        <p:spPr>
          <a:xfrm>
            <a:off x="7214839" y="2845633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Design implication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FA651AD-7945-79B7-FDF9-C70A9AD102EB}"/>
              </a:ext>
            </a:extLst>
          </p:cNvPr>
          <p:cNvSpPr txBox="1"/>
          <p:nvPr/>
        </p:nvSpPr>
        <p:spPr>
          <a:xfrm>
            <a:off x="7214838" y="3153410"/>
            <a:ext cx="415940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±45º-type angles dominates</a:t>
            </a:r>
            <a:endParaRPr lang="ko-KR" altLang="en-US" sz="23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5412DB9-9053-CE47-5C40-0752734F0C1E}"/>
                  </a:ext>
                </a:extLst>
              </p:cNvPr>
              <p:cNvSpPr txBox="1"/>
              <p:nvPr/>
            </p:nvSpPr>
            <p:spPr>
              <a:xfrm>
                <a:off x="7214838" y="3631309"/>
                <a:ext cx="43967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rgbClr val="767676"/>
                    </a:solidFill>
                  </a:rPr>
                  <a:t>High-performing regions appear away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200" b="1" dirty="0">
                    <a:solidFill>
                      <a:srgbClr val="767676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200" b="1" dirty="0">
                    <a:solidFill>
                      <a:srgbClr val="767676"/>
                    </a:solidFill>
                  </a:rPr>
                  <a:t>=0</a:t>
                </a:r>
                <a:r>
                  <a:rPr lang="en-US" altLang="ko-KR" sz="12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2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5412DB9-9053-CE47-5C40-0752734F0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38" y="3631309"/>
                <a:ext cx="4396779" cy="276999"/>
              </a:xfrm>
              <a:prstGeom prst="rect">
                <a:avLst/>
              </a:prstGeom>
              <a:blipFill>
                <a:blip r:embed="rId8"/>
                <a:stretch>
                  <a:fillRect l="-139"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440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45F2D4C-4AE3-0C27-ADF8-B505A926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Pattern I: Case 1 &amp; 5</a:t>
            </a:r>
            <a:endParaRPr lang="ko-KR" altLang="en-US" sz="40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C616BC3-8E28-D266-7232-0E0758ABD5E4}"/>
              </a:ext>
            </a:extLst>
          </p:cNvPr>
          <p:cNvSpPr/>
          <p:nvPr/>
        </p:nvSpPr>
        <p:spPr>
          <a:xfrm>
            <a:off x="50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 descr="The image is a contour plot depicting a 3D surface with contours at various values, with labeled contour levels and a color gradient.&#10;&#10;AI 생성 콘텐츠는 정확하지 않을 수 있습니다.">
            <a:extLst>
              <a:ext uri="{FF2B5EF4-FFF2-40B4-BE49-F238E27FC236}">
                <a16:creationId xmlns:a16="http://schemas.microsoft.com/office/drawing/2014/main" id="{559D2D38-798A-25F7-B2A4-A25DF5A61EE1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43" y="1598150"/>
            <a:ext cx="2520000" cy="216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6DEB45-9622-DE04-FBD9-FA7A43B9DDC0}"/>
              </a:ext>
            </a:extLst>
          </p:cNvPr>
          <p:cNvSpPr txBox="1"/>
          <p:nvPr/>
        </p:nvSpPr>
        <p:spPr>
          <a:xfrm>
            <a:off x="131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1</a:t>
            </a:r>
            <a:endParaRPr lang="ko-KR" altLang="en-US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3A62631-0CC1-6653-655B-B590DF17F054}"/>
              </a:ext>
            </a:extLst>
          </p:cNvPr>
          <p:cNvSpPr/>
          <p:nvPr/>
        </p:nvSpPr>
        <p:spPr>
          <a:xfrm>
            <a:off x="356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61F32-AEFF-7814-3F84-5CCEA9FD089C}"/>
              </a:ext>
            </a:extLst>
          </p:cNvPr>
          <p:cNvSpPr txBox="1"/>
          <p:nvPr/>
        </p:nvSpPr>
        <p:spPr>
          <a:xfrm>
            <a:off x="437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5</a:t>
            </a:r>
            <a:endParaRPr lang="ko-KR" altLang="en-US" b="1" dirty="0"/>
          </a:p>
        </p:txBody>
      </p:sp>
      <p:pic>
        <p:nvPicPr>
          <p:cNvPr id="15" name="그림 14" descr="The image is a contour plot representing the parameter P, which varies from 0 to 80, and another variable (possibly angle or position) ranging from -80 to 0.&#10;&#10;AI 생성 콘텐츠는 정확하지 않을 수 있습니다.">
            <a:extLst>
              <a:ext uri="{FF2B5EF4-FFF2-40B4-BE49-F238E27FC236}">
                <a16:creationId xmlns:a16="http://schemas.microsoft.com/office/drawing/2014/main" id="{219A786E-37A6-7C17-7628-186CB199C3AE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43" y="1598150"/>
            <a:ext cx="2520000" cy="216000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6B359A-4755-15D5-2DD8-CA54D849D323}"/>
              </a:ext>
            </a:extLst>
          </p:cNvPr>
          <p:cNvSpPr/>
          <p:nvPr/>
        </p:nvSpPr>
        <p:spPr>
          <a:xfrm>
            <a:off x="7070529" y="1944858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7CF7C0-DB45-4A50-7832-7FDF3902F59C}"/>
              </a:ext>
            </a:extLst>
          </p:cNvPr>
          <p:cNvSpPr/>
          <p:nvPr/>
        </p:nvSpPr>
        <p:spPr>
          <a:xfrm>
            <a:off x="7070529" y="1944858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2224A5-7F4E-DDDC-DF69-155440F55AB5}"/>
              </a:ext>
            </a:extLst>
          </p:cNvPr>
          <p:cNvSpPr txBox="1"/>
          <p:nvPr/>
        </p:nvSpPr>
        <p:spPr>
          <a:xfrm>
            <a:off x="7170890" y="1944858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Shared visual pattern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2D2464-3147-6515-2D90-CE46D6481303}"/>
              </a:ext>
            </a:extLst>
          </p:cNvPr>
          <p:cNvSpPr txBox="1"/>
          <p:nvPr/>
        </p:nvSpPr>
        <p:spPr>
          <a:xfrm>
            <a:off x="7170889" y="2252635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Center basin + Side ridges</a:t>
            </a:r>
            <a:endParaRPr lang="ko-KR" alt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2207FE-EAB2-F1F1-CAF8-624C59BF3D9A}"/>
              </a:ext>
            </a:extLst>
          </p:cNvPr>
          <p:cNvSpPr txBox="1"/>
          <p:nvPr/>
        </p:nvSpPr>
        <p:spPr>
          <a:xfrm>
            <a:off x="7170890" y="2730534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Both surfaces favor nonzero 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</a:t>
            </a:r>
            <a:r>
              <a:rPr lang="el-GR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θ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combinations</a:t>
            </a:r>
            <a:r>
              <a:rPr lang="en-US" altLang="ko-KR" sz="1400" b="1" dirty="0">
                <a:solidFill>
                  <a:srgbClr val="767676"/>
                </a:solidFill>
              </a:rPr>
              <a:t>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48C3BD-13C9-77F7-E2B2-63341F314FAE}"/>
              </a:ext>
            </a:extLst>
          </p:cNvPr>
          <p:cNvSpPr/>
          <p:nvPr/>
        </p:nvSpPr>
        <p:spPr>
          <a:xfrm>
            <a:off x="7070529" y="3290875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0E5155-64C1-F8C2-625F-079C9AC700B4}"/>
              </a:ext>
            </a:extLst>
          </p:cNvPr>
          <p:cNvSpPr/>
          <p:nvPr/>
        </p:nvSpPr>
        <p:spPr>
          <a:xfrm>
            <a:off x="7070529" y="3290875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64B888D-AA5E-867D-1DA0-0C45198CB84B}"/>
                  </a:ext>
                </a:extLst>
              </p:cNvPr>
              <p:cNvSpPr txBox="1"/>
              <p:nvPr/>
            </p:nvSpPr>
            <p:spPr>
              <a:xfrm>
                <a:off x="7170890" y="3290875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Highest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ko-KR" altLang="en-US" sz="1400" b="1" dirty="0">
                    <a:solidFill>
                      <a:srgbClr val="767676"/>
                    </a:solidFill>
                  </a:rPr>
                  <a:t> 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case 1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64B888D-AA5E-867D-1DA0-0C45198CB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3290875"/>
                <a:ext cx="2977376" cy="307777"/>
              </a:xfrm>
              <a:prstGeom prst="rect">
                <a:avLst/>
              </a:prstGeom>
              <a:blipFill>
                <a:blip r:embed="rId4"/>
                <a:stretch>
                  <a:fillRect l="-613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606FDC2B-08E7-2B8D-4B04-56EAD6F215B6}"/>
              </a:ext>
            </a:extLst>
          </p:cNvPr>
          <p:cNvSpPr txBox="1"/>
          <p:nvPr/>
        </p:nvSpPr>
        <p:spPr>
          <a:xfrm>
            <a:off x="7170889" y="3598652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15,386.6</a:t>
            </a:r>
            <a:endParaRPr lang="ko-KR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19E46A-0F1D-EFF4-5DB0-60AADDFE97D1}"/>
                  </a:ext>
                </a:extLst>
              </p:cNvPr>
              <p:cNvSpPr txBox="1"/>
              <p:nvPr/>
            </p:nvSpPr>
            <p:spPr>
              <a:xfrm>
                <a:off x="7170890" y="4076551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=40.53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=-50.32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419E46A-0F1D-EFF4-5DB0-60AADDFE9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4076551"/>
                <a:ext cx="2977376" cy="307777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B91A0A-FD83-7FF7-C9E0-50287B91D039}"/>
              </a:ext>
            </a:extLst>
          </p:cNvPr>
          <p:cNvSpPr/>
          <p:nvPr/>
        </p:nvSpPr>
        <p:spPr>
          <a:xfrm>
            <a:off x="7070529" y="4636892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D95932-E087-74C8-0530-033E28E5B465}"/>
              </a:ext>
            </a:extLst>
          </p:cNvPr>
          <p:cNvSpPr/>
          <p:nvPr/>
        </p:nvSpPr>
        <p:spPr>
          <a:xfrm>
            <a:off x="7070529" y="4636892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5750926-4D66-52DB-BBA3-57AF631CCD01}"/>
                  </a:ext>
                </a:extLst>
              </p:cNvPr>
              <p:cNvSpPr txBox="1"/>
              <p:nvPr/>
            </p:nvSpPr>
            <p:spPr>
              <a:xfrm>
                <a:off x="7170890" y="4636892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Highest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ko-KR" altLang="en-US" sz="1400" b="1" dirty="0">
                    <a:solidFill>
                      <a:srgbClr val="767676"/>
                    </a:solidFill>
                  </a:rPr>
                  <a:t> 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case 5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5750926-4D66-52DB-BBA3-57AF631CC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4636892"/>
                <a:ext cx="2977376" cy="307777"/>
              </a:xfrm>
              <a:prstGeom prst="rect">
                <a:avLst/>
              </a:prstGeom>
              <a:blipFill>
                <a:blip r:embed="rId6"/>
                <a:stretch>
                  <a:fillRect l="-613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53B12DEA-EF58-BEF3-61CB-626E2D44E9E7}"/>
              </a:ext>
            </a:extLst>
          </p:cNvPr>
          <p:cNvSpPr txBox="1"/>
          <p:nvPr/>
        </p:nvSpPr>
        <p:spPr>
          <a:xfrm>
            <a:off x="7170889" y="4944669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15,484.1</a:t>
            </a:r>
            <a:endParaRPr lang="ko-KR" altLang="en-US" sz="2400" b="1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D5FB277B-3179-114C-FEE7-34F0C0934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751827"/>
              </p:ext>
            </p:extLst>
          </p:nvPr>
        </p:nvGraphicFramePr>
        <p:xfrm>
          <a:off x="500743" y="4964974"/>
          <a:ext cx="2880000" cy="1112520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98773673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634655387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709498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Quasi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Benchmark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12,344.8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5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15,386.6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8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15,484.1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31621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DA0AA4A-FE4C-3981-8279-F2B016655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537665"/>
              </p:ext>
            </p:extLst>
          </p:nvPr>
        </p:nvGraphicFramePr>
        <p:xfrm>
          <a:off x="3560743" y="4961092"/>
          <a:ext cx="2880000" cy="1112520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8515499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3164719774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59535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Quasi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+25.41%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43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[0/0]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+186.42%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23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Case 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vs Case 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+0.63%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929185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8E81DB-0C25-D24C-5F1D-53F6A24E79A4}"/>
              </a:ext>
            </a:extLst>
          </p:cNvPr>
          <p:cNvSpPr/>
          <p:nvPr/>
        </p:nvSpPr>
        <p:spPr>
          <a:xfrm>
            <a:off x="500743" y="5715035"/>
            <a:ext cx="2880000" cy="358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8E4D66-F8DD-F623-2164-D8435A2567A5}"/>
              </a:ext>
            </a:extLst>
          </p:cNvPr>
          <p:cNvSpPr txBox="1"/>
          <p:nvPr/>
        </p:nvSpPr>
        <p:spPr>
          <a:xfrm>
            <a:off x="481880" y="4191650"/>
            <a:ext cx="5920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4B2E84"/>
                </a:solidFill>
              </a:rPr>
              <a:t>Case 5 slightly improves the peak while preserving the same response shape</a:t>
            </a:r>
            <a:endParaRPr lang="ko-KR" altLang="en-US" b="1" dirty="0">
              <a:solidFill>
                <a:srgbClr val="4B2E8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6475307-2024-89C6-FE07-A3BB359FBCF1}"/>
                  </a:ext>
                </a:extLst>
              </p:cNvPr>
              <p:cNvSpPr txBox="1"/>
              <p:nvPr/>
            </p:nvSpPr>
            <p:spPr>
              <a:xfrm>
                <a:off x="7170890" y="5401660"/>
                <a:ext cx="2977376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=-43.13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=-44.92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6475307-2024-89C6-FE07-A3BB359FB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5401660"/>
                <a:ext cx="2977376" cy="311817"/>
              </a:xfrm>
              <a:prstGeom prst="rect">
                <a:avLst/>
              </a:prstGeom>
              <a:blipFill>
                <a:blip r:embed="rId7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214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E92B1-DD3E-5C44-846E-3297B7043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AD8220C-BA55-8FC9-3F2E-E6C04AD7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Pattern II: Case 2, 3 &amp; 4</a:t>
            </a:r>
            <a:endParaRPr lang="ko-KR" altLang="en-US" sz="40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E8ACFDCD-D729-C95C-B246-8C544743850D}"/>
              </a:ext>
            </a:extLst>
          </p:cNvPr>
          <p:cNvSpPr/>
          <p:nvPr/>
        </p:nvSpPr>
        <p:spPr>
          <a:xfrm>
            <a:off x="50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6E755-0848-5D4A-5FC7-72228C779CF7}"/>
              </a:ext>
            </a:extLst>
          </p:cNvPr>
          <p:cNvSpPr txBox="1"/>
          <p:nvPr/>
        </p:nvSpPr>
        <p:spPr>
          <a:xfrm>
            <a:off x="131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2</a:t>
            </a:r>
            <a:endParaRPr lang="ko-KR" altLang="en-US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7993BE5-0140-A73E-D84A-5BAEC72F160B}"/>
              </a:ext>
            </a:extLst>
          </p:cNvPr>
          <p:cNvSpPr/>
          <p:nvPr/>
        </p:nvSpPr>
        <p:spPr>
          <a:xfrm>
            <a:off x="356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4642D3-06B5-7CF8-1D4D-19FCB953DED4}"/>
              </a:ext>
            </a:extLst>
          </p:cNvPr>
          <p:cNvSpPr txBox="1"/>
          <p:nvPr/>
        </p:nvSpPr>
        <p:spPr>
          <a:xfrm>
            <a:off x="437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3</a:t>
            </a:r>
            <a:endParaRPr lang="ko-KR" altLang="en-US" b="1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36AA4B7F-A8D8-14A3-E239-1E5186B93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844751"/>
              </p:ext>
            </p:extLst>
          </p:nvPr>
        </p:nvGraphicFramePr>
        <p:xfrm>
          <a:off x="500743" y="4964974"/>
          <a:ext cx="2880000" cy="148336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98773673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634655387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709498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Quasi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Benchmark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12,344.8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5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15,880.6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8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3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15,916.5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3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4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15,908.5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845232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C4211F86-7DE4-F1A7-D691-EFDC58A9A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698150"/>
              </p:ext>
            </p:extLst>
          </p:nvPr>
        </p:nvGraphicFramePr>
        <p:xfrm>
          <a:off x="3560743" y="4961092"/>
          <a:ext cx="2880000" cy="148336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8515499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3164719774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59535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Quasi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+28.93%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43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3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[0/0]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+194.42%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23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Case 3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vs Case 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+0.22%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92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Case 3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vs Case 4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+0.05%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68166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71E67EBD-EFBD-5A5E-1AD1-C25E8F69EDDC}"/>
              </a:ext>
            </a:extLst>
          </p:cNvPr>
          <p:cNvSpPr/>
          <p:nvPr/>
        </p:nvSpPr>
        <p:spPr>
          <a:xfrm>
            <a:off x="500743" y="5715035"/>
            <a:ext cx="2880000" cy="358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1714CA05-AF96-835F-761E-E501D7950860}"/>
              </a:ext>
            </a:extLst>
          </p:cNvPr>
          <p:cNvSpPr/>
          <p:nvPr/>
        </p:nvSpPr>
        <p:spPr>
          <a:xfrm>
            <a:off x="662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pic>
        <p:nvPicPr>
          <p:cNvPr id="10" name="그림 9" descr="The image is a contour plot illustrating values of a variable (possibly P) across different angles in degrees, with a range from -80 to 80 and -50 to 50.&#10;&#10;AI 생성 콘텐츠는 정확하지 않을 수 있습니다.">
            <a:extLst>
              <a:ext uri="{FF2B5EF4-FFF2-40B4-BE49-F238E27FC236}">
                <a16:creationId xmlns:a16="http://schemas.microsoft.com/office/drawing/2014/main" id="{8EB07CF0-0C51-F29D-610C-0344BD518C22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428750"/>
            <a:ext cx="0" cy="2160000"/>
          </a:xfrm>
          <a:prstGeom prst="rect">
            <a:avLst/>
          </a:prstGeom>
        </p:spPr>
      </p:pic>
      <p:pic>
        <p:nvPicPr>
          <p:cNvPr id="19" name="그림 18" descr="The image is a contour plot illustrating values of a variable (possibly P) across different angles in degrees, with a range from -80 to 80 and -50 to 50.&#10;&#10;AI 생성 콘텐츠는 정확하지 않을 수 있습니다.">
            <a:extLst>
              <a:ext uri="{FF2B5EF4-FFF2-40B4-BE49-F238E27FC236}">
                <a16:creationId xmlns:a16="http://schemas.microsoft.com/office/drawing/2014/main" id="{63CF7D9B-A75B-46EF-CECD-6DE4FBED75C1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32" y="1598150"/>
            <a:ext cx="2520000" cy="2160000"/>
          </a:xfrm>
          <a:prstGeom prst="rect">
            <a:avLst/>
          </a:prstGeom>
        </p:spPr>
      </p:pic>
      <p:pic>
        <p:nvPicPr>
          <p:cNvPr id="21" name="그림 20" descr="The image is a contour plot illustrating the magnitude (P) of an electromagnetic field or similar physical quantity, with values ranging from -80 to 80 in units of Tesla (T) or another field-related unit, and plotted against an angle (degrees).&#10;&#10;AI 생성 콘텐츠는 정확하지 않을 수 있습니다.">
            <a:extLst>
              <a:ext uri="{FF2B5EF4-FFF2-40B4-BE49-F238E27FC236}">
                <a16:creationId xmlns:a16="http://schemas.microsoft.com/office/drawing/2014/main" id="{10DCD5C7-83F9-C166-1976-AA33EC3A0A8D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43" y="1598150"/>
            <a:ext cx="2520000" cy="2160000"/>
          </a:xfrm>
          <a:prstGeom prst="rect">
            <a:avLst/>
          </a:prstGeom>
        </p:spPr>
      </p:pic>
      <p:pic>
        <p:nvPicPr>
          <p:cNvPr id="36" name="그림 35" descr="The image is a contour plot showing values of P (perhaps a physical quantity like pressure or concentration) across different degrees.&#10;&#10;AI 생성 콘텐츠는 정확하지 않을 수 있습니다.">
            <a:extLst>
              <a:ext uri="{FF2B5EF4-FFF2-40B4-BE49-F238E27FC236}">
                <a16:creationId xmlns:a16="http://schemas.microsoft.com/office/drawing/2014/main" id="{0F658EEF-E4D0-4AB5-49C6-6E2303026993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315" y="1598150"/>
            <a:ext cx="2520000" cy="2160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7876985-0BC0-3216-955F-F9FEF9A5C48C}"/>
              </a:ext>
            </a:extLst>
          </p:cNvPr>
          <p:cNvSpPr txBox="1"/>
          <p:nvPr/>
        </p:nvSpPr>
        <p:spPr>
          <a:xfrm>
            <a:off x="743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4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8E43BB-34B4-E850-173A-8C272C60C6D4}"/>
                  </a:ext>
                </a:extLst>
              </p:cNvPr>
              <p:cNvSpPr txBox="1"/>
              <p:nvPr/>
            </p:nvSpPr>
            <p:spPr>
              <a:xfrm>
                <a:off x="481880" y="4191650"/>
                <a:ext cx="59207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0070C0"/>
                    </a:solidFill>
                  </a:rPr>
                  <a:t>Cases 2, 3, and 4 highest peak is located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070C0"/>
                    </a:solidFill>
                  </a:rPr>
                  <a:t>=44.13</a:t>
                </a:r>
                <a:r>
                  <a:rPr lang="en-US" altLang="ko-KR" b="1" dirty="0">
                    <a:solidFill>
                      <a:srgbClr val="0070C0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b="1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070C0"/>
                    </a:solidFill>
                  </a:rPr>
                  <a:t>=-49.42</a:t>
                </a:r>
                <a:r>
                  <a:rPr lang="en-US" altLang="ko-KR" b="1" dirty="0">
                    <a:solidFill>
                      <a:srgbClr val="0070C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º</a:t>
                </a:r>
                <a:endParaRPr lang="ko-KR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8E43BB-34B4-E850-173A-8C272C60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80" y="4191650"/>
                <a:ext cx="5920779" cy="646331"/>
              </a:xfrm>
              <a:prstGeom prst="rect">
                <a:avLst/>
              </a:prstGeom>
              <a:blipFill>
                <a:blip r:embed="rId6"/>
                <a:stretch>
                  <a:fillRect l="-824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직사각형 42">
            <a:extLst>
              <a:ext uri="{FF2B5EF4-FFF2-40B4-BE49-F238E27FC236}">
                <a16:creationId xmlns:a16="http://schemas.microsoft.com/office/drawing/2014/main" id="{A2DDDDA4-C085-17D8-C71E-4EB73D88800A}"/>
              </a:ext>
            </a:extLst>
          </p:cNvPr>
          <p:cNvSpPr/>
          <p:nvPr/>
        </p:nvSpPr>
        <p:spPr>
          <a:xfrm>
            <a:off x="7071745" y="4320285"/>
            <a:ext cx="4396779" cy="10781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60DEAFF-3970-A692-4FD3-6D35124A76A6}"/>
              </a:ext>
            </a:extLst>
          </p:cNvPr>
          <p:cNvSpPr/>
          <p:nvPr/>
        </p:nvSpPr>
        <p:spPr>
          <a:xfrm>
            <a:off x="7071745" y="4320285"/>
            <a:ext cx="100361" cy="107814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E2D803-957F-FB2C-7304-2A11C6042B05}"/>
              </a:ext>
            </a:extLst>
          </p:cNvPr>
          <p:cNvSpPr txBox="1"/>
          <p:nvPr/>
        </p:nvSpPr>
        <p:spPr>
          <a:xfrm>
            <a:off x="7172106" y="4320285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Shared visual pattern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E90605-8D4D-14DA-F707-3EBD976CFCF0}"/>
              </a:ext>
            </a:extLst>
          </p:cNvPr>
          <p:cNvSpPr txBox="1"/>
          <p:nvPr/>
        </p:nvSpPr>
        <p:spPr>
          <a:xfrm>
            <a:off x="7172104" y="4682384"/>
            <a:ext cx="429641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/>
              <a:t>4-corner peak with a low center region</a:t>
            </a:r>
            <a:endParaRPr lang="ko-KR" altLang="en-US" sz="17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4467B2-1275-5B5C-9C81-E382E7143376}"/>
              </a:ext>
            </a:extLst>
          </p:cNvPr>
          <p:cNvSpPr txBox="1"/>
          <p:nvPr/>
        </p:nvSpPr>
        <p:spPr>
          <a:xfrm>
            <a:off x="7172106" y="5105961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All surfaces favor nonzero 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</a:t>
            </a:r>
            <a:r>
              <a:rPr lang="el-GR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θ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combinations</a:t>
            </a:r>
            <a:r>
              <a:rPr lang="en-US" altLang="ko-KR" sz="1400" b="1" dirty="0">
                <a:solidFill>
                  <a:srgbClr val="767676"/>
                </a:solidFill>
              </a:rPr>
              <a:t>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71AE8F7-DB1A-E240-DCDA-1C586E9FF378}"/>
              </a:ext>
            </a:extLst>
          </p:cNvPr>
          <p:cNvSpPr/>
          <p:nvPr/>
        </p:nvSpPr>
        <p:spPr>
          <a:xfrm>
            <a:off x="7071744" y="5504887"/>
            <a:ext cx="4396779" cy="10781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091F0AC-94A7-FE81-E614-A9FCF4670DD8}"/>
              </a:ext>
            </a:extLst>
          </p:cNvPr>
          <p:cNvSpPr/>
          <p:nvPr/>
        </p:nvSpPr>
        <p:spPr>
          <a:xfrm>
            <a:off x="7071744" y="5504887"/>
            <a:ext cx="100361" cy="107814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34567EA-74FD-31FE-9D00-D0658E4700DE}"/>
                  </a:ext>
                </a:extLst>
              </p:cNvPr>
              <p:cNvSpPr txBox="1"/>
              <p:nvPr/>
            </p:nvSpPr>
            <p:spPr>
              <a:xfrm>
                <a:off x="7172105" y="5504887"/>
                <a:ext cx="2977376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 range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34567EA-74FD-31FE-9D00-D0658E470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105" y="5504887"/>
                <a:ext cx="2977376" cy="311817"/>
              </a:xfrm>
              <a:prstGeom prst="rect">
                <a:avLst/>
              </a:prstGeom>
              <a:blipFill>
                <a:blip r:embed="rId7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0D1E310A-37CD-E45A-0B9C-01F7A5185215}"/>
              </a:ext>
            </a:extLst>
          </p:cNvPr>
          <p:cNvSpPr txBox="1"/>
          <p:nvPr/>
        </p:nvSpPr>
        <p:spPr>
          <a:xfrm>
            <a:off x="7172104" y="5812664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15.88k – 15.91k</a:t>
            </a:r>
            <a:endParaRPr lang="ko-KR" alt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02871A-8D0D-255D-DB34-1B4B29E23E1F}"/>
              </a:ext>
            </a:extLst>
          </p:cNvPr>
          <p:cNvSpPr txBox="1"/>
          <p:nvPr/>
        </p:nvSpPr>
        <p:spPr>
          <a:xfrm>
            <a:off x="7172105" y="6290563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Small variation among cases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3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E7F21E4-C353-23B1-50BC-652F5A06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Ranking: Optimized Layups vs. Benchmarks</a:t>
            </a:r>
            <a:endParaRPr lang="ko-KR" altLang="en-US" sz="4000" dirty="0"/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C25D37E6-5979-0B9C-654B-77E6AC6704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6218223"/>
              </p:ext>
            </p:extLst>
          </p:nvPr>
        </p:nvGraphicFramePr>
        <p:xfrm>
          <a:off x="317571" y="1331383"/>
          <a:ext cx="6659893" cy="4195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C1AC6A-03A5-8F87-87A7-DE695C3CC2F5}"/>
              </a:ext>
            </a:extLst>
          </p:cNvPr>
          <p:cNvSpPr/>
          <p:nvPr/>
        </p:nvSpPr>
        <p:spPr>
          <a:xfrm>
            <a:off x="7114478" y="1499616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DE6B71-480D-441C-C8DE-92FE9B4DDD2C}"/>
              </a:ext>
            </a:extLst>
          </p:cNvPr>
          <p:cNvSpPr/>
          <p:nvPr/>
        </p:nvSpPr>
        <p:spPr>
          <a:xfrm>
            <a:off x="7114478" y="1499616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33BAF9-C567-188F-E29D-C9827775C722}"/>
              </a:ext>
            </a:extLst>
          </p:cNvPr>
          <p:cNvSpPr/>
          <p:nvPr/>
        </p:nvSpPr>
        <p:spPr>
          <a:xfrm>
            <a:off x="7114478" y="2845633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3293DEA-0F65-6192-8D15-AFF5B0A1F1E6}"/>
              </a:ext>
            </a:extLst>
          </p:cNvPr>
          <p:cNvSpPr/>
          <p:nvPr/>
        </p:nvSpPr>
        <p:spPr>
          <a:xfrm>
            <a:off x="7114478" y="2845633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3843D9-AF57-F304-78EB-5132D9733BAA}"/>
              </a:ext>
            </a:extLst>
          </p:cNvPr>
          <p:cNvSpPr txBox="1"/>
          <p:nvPr/>
        </p:nvSpPr>
        <p:spPr>
          <a:xfrm>
            <a:off x="7214839" y="2845633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Improvement vs quasi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EE6FF7-43A0-0119-F42A-365DAC469B13}"/>
              </a:ext>
            </a:extLst>
          </p:cNvPr>
          <p:cNvSpPr txBox="1"/>
          <p:nvPr/>
        </p:nvSpPr>
        <p:spPr>
          <a:xfrm>
            <a:off x="7214838" y="3153410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+28.93%</a:t>
            </a:r>
            <a:endParaRPr lang="ko-KR" alt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30596B-F7FA-63C9-9F1F-DCFCBB95059A}"/>
              </a:ext>
            </a:extLst>
          </p:cNvPr>
          <p:cNvSpPr txBox="1"/>
          <p:nvPr/>
        </p:nvSpPr>
        <p:spPr>
          <a:xfrm>
            <a:off x="7214839" y="3631309"/>
            <a:ext cx="2977376" cy="311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15916.5 compare with 12344.8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298BC1E-FCAB-6525-B850-EDD6690F7DCB}"/>
              </a:ext>
            </a:extLst>
          </p:cNvPr>
          <p:cNvSpPr/>
          <p:nvPr/>
        </p:nvSpPr>
        <p:spPr>
          <a:xfrm>
            <a:off x="7114478" y="4191650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43772B7-8108-5438-9CEB-821DD9EFB4FC}"/>
              </a:ext>
            </a:extLst>
          </p:cNvPr>
          <p:cNvSpPr/>
          <p:nvPr/>
        </p:nvSpPr>
        <p:spPr>
          <a:xfrm>
            <a:off x="7114478" y="4191650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981FB3-1525-D8F5-AD81-596DCE6C8519}"/>
                  </a:ext>
                </a:extLst>
              </p:cNvPr>
              <p:cNvSpPr txBox="1"/>
              <p:nvPr/>
            </p:nvSpPr>
            <p:spPr>
              <a:xfrm>
                <a:off x="7214839" y="1484306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Highest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𝒕𝒓</m:t>
                        </m:r>
                      </m:sub>
                    </m:sSub>
                  </m:oMath>
                </a14:m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981FB3-1525-D8F5-AD81-596DCE6C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39" y="1484306"/>
                <a:ext cx="2977376" cy="307777"/>
              </a:xfrm>
              <a:prstGeom prst="rect">
                <a:avLst/>
              </a:prstGeom>
              <a:blipFill>
                <a:blip r:embed="rId3"/>
                <a:stretch>
                  <a:fillRect l="-615"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F05DBF5C-EE81-6E09-B831-C675F82F740F}"/>
              </a:ext>
            </a:extLst>
          </p:cNvPr>
          <p:cNvSpPr txBox="1"/>
          <p:nvPr/>
        </p:nvSpPr>
        <p:spPr>
          <a:xfrm>
            <a:off x="7214838" y="1792083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Case 3: 15,916.5</a:t>
            </a:r>
            <a:endParaRPr lang="ko-KR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099F642-F379-B906-9D27-F71CA8540D45}"/>
                  </a:ext>
                </a:extLst>
              </p:cNvPr>
              <p:cNvSpPr txBox="1"/>
              <p:nvPr/>
            </p:nvSpPr>
            <p:spPr>
              <a:xfrm>
                <a:off x="7214839" y="2269982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=44.13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=-49.42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099F642-F379-B906-9D27-F71CA8540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39" y="2269982"/>
                <a:ext cx="2977376" cy="30777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25197FCA-5759-28FD-3CAF-7AF896EC9F9E}"/>
              </a:ext>
            </a:extLst>
          </p:cNvPr>
          <p:cNvSpPr txBox="1"/>
          <p:nvPr/>
        </p:nvSpPr>
        <p:spPr>
          <a:xfrm>
            <a:off x="7214838" y="4172300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Improvement vs Case 5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14807D-AE7E-0081-F597-CB53D90CAE95}"/>
              </a:ext>
            </a:extLst>
          </p:cNvPr>
          <p:cNvSpPr txBox="1"/>
          <p:nvPr/>
        </p:nvSpPr>
        <p:spPr>
          <a:xfrm>
            <a:off x="7214837" y="4480077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+2.79%</a:t>
            </a:r>
            <a:endParaRPr lang="ko-KR" altLang="en-US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7C520F3-CF1B-E24E-77FF-0DE579EBA5E9}"/>
              </a:ext>
            </a:extLst>
          </p:cNvPr>
          <p:cNvSpPr txBox="1"/>
          <p:nvPr/>
        </p:nvSpPr>
        <p:spPr>
          <a:xfrm>
            <a:off x="7214837" y="4957976"/>
            <a:ext cx="2977376" cy="311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15916.5 compare with 15484.1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FC50A7-3A90-7F2E-24B0-13CAAB9F2E71}"/>
              </a:ext>
            </a:extLst>
          </p:cNvPr>
          <p:cNvSpPr/>
          <p:nvPr/>
        </p:nvSpPr>
        <p:spPr>
          <a:xfrm>
            <a:off x="495300" y="5638800"/>
            <a:ext cx="11015957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101010"/>
                </a:solidFill>
              </a:rPr>
              <a:t>All optimized layups cluster around 15.8k, while [0/0] and [90/90] are much lower. Therefore, the main result is not only which case wins, but that the optimized ±θ angle family consistently outperforms the basic baselines.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EF5365D-C050-B358-C54D-642FA4BCE731}"/>
              </a:ext>
            </a:extLst>
          </p:cNvPr>
          <p:cNvSpPr/>
          <p:nvPr/>
        </p:nvSpPr>
        <p:spPr>
          <a:xfrm>
            <a:off x="2818060" y="2108007"/>
            <a:ext cx="644095" cy="29037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5438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2AAA250-93E1-688D-C538-867C4D597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Best</a:t>
            </a:r>
            <a:r>
              <a:rPr lang="ko-KR" altLang="en-US" sz="4000" dirty="0"/>
              <a:t> </a:t>
            </a:r>
            <a:r>
              <a:rPr lang="en-US" altLang="ko-KR" sz="4000" dirty="0"/>
              <a:t>Result</a:t>
            </a:r>
            <a:r>
              <a:rPr lang="ko-KR" altLang="en-US" sz="4000" dirty="0"/>
              <a:t> </a:t>
            </a:r>
            <a:r>
              <a:rPr lang="en-US" altLang="ko-KR" sz="4000" dirty="0"/>
              <a:t>:</a:t>
            </a:r>
            <a:r>
              <a:rPr lang="ko-KR" altLang="en-US" sz="4000" dirty="0"/>
              <a:t> </a:t>
            </a:r>
            <a:r>
              <a:rPr lang="en-US" altLang="ko-KR" sz="4000" dirty="0"/>
              <a:t>Case</a:t>
            </a:r>
            <a:r>
              <a:rPr lang="ko-KR" altLang="en-US" sz="4000" dirty="0"/>
              <a:t> </a:t>
            </a:r>
            <a:r>
              <a:rPr lang="en-US" altLang="ko-KR" sz="4000" dirty="0"/>
              <a:t>3</a:t>
            </a:r>
            <a:endParaRPr lang="ko-KR" altLang="en-US" sz="4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0088F4-0E99-EAED-10E0-D4555F26F9FE}"/>
              </a:ext>
            </a:extLst>
          </p:cNvPr>
          <p:cNvSpPr/>
          <p:nvPr/>
        </p:nvSpPr>
        <p:spPr>
          <a:xfrm>
            <a:off x="241783" y="1366472"/>
            <a:ext cx="2753053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FE17AE6-EBC3-E4EE-346C-CE2D95FFFDA4}"/>
              </a:ext>
            </a:extLst>
          </p:cNvPr>
          <p:cNvSpPr/>
          <p:nvPr/>
        </p:nvSpPr>
        <p:spPr>
          <a:xfrm>
            <a:off x="241783" y="1366472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F6AF-376A-830E-BD46-1EA68C60D688}"/>
                  </a:ext>
                </a:extLst>
              </p:cNvPr>
              <p:cNvSpPr txBox="1"/>
              <p:nvPr/>
            </p:nvSpPr>
            <p:spPr>
              <a:xfrm>
                <a:off x="342144" y="1364616"/>
                <a:ext cx="2528282" cy="309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Best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57F6AF-376A-830E-BD46-1EA68C60D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44" y="1364616"/>
                <a:ext cx="2528282" cy="309634"/>
              </a:xfrm>
              <a:prstGeom prst="rect">
                <a:avLst/>
              </a:prstGeom>
              <a:blipFill>
                <a:blip r:embed="rId2"/>
                <a:stretch>
                  <a:fillRect l="-723" t="-392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82E82DF-2EC9-97BF-5F0C-F218169B5B14}"/>
              </a:ext>
            </a:extLst>
          </p:cNvPr>
          <p:cNvSpPr txBox="1"/>
          <p:nvPr/>
        </p:nvSpPr>
        <p:spPr>
          <a:xfrm>
            <a:off x="342143" y="1674249"/>
            <a:ext cx="252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15916.5 </a:t>
            </a:r>
            <a:r>
              <a:rPr lang="en-US" altLang="ko-KR" sz="2400" b="1" dirty="0" err="1"/>
              <a:t>lbs</a:t>
            </a:r>
            <a:endParaRPr lang="ko-KR" altLang="en-US" sz="2400" b="1" dirty="0"/>
          </a:p>
        </p:txBody>
      </p:sp>
      <p:pic>
        <p:nvPicPr>
          <p:cNvPr id="24" name="그림 23" descr="The image is a contour plot representing the pressure (P) in pounds-force (lbf) on a Cartesian coordinate system, with pressure values ranging from -50 to 50, and angles ranging from 0 to 90 degrees.&#10;&#10;AI 생성 콘텐츠는 정확하지 않을 수 있습니다.">
            <a:extLst>
              <a:ext uri="{FF2B5EF4-FFF2-40B4-BE49-F238E27FC236}">
                <a16:creationId xmlns:a16="http://schemas.microsoft.com/office/drawing/2014/main" id="{31400441-0E81-7F34-077A-70CE2C4D2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257" y="1340213"/>
            <a:ext cx="2880000" cy="21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E000C1F7-ADED-DAE4-F67D-35B91586CF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355711"/>
                  </p:ext>
                </p:extLst>
              </p:nvPr>
            </p:nvGraphicFramePr>
            <p:xfrm>
              <a:off x="263053" y="2837563"/>
              <a:ext cx="7143390" cy="248555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381130">
                      <a:extLst>
                        <a:ext uri="{9D8B030D-6E8A-4147-A177-3AD203B41FA5}">
                          <a16:colId xmlns:a16="http://schemas.microsoft.com/office/drawing/2014/main" val="2898773673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2634655387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1709498389"/>
                        </a:ext>
                      </a:extLst>
                    </a:gridCol>
                  </a:tblGrid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sz="11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sz="11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ko-KR" sz="11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2575683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44.13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-49.42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15,916.5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0256692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51.32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45.92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15,652.3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881647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-43.13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-44.92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15485.3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431621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-46.72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63.91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15072.8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8845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E000C1F7-ADED-DAE4-F67D-35B91586CF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355711"/>
                  </p:ext>
                </p:extLst>
              </p:nvPr>
            </p:nvGraphicFramePr>
            <p:xfrm>
              <a:off x="263053" y="2837563"/>
              <a:ext cx="7143390" cy="248555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381130">
                      <a:extLst>
                        <a:ext uri="{9D8B030D-6E8A-4147-A177-3AD203B41FA5}">
                          <a16:colId xmlns:a16="http://schemas.microsoft.com/office/drawing/2014/main" val="2898773673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2634655387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1709498389"/>
                        </a:ext>
                      </a:extLst>
                    </a:gridCol>
                  </a:tblGrid>
                  <a:tr h="4971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6" t="-1220" r="-201023" b="-4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513" t="-1220" r="-101538" b="-4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0000" t="-1220" r="-1279" b="-4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2575683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44.13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-49.42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15,916.5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0256692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51.32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45.92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15,652.3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881647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-43.13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-44.92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15485.3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431621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-46.72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63.91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15072.8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8845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3BA60C9-4E44-C28C-2FDD-E4513931D410}"/>
              </a:ext>
            </a:extLst>
          </p:cNvPr>
          <p:cNvSpPr txBox="1"/>
          <p:nvPr/>
        </p:nvSpPr>
        <p:spPr>
          <a:xfrm>
            <a:off x="212873" y="2562677"/>
            <a:ext cx="2865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4B2E84"/>
                </a:solidFill>
              </a:rPr>
              <a:t>Top candidate list</a:t>
            </a:r>
            <a:endParaRPr lang="ko-KR" altLang="en-US" sz="1400" b="1" dirty="0">
              <a:solidFill>
                <a:srgbClr val="4B2E84"/>
              </a:solidFill>
            </a:endParaRPr>
          </a:p>
        </p:txBody>
      </p:sp>
      <p:pic>
        <p:nvPicPr>
          <p:cNvPr id="28" name="그림 27" descr="The image is a contour plot showing a gradient of values ranging from -80 to 80, with a color scheme indicating different magnitude levels.&#10;&#10;AI 생성 콘텐츠는 정확하지 않을 수 있습니다.">
            <a:extLst>
              <a:ext uri="{FF2B5EF4-FFF2-40B4-BE49-F238E27FC236}">
                <a16:creationId xmlns:a16="http://schemas.microsoft.com/office/drawing/2014/main" id="{F88709AA-29D7-9C69-B7C3-B4663A8DA4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366" y="3500980"/>
            <a:ext cx="4368281" cy="32762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53EF01-55DD-F925-A947-50445D71C3BF}"/>
                  </a:ext>
                </a:extLst>
              </p:cNvPr>
              <p:cNvSpPr txBox="1"/>
              <p:nvPr/>
            </p:nvSpPr>
            <p:spPr>
              <a:xfrm>
                <a:off x="342142" y="2067196"/>
                <a:ext cx="29773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800" b="1" dirty="0">
                    <a:solidFill>
                      <a:srgbClr val="767676"/>
                    </a:solidFill>
                  </a:rPr>
                  <a:t>=</a:t>
                </a:r>
                <a:r>
                  <a:rPr lang="en-US" altLang="ko-KR" b="1" dirty="0">
                    <a:solidFill>
                      <a:srgbClr val="767676"/>
                    </a:solidFill>
                  </a:rPr>
                  <a:t>44.13</a:t>
                </a:r>
                <a:r>
                  <a:rPr lang="en-US" altLang="ko-KR" sz="18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8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8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800" b="1" dirty="0">
                    <a:solidFill>
                      <a:srgbClr val="767676"/>
                    </a:solidFill>
                  </a:rPr>
                  <a:t>=-</a:t>
                </a:r>
                <a:r>
                  <a:rPr lang="en-US" altLang="ko-KR" b="1" dirty="0">
                    <a:solidFill>
                      <a:srgbClr val="767676"/>
                    </a:solidFill>
                  </a:rPr>
                  <a:t>49.42</a:t>
                </a:r>
                <a:r>
                  <a:rPr lang="en-US" altLang="ko-KR" sz="18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8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853EF01-55DD-F925-A947-50445D71C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42" y="2067196"/>
                <a:ext cx="2977376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직사각형 30">
            <a:extLst>
              <a:ext uri="{FF2B5EF4-FFF2-40B4-BE49-F238E27FC236}">
                <a16:creationId xmlns:a16="http://schemas.microsoft.com/office/drawing/2014/main" id="{AB6B34B3-D673-C01E-AF09-323D788ECFCA}"/>
              </a:ext>
            </a:extLst>
          </p:cNvPr>
          <p:cNvSpPr/>
          <p:nvPr/>
        </p:nvSpPr>
        <p:spPr>
          <a:xfrm>
            <a:off x="3207867" y="1358385"/>
            <a:ext cx="2810183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33294C1-CF25-4ACE-678C-57BF12F30BF4}"/>
              </a:ext>
            </a:extLst>
          </p:cNvPr>
          <p:cNvSpPr/>
          <p:nvPr/>
        </p:nvSpPr>
        <p:spPr>
          <a:xfrm>
            <a:off x="3207867" y="1358385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1EF88D-C6E3-8677-783E-AE8EC7BF29DC}"/>
              </a:ext>
            </a:extLst>
          </p:cNvPr>
          <p:cNvSpPr txBox="1"/>
          <p:nvPr/>
        </p:nvSpPr>
        <p:spPr>
          <a:xfrm>
            <a:off x="3308228" y="1356529"/>
            <a:ext cx="2528282" cy="30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vs [0/0]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66ECD4-47A5-5769-84D0-565FB2CCA133}"/>
              </a:ext>
            </a:extLst>
          </p:cNvPr>
          <p:cNvSpPr txBox="1"/>
          <p:nvPr/>
        </p:nvSpPr>
        <p:spPr>
          <a:xfrm>
            <a:off x="3308227" y="1666162"/>
            <a:ext cx="252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+194.42%</a:t>
            </a:r>
            <a:endParaRPr lang="ko-KR" altLang="en-US" sz="2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92FC31-4097-A154-8845-8A44C92494C5}"/>
              </a:ext>
            </a:extLst>
          </p:cNvPr>
          <p:cNvSpPr txBox="1"/>
          <p:nvPr/>
        </p:nvSpPr>
        <p:spPr>
          <a:xfrm>
            <a:off x="3308227" y="2097973"/>
            <a:ext cx="2977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767676"/>
                </a:solidFill>
              </a:rPr>
              <a:t>2.94x higher than baseline</a:t>
            </a:r>
            <a:endParaRPr lang="ko-KR" altLang="en-US" sz="1600" b="1" dirty="0">
              <a:solidFill>
                <a:srgbClr val="767676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385759-4B2F-8ECA-1F0B-E828ED3EEC06}"/>
              </a:ext>
            </a:extLst>
          </p:cNvPr>
          <p:cNvSpPr/>
          <p:nvPr/>
        </p:nvSpPr>
        <p:spPr>
          <a:xfrm>
            <a:off x="6173951" y="1342069"/>
            <a:ext cx="3077736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E06E2D-AB1D-1638-5DDE-594393FA0F48}"/>
              </a:ext>
            </a:extLst>
          </p:cNvPr>
          <p:cNvSpPr/>
          <p:nvPr/>
        </p:nvSpPr>
        <p:spPr>
          <a:xfrm>
            <a:off x="6173951" y="1342069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FAD8E1-2A84-52C2-4138-3747ECDF6515}"/>
              </a:ext>
            </a:extLst>
          </p:cNvPr>
          <p:cNvSpPr txBox="1"/>
          <p:nvPr/>
        </p:nvSpPr>
        <p:spPr>
          <a:xfrm>
            <a:off x="6274312" y="1340213"/>
            <a:ext cx="2528282" cy="30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vs Quasi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217EEF-7D37-D959-E07B-2BB0E9708305}"/>
              </a:ext>
            </a:extLst>
          </p:cNvPr>
          <p:cNvSpPr txBox="1"/>
          <p:nvPr/>
        </p:nvSpPr>
        <p:spPr>
          <a:xfrm>
            <a:off x="6274311" y="1649846"/>
            <a:ext cx="252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+28.93%</a:t>
            </a:r>
            <a:endParaRPr lang="ko-KR" altLang="en-US" sz="2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C47001-8460-F856-02A9-9B6E3589A648}"/>
              </a:ext>
            </a:extLst>
          </p:cNvPr>
          <p:cNvSpPr txBox="1"/>
          <p:nvPr/>
        </p:nvSpPr>
        <p:spPr>
          <a:xfrm>
            <a:off x="6274310" y="2081657"/>
            <a:ext cx="34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1.28x higher than quasi-isotropic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A78CB321-2661-6430-A112-78AC3621B550}"/>
                  </a:ext>
                </a:extLst>
              </p:cNvPr>
              <p:cNvSpPr/>
              <p:nvPr/>
            </p:nvSpPr>
            <p:spPr>
              <a:xfrm>
                <a:off x="263054" y="5638800"/>
                <a:ext cx="7143390" cy="86360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The high-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region occurs around ±45°-type asymmetric combinations, not near the [0/0] or [90/90] baselines.</a:t>
                </a:r>
              </a:p>
            </p:txBody>
          </p:sp>
        </mc:Choice>
        <mc:Fallback xmlns=""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A78CB321-2661-6430-A112-78AC3621B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54" y="5638800"/>
                <a:ext cx="7143390" cy="8636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15BBB2DE-7BA2-636B-9D81-46D749027414}"/>
              </a:ext>
            </a:extLst>
          </p:cNvPr>
          <p:cNvSpPr/>
          <p:nvPr/>
        </p:nvSpPr>
        <p:spPr>
          <a:xfrm>
            <a:off x="257327" y="3340798"/>
            <a:ext cx="7143390" cy="491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59806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90832E7-2192-C1C8-A69C-BFFFFA82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Cost function evaluation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8FF724-C335-4CA3-141C-BFDE9B73EB79}"/>
                  </a:ext>
                </a:extLst>
              </p:cNvPr>
              <p:cNvSpPr txBox="1"/>
              <p:nvPr/>
            </p:nvSpPr>
            <p:spPr>
              <a:xfrm>
                <a:off x="7328703" y="1045791"/>
                <a:ext cx="4564070" cy="10413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=0.3 </m:t>
                      </m:r>
                      <m:sSup>
                        <m:sSup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𝐷𝐷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+0.7 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𝑡𝑟𝑎𝑛𝑠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𝐷𝐷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𝑐𝑟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8FF724-C335-4CA3-141C-BFDE9B73E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703" y="1045791"/>
                <a:ext cx="4564070" cy="10413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7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06AC60-3922-3FFF-0A32-4C7A4D0F6C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263" y="4033774"/>
            <a:ext cx="4572008" cy="27432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1">
                <a:extLst>
                  <a:ext uri="{FF2B5EF4-FFF2-40B4-BE49-F238E27FC236}">
                    <a16:creationId xmlns:a16="http://schemas.microsoft.com/office/drawing/2014/main" id="{7E41201C-B37A-10AA-CB10-D404B85533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67600" y="2205915"/>
                <a:ext cx="3713544" cy="1603375"/>
              </a:xfrm>
              <a:prstGeom prst="rect">
                <a:avLst/>
              </a:prstGeom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dirty="0"/>
                  <a:t>QI: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(0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±45/90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𝒄𝒓</m:t>
                        </m:r>
                      </m:sub>
                    </m:sSub>
                  </m:oMath>
                </a14:m>
                <a:r>
                  <a:rPr lang="en-US" altLang="ko-KR" dirty="0"/>
                  <a:t> = 12344.8 </a:t>
                </a:r>
                <a:r>
                  <a:rPr lang="en-US" altLang="ko-KR" dirty="0" err="1"/>
                  <a:t>lbs</a:t>
                </a:r>
                <a:endParaRPr lang="en-US" altLang="ko-KR" dirty="0"/>
              </a:p>
              <a:p>
                <a:r>
                  <a:rPr lang="el-GR" altLang="ko-KR" b="1" dirty="0"/>
                  <a:t>ω</a:t>
                </a:r>
                <a:r>
                  <a:rPr lang="en-US" altLang="ko-KR" b="1" dirty="0"/>
                  <a:t> </a:t>
                </a:r>
                <a:r>
                  <a:rPr lang="en-US" altLang="ko-KR" dirty="0"/>
                  <a:t>= 1113.5 Hz</a:t>
                </a:r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10" name="내용 개체 틀 1">
                <a:extLst>
                  <a:ext uri="{FF2B5EF4-FFF2-40B4-BE49-F238E27FC236}">
                    <a16:creationId xmlns:a16="http://schemas.microsoft.com/office/drawing/2014/main" id="{7E41201C-B37A-10AA-CB10-D404B8553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2205915"/>
                <a:ext cx="3713544" cy="1603375"/>
              </a:xfrm>
              <a:prstGeom prst="rect">
                <a:avLst/>
              </a:prstGeom>
              <a:blipFill>
                <a:blip r:embed="rId6"/>
                <a:stretch>
                  <a:fillRect l="-2782" t="-6415" b="-3774"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AF4EAA9E-867A-8FB3-57FC-FEDAB067C517}"/>
                  </a:ext>
                </a:extLst>
              </p:cNvPr>
              <p:cNvSpPr/>
              <p:nvPr/>
            </p:nvSpPr>
            <p:spPr>
              <a:xfrm>
                <a:off x="263054" y="1366472"/>
                <a:ext cx="6486754" cy="5135928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 latinLnBrk="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solidFill>
                      <a:schemeClr val="tx1"/>
                    </a:solidFill>
                  </a:rPr>
                  <a:t>To maximize bending and membrane stiffnesses, a weighted cost function is used </a:t>
                </a:r>
              </a:p>
              <a:p>
                <a:pPr marL="742950" lvl="1" indent="-285750" latinLnBrk="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/>
                    </a:solidFill>
                  </a:rPr>
                  <a:t>A static non-linear analysis predicts the realistic transition loads</a:t>
                </a:r>
              </a:p>
              <a:p>
                <a:pPr marL="742950" lvl="1" indent="-285750" latinLnBrk="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solidFill>
                      <a:schemeClr val="tx1"/>
                    </a:solidFill>
                  </a:rPr>
                  <a:t>An eigen value analysis predicts the fundamental frequency in lieu of flexural rigidity</a:t>
                </a:r>
              </a:p>
              <a:p>
                <a:pPr marL="342900" indent="-342900" latinLnBrk="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solidFill>
                      <a:schemeClr val="tx1"/>
                    </a:solidFill>
                  </a:rPr>
                  <a:t>Each term is normalized to its reference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e>
                        </m:d>
                      </m:e>
                      <m:sub>
                        <m:r>
                          <a:rPr lang="en-US" altLang="ko-KR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sub>
                    </m:sSub>
                  </m:oMath>
                </a14:m>
                <a:r>
                  <a:rPr lang="en-US" altLang="ko-KR" sz="2000" b="1" dirty="0">
                    <a:solidFill>
                      <a:schemeClr val="tx1"/>
                    </a:solidFill>
                  </a:rPr>
                  <a:t>, then weighted (70% buckling, 30% flexural rigidity) to match project priorities. </a:t>
                </a:r>
              </a:p>
              <a:p>
                <a:pPr marL="342900" indent="-342900" latinLnBrk="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solidFill>
                      <a:schemeClr val="tx1"/>
                    </a:solidFill>
                  </a:rPr>
                  <a:t>Higher scores indicate more superior designs. </a:t>
                </a:r>
              </a:p>
              <a:p>
                <a:pPr marL="342900" indent="-342900" latinLnBrk="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ko-KR" sz="2000" b="1" dirty="0">
                    <a:solidFill>
                      <a:schemeClr val="tx1"/>
                    </a:solidFill>
                  </a:rPr>
                  <a:t>QI evaluated using the same criteria</a:t>
                </a:r>
              </a:p>
            </p:txBody>
          </p:sp>
        </mc:Choice>
        <mc:Fallback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AF4EAA9E-867A-8FB3-57FC-FEDAB067C5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54" y="1366472"/>
                <a:ext cx="6486754" cy="513592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071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B2D30-9A52-0869-1810-CE82DF44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The image is a contour plot displaying a two-variable function, with contour lines at intervals of 0.2, showing a gradient from -80 to 80 in one axis and -20 to 20 in the other, possibly representing some physical or mathematical property such as elevation or concentration.&#10;&#10;AI 생성 콘텐츠는 정확하지 않을 수 있습니다.">
            <a:extLst>
              <a:ext uri="{FF2B5EF4-FFF2-40B4-BE49-F238E27FC236}">
                <a16:creationId xmlns:a16="http://schemas.microsoft.com/office/drawing/2014/main" id="{F773A636-A92B-6F5E-57A8-BBE23936EC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841" y="4629351"/>
            <a:ext cx="2160000" cy="1620000"/>
          </a:xfrm>
          <a:prstGeom prst="rect">
            <a:avLst/>
          </a:prstGeom>
        </p:spPr>
      </p:pic>
      <p:pic>
        <p:nvPicPr>
          <p:cNvPr id="17" name="그림 16" descr="The image is a contour plot displaying values of a function f at various angles, ranging from -80 to 80 degrees, with values from 0 to 2.&#10;&#10;AI 생성 콘텐츠는 정확하지 않을 수 있습니다.">
            <a:extLst>
              <a:ext uri="{FF2B5EF4-FFF2-40B4-BE49-F238E27FC236}">
                <a16:creationId xmlns:a16="http://schemas.microsoft.com/office/drawing/2014/main" id="{A0E5EB5C-DB77-82C0-9005-59E255E81D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884" y="4622665"/>
            <a:ext cx="2160000" cy="1620000"/>
          </a:xfrm>
          <a:prstGeom prst="rect">
            <a:avLst/>
          </a:prstGeom>
        </p:spPr>
      </p:pic>
      <p:pic>
        <p:nvPicPr>
          <p:cNvPr id="15" name="그림 14" descr="The image is a contour plot showing a two-dimensional function, with values ranging from -80 to 80, and contour lines at intervals of 0.2, plotted against an angle (degrees).&#10;&#10;AI 생성 콘텐츠는 정확하지 않을 수 있습니다.">
            <a:extLst>
              <a:ext uri="{FF2B5EF4-FFF2-40B4-BE49-F238E27FC236}">
                <a16:creationId xmlns:a16="http://schemas.microsoft.com/office/drawing/2014/main" id="{BDCEF19E-E553-2FBE-1CD9-5060EA5B11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4597452"/>
            <a:ext cx="2160000" cy="1620000"/>
          </a:xfrm>
          <a:prstGeom prst="rect">
            <a:avLst/>
          </a:prstGeom>
        </p:spPr>
      </p:pic>
      <p:pic>
        <p:nvPicPr>
          <p:cNvPr id="13" name="그림 12" descr="The image is a contour plot showing values of a function 'f' at various intervals, with the x-axis labeled in degrees and the y-axis representing different magnitudes.&#10;&#10;AI 생성 콘텐츠는 정확하지 않을 수 있습니다.">
            <a:extLst>
              <a:ext uri="{FF2B5EF4-FFF2-40B4-BE49-F238E27FC236}">
                <a16:creationId xmlns:a16="http://schemas.microsoft.com/office/drawing/2014/main" id="{FCC64214-9DF6-59EF-3C5F-CF84D223D5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156" y="1864984"/>
            <a:ext cx="2160000" cy="1620000"/>
          </a:xfrm>
          <a:prstGeom prst="rect">
            <a:avLst/>
          </a:prstGeom>
        </p:spPr>
      </p:pic>
      <p:pic>
        <p:nvPicPr>
          <p:cNvPr id="9" name="그림 8" descr="The image is a contour plot representing the function f(x, y) with values ranging from -80 to 0.20, indicating the magnitude of the function at different points in a two-dimensional plane.&#10;&#10;AI 생성 콘텐츠는 정확하지 않을 수 있습니다.">
            <a:extLst>
              <a:ext uri="{FF2B5EF4-FFF2-40B4-BE49-F238E27FC236}">
                <a16:creationId xmlns:a16="http://schemas.microsoft.com/office/drawing/2014/main" id="{5F2F4232-B6D9-45DE-8D68-D0E93CB4A4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1871613"/>
            <a:ext cx="2160000" cy="1620000"/>
          </a:xfrm>
          <a:prstGeom prst="rect">
            <a:avLst/>
          </a:prstGeom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1E374E0-9B2E-6E3B-7160-F64169FED8DB}"/>
              </a:ext>
            </a:extLst>
          </p:cNvPr>
          <p:cNvSpPr/>
          <p:nvPr/>
        </p:nvSpPr>
        <p:spPr>
          <a:xfrm>
            <a:off x="500743" y="1499616"/>
            <a:ext cx="6142080" cy="2368296"/>
          </a:xfrm>
          <a:prstGeom prst="roundRect">
            <a:avLst>
              <a:gd name="adj" fmla="val 11342"/>
            </a:avLst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54527BF-9314-E591-18A8-AD97E1F6C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Result Overview: 5 Cases, 2 Surface Patterns</a:t>
            </a:r>
            <a:endParaRPr lang="ko-KR" altLang="en-US" sz="4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2F4F533-7E1D-35EC-5EC3-196E79C3AA3E}"/>
              </a:ext>
            </a:extLst>
          </p:cNvPr>
          <p:cNvSpPr/>
          <p:nvPr/>
        </p:nvSpPr>
        <p:spPr>
          <a:xfrm>
            <a:off x="658368" y="1261872"/>
            <a:ext cx="2880000" cy="468000"/>
          </a:xfrm>
          <a:prstGeom prst="roundRect">
            <a:avLst>
              <a:gd name="adj" fmla="val 17857"/>
            </a:avLst>
          </a:prstGeom>
          <a:solidFill>
            <a:srgbClr val="5A1B66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Pattern I: Case 1 &amp; 5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FC1DE0B-844B-BBC4-EEE3-F586DF49ED94}"/>
              </a:ext>
            </a:extLst>
          </p:cNvPr>
          <p:cNvSpPr/>
          <p:nvPr/>
        </p:nvSpPr>
        <p:spPr>
          <a:xfrm>
            <a:off x="500743" y="4259265"/>
            <a:ext cx="8152891" cy="2368296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BFB7A730-0F23-8601-A347-3EFC36A061A6}"/>
              </a:ext>
            </a:extLst>
          </p:cNvPr>
          <p:cNvSpPr/>
          <p:nvPr/>
        </p:nvSpPr>
        <p:spPr>
          <a:xfrm>
            <a:off x="658368" y="4021521"/>
            <a:ext cx="2880000" cy="468000"/>
          </a:xfrm>
          <a:prstGeom prst="roundRect">
            <a:avLst>
              <a:gd name="adj" fmla="val 17857"/>
            </a:avLst>
          </a:prstGeom>
          <a:solidFill>
            <a:srgbClr val="0070C0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Pattern II: Case 2, 3 &amp; 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ADB34F-E474-EF0F-B8DF-A786DFC4BC8A}"/>
              </a:ext>
            </a:extLst>
          </p:cNvPr>
          <p:cNvSpPr txBox="1"/>
          <p:nvPr/>
        </p:nvSpPr>
        <p:spPr>
          <a:xfrm>
            <a:off x="1146472" y="3448070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1</a:t>
            </a:r>
            <a:endParaRPr lang="ko-KR" altLang="en-US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EAC2E0-4245-1527-0537-60E5FA5B66A5}"/>
              </a:ext>
            </a:extLst>
          </p:cNvPr>
          <p:cNvSpPr txBox="1"/>
          <p:nvPr/>
        </p:nvSpPr>
        <p:spPr>
          <a:xfrm>
            <a:off x="3168670" y="3448070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5</a:t>
            </a:r>
            <a:endParaRPr lang="ko-KR" altLang="en-US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7590B9-DDB5-23AD-D4C7-3EE9AC73AD8F}"/>
              </a:ext>
            </a:extLst>
          </p:cNvPr>
          <p:cNvSpPr txBox="1"/>
          <p:nvPr/>
        </p:nvSpPr>
        <p:spPr>
          <a:xfrm>
            <a:off x="5042860" y="2083599"/>
            <a:ext cx="15999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4B2E84"/>
                </a:solidFill>
              </a:rPr>
              <a:t>Similar twin-ridge / </a:t>
            </a:r>
          </a:p>
          <a:p>
            <a:r>
              <a:rPr lang="en-US" altLang="ko-KR" dirty="0">
                <a:solidFill>
                  <a:srgbClr val="4B2E84"/>
                </a:solidFill>
              </a:rPr>
              <a:t>Center basin pattern</a:t>
            </a:r>
            <a:endParaRPr lang="ko-KR" altLang="en-US" dirty="0">
              <a:solidFill>
                <a:srgbClr val="4B2E84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15754D-88EA-2515-7BF7-6EDBD3A077D1}"/>
              </a:ext>
            </a:extLst>
          </p:cNvPr>
          <p:cNvSpPr txBox="1"/>
          <p:nvPr/>
        </p:nvSpPr>
        <p:spPr>
          <a:xfrm>
            <a:off x="1065408" y="621229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2</a:t>
            </a:r>
            <a:endParaRPr lang="ko-KR" altLang="en-US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A15ED68-B3E6-BED4-8182-0508B0B82D22}"/>
              </a:ext>
            </a:extLst>
          </p:cNvPr>
          <p:cNvSpPr txBox="1"/>
          <p:nvPr/>
        </p:nvSpPr>
        <p:spPr>
          <a:xfrm>
            <a:off x="3180943" y="6223844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3</a:t>
            </a:r>
            <a:endParaRPr lang="ko-KR" altLang="en-US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8A97D7-9C93-3B36-1BAE-E8E6B5B830BC}"/>
              </a:ext>
            </a:extLst>
          </p:cNvPr>
          <p:cNvSpPr txBox="1"/>
          <p:nvPr/>
        </p:nvSpPr>
        <p:spPr>
          <a:xfrm>
            <a:off x="5212627" y="62170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4</a:t>
            </a:r>
            <a:endParaRPr lang="ko-KR" altLang="en-US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1B7AA5-3529-B188-BC29-2B378923A87C}"/>
              </a:ext>
            </a:extLst>
          </p:cNvPr>
          <p:cNvSpPr txBox="1"/>
          <p:nvPr/>
        </p:nvSpPr>
        <p:spPr>
          <a:xfrm>
            <a:off x="6901082" y="4813679"/>
            <a:ext cx="16576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4-corner peak structure with a low center region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063179C-F38F-EA08-E7A1-27BC12D5DD12}"/>
              </a:ext>
            </a:extLst>
          </p:cNvPr>
          <p:cNvSpPr/>
          <p:nvPr/>
        </p:nvSpPr>
        <p:spPr>
          <a:xfrm>
            <a:off x="7114478" y="1499616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79CD194-2CA5-2A8E-172F-179AA3AC4AE3}"/>
              </a:ext>
            </a:extLst>
          </p:cNvPr>
          <p:cNvSpPr/>
          <p:nvPr/>
        </p:nvSpPr>
        <p:spPr>
          <a:xfrm>
            <a:off x="7114478" y="1499616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B23399E-B7BB-EECF-5FDF-CC17486F8661}"/>
              </a:ext>
            </a:extLst>
          </p:cNvPr>
          <p:cNvSpPr txBox="1"/>
          <p:nvPr/>
        </p:nvSpPr>
        <p:spPr>
          <a:xfrm>
            <a:off x="7214839" y="1499616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Key contrast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0DFD9DA-CFC4-3C2C-F4AF-8E8BE4628FFE}"/>
              </a:ext>
            </a:extLst>
          </p:cNvPr>
          <p:cNvSpPr txBox="1"/>
          <p:nvPr/>
        </p:nvSpPr>
        <p:spPr>
          <a:xfrm>
            <a:off x="7214838" y="1807393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+31.31% vs Quasi</a:t>
            </a:r>
            <a:endParaRPr lang="ko-KR" altLang="en-US" sz="24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AA006F-C7C6-D8DD-570D-8DF6E1E39DDC}"/>
              </a:ext>
            </a:extLst>
          </p:cNvPr>
          <p:cNvSpPr txBox="1"/>
          <p:nvPr/>
        </p:nvSpPr>
        <p:spPr>
          <a:xfrm>
            <a:off x="7214839" y="2285292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Case 2 best / quasi = 2.998788 / 2.283682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334C660-1289-2482-22BB-4F0CBE166635}"/>
              </a:ext>
            </a:extLst>
          </p:cNvPr>
          <p:cNvSpPr/>
          <p:nvPr/>
        </p:nvSpPr>
        <p:spPr>
          <a:xfrm>
            <a:off x="7114478" y="2845633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7A067DB9-2975-FF08-30D0-EB85BB28AC7E}"/>
              </a:ext>
            </a:extLst>
          </p:cNvPr>
          <p:cNvSpPr/>
          <p:nvPr/>
        </p:nvSpPr>
        <p:spPr>
          <a:xfrm>
            <a:off x="7114478" y="2845633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DA9AAB0-8D7D-F101-E099-794C58828286}"/>
              </a:ext>
            </a:extLst>
          </p:cNvPr>
          <p:cNvSpPr txBox="1"/>
          <p:nvPr/>
        </p:nvSpPr>
        <p:spPr>
          <a:xfrm>
            <a:off x="7214839" y="2845633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Design implication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9D83B2C-1CB4-E35F-190C-E3FD4EC82068}"/>
              </a:ext>
            </a:extLst>
          </p:cNvPr>
          <p:cNvSpPr txBox="1"/>
          <p:nvPr/>
        </p:nvSpPr>
        <p:spPr>
          <a:xfrm>
            <a:off x="7214838" y="3153410"/>
            <a:ext cx="415940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±45º-type angles dominates</a:t>
            </a:r>
            <a:endParaRPr lang="ko-KR" altLang="en-US" sz="23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EF583AF8-0F91-0A32-2BDF-135DB93C8C1F}"/>
                  </a:ext>
                </a:extLst>
              </p:cNvPr>
              <p:cNvSpPr txBox="1"/>
              <p:nvPr/>
            </p:nvSpPr>
            <p:spPr>
              <a:xfrm>
                <a:off x="7214838" y="3631309"/>
                <a:ext cx="43967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>
                    <a:solidFill>
                      <a:srgbClr val="767676"/>
                    </a:solidFill>
                  </a:rPr>
                  <a:t>High-performing regions appear away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200" b="1" dirty="0">
                    <a:solidFill>
                      <a:srgbClr val="767676"/>
                    </a:solidFill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2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2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200" b="1" dirty="0">
                    <a:solidFill>
                      <a:srgbClr val="767676"/>
                    </a:solidFill>
                  </a:rPr>
                  <a:t>=0</a:t>
                </a:r>
                <a:r>
                  <a:rPr lang="en-US" altLang="ko-KR" sz="12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2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5412DB9-9053-CE47-5C40-0752734F0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38" y="3631309"/>
                <a:ext cx="4396779" cy="276999"/>
              </a:xfrm>
              <a:prstGeom prst="rect">
                <a:avLst/>
              </a:prstGeom>
              <a:blipFill>
                <a:blip r:embed="rId8"/>
                <a:stretch>
                  <a:fillRect l="-139"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784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A3A38-D196-AB7B-12CB-36A26463B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The image is a contour plot showing values of a function 'f' at various intervals, with the x-axis labeled in degrees and the y-axis representing different magnitudes.&#10;&#10;AI 생성 콘텐츠는 정확하지 않을 수 있습니다.">
            <a:extLst>
              <a:ext uri="{FF2B5EF4-FFF2-40B4-BE49-F238E27FC236}">
                <a16:creationId xmlns:a16="http://schemas.microsoft.com/office/drawing/2014/main" id="{FAA3D546-DD13-D83C-BEEA-CE1738AF7678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43" y="1621408"/>
            <a:ext cx="2520000" cy="2160000"/>
          </a:xfrm>
          <a:prstGeom prst="rect">
            <a:avLst/>
          </a:prstGeom>
        </p:spPr>
      </p:pic>
      <p:pic>
        <p:nvPicPr>
          <p:cNvPr id="5" name="그림 4" descr="The image is a contour plot representing the function f(x, y) with values ranging from -80 to 0.20, indicating the magnitude of the function at different points in a two-dimensional plane.&#10;&#10;AI 생성 콘텐츠는 정확하지 않을 수 있습니다.">
            <a:extLst>
              <a:ext uri="{FF2B5EF4-FFF2-40B4-BE49-F238E27FC236}">
                <a16:creationId xmlns:a16="http://schemas.microsoft.com/office/drawing/2014/main" id="{5CE50CAC-9950-441F-D656-EA559CD0BFC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70" y="1621408"/>
            <a:ext cx="2520000" cy="216000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CB05FA7-662C-CAEA-9C17-21325DBC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Pattern I: Case 1 &amp; 5</a:t>
            </a:r>
            <a:endParaRPr lang="ko-KR" altLang="en-US" sz="40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571D073-8376-7765-91FD-137481C341A2}"/>
              </a:ext>
            </a:extLst>
          </p:cNvPr>
          <p:cNvSpPr/>
          <p:nvPr/>
        </p:nvSpPr>
        <p:spPr>
          <a:xfrm>
            <a:off x="50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1784E-4106-4BC2-31E1-E6F9218B5B5F}"/>
              </a:ext>
            </a:extLst>
          </p:cNvPr>
          <p:cNvSpPr txBox="1"/>
          <p:nvPr/>
        </p:nvSpPr>
        <p:spPr>
          <a:xfrm>
            <a:off x="131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1</a:t>
            </a:r>
            <a:endParaRPr lang="ko-KR" altLang="en-US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92ED106-AD78-5ADA-C64A-E801D76D652A}"/>
              </a:ext>
            </a:extLst>
          </p:cNvPr>
          <p:cNvSpPr/>
          <p:nvPr/>
        </p:nvSpPr>
        <p:spPr>
          <a:xfrm>
            <a:off x="356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8AD942-85F7-BDDE-7A02-897A940AD86C}"/>
              </a:ext>
            </a:extLst>
          </p:cNvPr>
          <p:cNvSpPr txBox="1"/>
          <p:nvPr/>
        </p:nvSpPr>
        <p:spPr>
          <a:xfrm>
            <a:off x="437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5</a:t>
            </a:r>
            <a:endParaRPr lang="ko-KR" altLang="en-US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89C776D-AA5D-97AA-4D96-C25535BB275D}"/>
              </a:ext>
            </a:extLst>
          </p:cNvPr>
          <p:cNvSpPr/>
          <p:nvPr/>
        </p:nvSpPr>
        <p:spPr>
          <a:xfrm>
            <a:off x="7070529" y="1944858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046F137-F25E-52BF-4410-0B91C3911AE6}"/>
              </a:ext>
            </a:extLst>
          </p:cNvPr>
          <p:cNvSpPr/>
          <p:nvPr/>
        </p:nvSpPr>
        <p:spPr>
          <a:xfrm>
            <a:off x="7070529" y="1944858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E525D8-129D-2335-6975-F1E22733D860}"/>
              </a:ext>
            </a:extLst>
          </p:cNvPr>
          <p:cNvSpPr txBox="1"/>
          <p:nvPr/>
        </p:nvSpPr>
        <p:spPr>
          <a:xfrm>
            <a:off x="7170890" y="1944858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Shared visual pattern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DA4EBF-1EBC-A7DB-0565-100308C351EA}"/>
              </a:ext>
            </a:extLst>
          </p:cNvPr>
          <p:cNvSpPr txBox="1"/>
          <p:nvPr/>
        </p:nvSpPr>
        <p:spPr>
          <a:xfrm>
            <a:off x="7170889" y="2252635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Center basin + Side ridges</a:t>
            </a:r>
            <a:endParaRPr lang="ko-KR" altLang="en-US" sz="24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77339D-3D83-1DC5-37C1-215A656589DC}"/>
              </a:ext>
            </a:extLst>
          </p:cNvPr>
          <p:cNvSpPr txBox="1"/>
          <p:nvPr/>
        </p:nvSpPr>
        <p:spPr>
          <a:xfrm>
            <a:off x="7170890" y="2730534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Both surfaces favor nonzero 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</a:t>
            </a:r>
            <a:r>
              <a:rPr lang="el-GR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θ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combinations</a:t>
            </a:r>
            <a:r>
              <a:rPr lang="en-US" altLang="ko-KR" sz="1400" b="1" dirty="0">
                <a:solidFill>
                  <a:srgbClr val="767676"/>
                </a:solidFill>
              </a:rPr>
              <a:t>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126219-A9CB-2FED-22CC-20C7D554658C}"/>
              </a:ext>
            </a:extLst>
          </p:cNvPr>
          <p:cNvSpPr/>
          <p:nvPr/>
        </p:nvSpPr>
        <p:spPr>
          <a:xfrm>
            <a:off x="7070529" y="3290875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65A5139-8B3A-294B-2064-62650E406CA0}"/>
              </a:ext>
            </a:extLst>
          </p:cNvPr>
          <p:cNvSpPr/>
          <p:nvPr/>
        </p:nvSpPr>
        <p:spPr>
          <a:xfrm>
            <a:off x="7070529" y="3290875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417B0F-5445-85FC-4A1C-BCD51EBA6BD3}"/>
                  </a:ext>
                </a:extLst>
              </p:cNvPr>
              <p:cNvSpPr txBox="1"/>
              <p:nvPr/>
            </p:nvSpPr>
            <p:spPr>
              <a:xfrm>
                <a:off x="7170890" y="3290875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Highest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767676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ko-KR" sz="1400" b="1" i="1" smtClean="0">
                        <a:solidFill>
                          <a:srgbClr val="76767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case 1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417B0F-5445-85FC-4A1C-BCD51EBA6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3290875"/>
                <a:ext cx="2977376" cy="307777"/>
              </a:xfrm>
              <a:prstGeom prst="rect">
                <a:avLst/>
              </a:prstGeom>
              <a:blipFill>
                <a:blip r:embed="rId4"/>
                <a:stretch>
                  <a:fillRect l="-613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4F7CA420-DC2D-C443-1284-7E51F4858D91}"/>
              </a:ext>
            </a:extLst>
          </p:cNvPr>
          <p:cNvSpPr txBox="1"/>
          <p:nvPr/>
        </p:nvSpPr>
        <p:spPr>
          <a:xfrm>
            <a:off x="7170889" y="3598652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2.894787</a:t>
            </a:r>
            <a:endParaRPr lang="ko-KR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4A31DD4-0855-7E6B-141E-D9EB1F418276}"/>
                  </a:ext>
                </a:extLst>
              </p:cNvPr>
              <p:cNvSpPr txBox="1"/>
              <p:nvPr/>
            </p:nvSpPr>
            <p:spPr>
              <a:xfrm>
                <a:off x="7170890" y="4076551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=43.23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=-49.42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4A31DD4-0855-7E6B-141E-D9EB1F418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4076551"/>
                <a:ext cx="2977376" cy="307777"/>
              </a:xfrm>
              <a:prstGeom prst="rect">
                <a:avLst/>
              </a:prstGeom>
              <a:blipFill>
                <a:blip r:embed="rId5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직사각형 29">
            <a:extLst>
              <a:ext uri="{FF2B5EF4-FFF2-40B4-BE49-F238E27FC236}">
                <a16:creationId xmlns:a16="http://schemas.microsoft.com/office/drawing/2014/main" id="{1DD106B2-12E3-E9FD-63B6-93464E637164}"/>
              </a:ext>
            </a:extLst>
          </p:cNvPr>
          <p:cNvSpPr/>
          <p:nvPr/>
        </p:nvSpPr>
        <p:spPr>
          <a:xfrm>
            <a:off x="7070529" y="4636892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E845245-1EFE-19B7-A9B9-116B7E8DC89C}"/>
              </a:ext>
            </a:extLst>
          </p:cNvPr>
          <p:cNvSpPr/>
          <p:nvPr/>
        </p:nvSpPr>
        <p:spPr>
          <a:xfrm>
            <a:off x="7070529" y="4636892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EE92F49-F7EA-601D-473C-3CED503A8A6A}"/>
                  </a:ext>
                </a:extLst>
              </p:cNvPr>
              <p:cNvSpPr txBox="1"/>
              <p:nvPr/>
            </p:nvSpPr>
            <p:spPr>
              <a:xfrm>
                <a:off x="7170890" y="4636892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Highest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767676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ko-KR" sz="1400" b="1" i="1" smtClean="0">
                        <a:solidFill>
                          <a:srgbClr val="76767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case 5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EE92F49-F7EA-601D-473C-3CED503A8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4636892"/>
                <a:ext cx="2977376" cy="307777"/>
              </a:xfrm>
              <a:prstGeom prst="rect">
                <a:avLst/>
              </a:prstGeom>
              <a:blipFill>
                <a:blip r:embed="rId6"/>
                <a:stretch>
                  <a:fillRect l="-613"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3B893989-87CC-EC6D-405F-6D6FB8DF789B}"/>
              </a:ext>
            </a:extLst>
          </p:cNvPr>
          <p:cNvSpPr txBox="1"/>
          <p:nvPr/>
        </p:nvSpPr>
        <p:spPr>
          <a:xfrm>
            <a:off x="7170889" y="4944669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2.902941</a:t>
            </a:r>
            <a:endParaRPr lang="ko-KR" altLang="en-US" sz="2400" b="1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9E0928B0-9641-768B-12AF-F94646556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60535"/>
              </p:ext>
            </p:extLst>
          </p:nvPr>
        </p:nvGraphicFramePr>
        <p:xfrm>
          <a:off x="500743" y="4964974"/>
          <a:ext cx="2880000" cy="1112520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98773673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634655387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709498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Quasi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Benchmark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2.283682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5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2.894787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8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2.902941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31621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97F4F78B-A75F-E168-548C-7086BA15C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565363"/>
              </p:ext>
            </p:extLst>
          </p:nvPr>
        </p:nvGraphicFramePr>
        <p:xfrm>
          <a:off x="3560743" y="4961092"/>
          <a:ext cx="2880000" cy="1112520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8515499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3164719774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59535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Quasi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+27.12%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43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[0/0]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+190.29%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23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Case 5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vs Case 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/>
                        <a:t>+0.28%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929185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FD6F69-6DE8-8E2A-F563-7B205C5006BF}"/>
              </a:ext>
            </a:extLst>
          </p:cNvPr>
          <p:cNvSpPr/>
          <p:nvPr/>
        </p:nvSpPr>
        <p:spPr>
          <a:xfrm>
            <a:off x="500743" y="5715035"/>
            <a:ext cx="2880000" cy="358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CD0CED-2E89-F517-4D31-02AE479E6CAB}"/>
              </a:ext>
            </a:extLst>
          </p:cNvPr>
          <p:cNvSpPr txBox="1"/>
          <p:nvPr/>
        </p:nvSpPr>
        <p:spPr>
          <a:xfrm>
            <a:off x="481880" y="4191650"/>
            <a:ext cx="5920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4B2E84"/>
                </a:solidFill>
              </a:rPr>
              <a:t>Case 5 slightly improves the peak while preserving the same response shape</a:t>
            </a:r>
            <a:endParaRPr lang="ko-KR" altLang="en-US" b="1" dirty="0">
              <a:solidFill>
                <a:srgbClr val="4B2E8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9C195F-EDD6-80BC-4B0F-D6EA3D56F1CD}"/>
                  </a:ext>
                </a:extLst>
              </p:cNvPr>
              <p:cNvSpPr txBox="1"/>
              <p:nvPr/>
            </p:nvSpPr>
            <p:spPr>
              <a:xfrm>
                <a:off x="7170890" y="5401660"/>
                <a:ext cx="2977376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=-43.13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=-44.92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9C195F-EDD6-80BC-4B0F-D6EA3D56F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0890" y="5401660"/>
                <a:ext cx="2977376" cy="311817"/>
              </a:xfrm>
              <a:prstGeom prst="rect">
                <a:avLst/>
              </a:prstGeom>
              <a:blipFill>
                <a:blip r:embed="rId7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83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504D-6646-5095-9B7D-BD257568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The image is a contour plot displaying a two-variable function, with contour lines at intervals of 0.2, showing a gradient from -80 to 80 in one axis and -20 to 20 in the other, possibly representing some physical or mathematical property such as elevation or concentration.&#10;&#10;AI 생성 콘텐츠는 정확하지 않을 수 있습니다.">
            <a:extLst>
              <a:ext uri="{FF2B5EF4-FFF2-40B4-BE49-F238E27FC236}">
                <a16:creationId xmlns:a16="http://schemas.microsoft.com/office/drawing/2014/main" id="{D00B357F-1B26-CF04-A00E-8A06FEC583F2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315" y="1595515"/>
            <a:ext cx="2520000" cy="2160000"/>
          </a:xfrm>
          <a:prstGeom prst="rect">
            <a:avLst/>
          </a:prstGeom>
        </p:spPr>
      </p:pic>
      <p:pic>
        <p:nvPicPr>
          <p:cNvPr id="6" name="그림 5" descr="The image is a contour plot displaying values of a function f at various angles, ranging from -80 to 80 degrees, with values from 0 to 2.&#10;&#10;AI 생성 콘텐츠는 정확하지 않을 수 있습니다.">
            <a:extLst>
              <a:ext uri="{FF2B5EF4-FFF2-40B4-BE49-F238E27FC236}">
                <a16:creationId xmlns:a16="http://schemas.microsoft.com/office/drawing/2014/main" id="{B657C426-E3BE-E539-4C3C-790628F59BE4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0743" y="1598150"/>
            <a:ext cx="2520000" cy="2160000"/>
          </a:xfrm>
          <a:prstGeom prst="rect">
            <a:avLst/>
          </a:prstGeom>
        </p:spPr>
      </p:pic>
      <p:pic>
        <p:nvPicPr>
          <p:cNvPr id="8" name="그림 7" descr="The image is a contour plot showing a two-dimensional function, with values ranging from -80 to 80, and contour lines at intervals of 0.2, plotted against an angle (degrees).&#10;&#10;AI 생성 콘텐츠는 정확하지 않을 수 있습니다.">
            <a:extLst>
              <a:ext uri="{FF2B5EF4-FFF2-40B4-BE49-F238E27FC236}">
                <a16:creationId xmlns:a16="http://schemas.microsoft.com/office/drawing/2014/main" id="{5DAFA710-0C5A-0ACD-5EDE-638C6B6D03C2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32" y="1598150"/>
            <a:ext cx="2520000" cy="216000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774D11D8-EC48-1216-18C2-C84D6CF1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Pattern II: Case 2, 3 &amp; 4</a:t>
            </a:r>
            <a:endParaRPr lang="ko-KR" altLang="en-US" sz="40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D1D608A-5953-C231-5C73-E8CAFD4E06BC}"/>
              </a:ext>
            </a:extLst>
          </p:cNvPr>
          <p:cNvSpPr/>
          <p:nvPr/>
        </p:nvSpPr>
        <p:spPr>
          <a:xfrm>
            <a:off x="50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C581C1-0E79-F558-8819-4F1BD7583FBF}"/>
              </a:ext>
            </a:extLst>
          </p:cNvPr>
          <p:cNvSpPr txBox="1"/>
          <p:nvPr/>
        </p:nvSpPr>
        <p:spPr>
          <a:xfrm>
            <a:off x="131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2</a:t>
            </a:r>
            <a:endParaRPr lang="ko-KR" altLang="en-US" b="1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00F29A2-6138-8138-BD81-232D1541B33D}"/>
              </a:ext>
            </a:extLst>
          </p:cNvPr>
          <p:cNvSpPr/>
          <p:nvPr/>
        </p:nvSpPr>
        <p:spPr>
          <a:xfrm>
            <a:off x="356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05294-DC93-FCAE-8570-11A6DCFBF616}"/>
              </a:ext>
            </a:extLst>
          </p:cNvPr>
          <p:cNvSpPr txBox="1"/>
          <p:nvPr/>
        </p:nvSpPr>
        <p:spPr>
          <a:xfrm>
            <a:off x="437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3</a:t>
            </a:r>
            <a:endParaRPr lang="ko-KR" altLang="en-US" b="1" dirty="0"/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4DCDC038-99C4-2087-003A-8416A74779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780393"/>
              </p:ext>
            </p:extLst>
          </p:nvPr>
        </p:nvGraphicFramePr>
        <p:xfrm>
          <a:off x="500743" y="4964974"/>
          <a:ext cx="2880000" cy="148336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98773673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634655387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7094983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Quasi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Benchmark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2.283682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0256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2.998788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881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3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2.993270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31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4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Best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2.993247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845232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2A94F73B-F26D-8E86-74B2-BEFC5632E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000096"/>
              </p:ext>
            </p:extLst>
          </p:nvPr>
        </p:nvGraphicFramePr>
        <p:xfrm>
          <a:off x="3560743" y="4961092"/>
          <a:ext cx="2880000" cy="1483360"/>
        </p:xfrm>
        <a:graphic>
          <a:graphicData uri="http://schemas.openxmlformats.org/drawingml/2006/table">
            <a:tbl>
              <a:tblPr bandRow="1">
                <a:tableStyleId>{00A15C55-8517-42AA-B614-E9B94910E393}</a:tableStyleId>
              </a:tblPr>
              <a:tblGrid>
                <a:gridCol w="960000">
                  <a:extLst>
                    <a:ext uri="{9D8B030D-6E8A-4147-A177-3AD203B41FA5}">
                      <a16:colId xmlns:a16="http://schemas.microsoft.com/office/drawing/2014/main" val="288515499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3164719774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159535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Quasi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+31.31%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43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Case 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vs [0/0]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+199.88%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9236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Case 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vs Case 3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+0.18%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92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Case 2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vs Case 4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/>
                        <a:t>+0.19%</a:t>
                      </a:r>
                      <a:endParaRPr lang="ko-KR" altLang="en-US" sz="11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68166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7344DA9F-7640-91B4-F291-D8F7852459FE}"/>
              </a:ext>
            </a:extLst>
          </p:cNvPr>
          <p:cNvSpPr/>
          <p:nvPr/>
        </p:nvSpPr>
        <p:spPr>
          <a:xfrm>
            <a:off x="500743" y="5336231"/>
            <a:ext cx="2880000" cy="3585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27FB98C-0CCA-BA63-75F3-B8B0D8339CE8}"/>
              </a:ext>
            </a:extLst>
          </p:cNvPr>
          <p:cNvSpPr/>
          <p:nvPr/>
        </p:nvSpPr>
        <p:spPr>
          <a:xfrm>
            <a:off x="6620743" y="1499616"/>
            <a:ext cx="2880000" cy="2520000"/>
          </a:xfrm>
          <a:prstGeom prst="roundRect">
            <a:avLst>
              <a:gd name="adj" fmla="val 11342"/>
            </a:avLst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70C0"/>
              </a:solidFill>
            </a:endParaRPr>
          </a:p>
        </p:txBody>
      </p:sp>
      <p:pic>
        <p:nvPicPr>
          <p:cNvPr id="10" name="그림 9" descr="The image is a contour plot illustrating values of a variable (possibly P) across different angles in degrees, with a range from -80 to 80 and -50 to 50.&#10;&#10;AI 생성 콘텐츠는 정확하지 않을 수 있습니다.">
            <a:extLst>
              <a:ext uri="{FF2B5EF4-FFF2-40B4-BE49-F238E27FC236}">
                <a16:creationId xmlns:a16="http://schemas.microsoft.com/office/drawing/2014/main" id="{C386E0F0-A46E-84EF-B441-96329999AF9A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428750"/>
            <a:ext cx="0" cy="21600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B9DA960-A81C-0B49-A9C7-D151664656AE}"/>
              </a:ext>
            </a:extLst>
          </p:cNvPr>
          <p:cNvSpPr txBox="1"/>
          <p:nvPr/>
        </p:nvSpPr>
        <p:spPr>
          <a:xfrm>
            <a:off x="7430529" y="3668288"/>
            <a:ext cx="12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Case 4</a:t>
            </a:r>
            <a:endParaRPr lang="ko-KR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20C6B9B-DFCF-56F4-FE67-FF5C4672FDDA}"/>
                  </a:ext>
                </a:extLst>
              </p:cNvPr>
              <p:cNvSpPr txBox="1"/>
              <p:nvPr/>
            </p:nvSpPr>
            <p:spPr>
              <a:xfrm>
                <a:off x="481880" y="4191650"/>
                <a:ext cx="592077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solidFill>
                      <a:srgbClr val="0070C0"/>
                    </a:solidFill>
                  </a:rPr>
                  <a:t>Cases 2, 3, and 4 highest peak is located near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070C0"/>
                    </a:solidFill>
                  </a:rPr>
                  <a:t>=44.13</a:t>
                </a:r>
                <a:r>
                  <a:rPr lang="en-US" altLang="ko-KR" b="1" dirty="0">
                    <a:solidFill>
                      <a:srgbClr val="0070C0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b="1" dirty="0">
                    <a:solidFill>
                      <a:srgbClr val="0070C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b="1" dirty="0">
                    <a:solidFill>
                      <a:srgbClr val="0070C0"/>
                    </a:solidFill>
                  </a:rPr>
                  <a:t>=-49.42</a:t>
                </a:r>
                <a:r>
                  <a:rPr lang="en-US" altLang="ko-KR" b="1" dirty="0">
                    <a:solidFill>
                      <a:srgbClr val="0070C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º</a:t>
                </a:r>
                <a:endParaRPr lang="ko-KR" alt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8E43BB-34B4-E850-173A-8C272C60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80" y="4191650"/>
                <a:ext cx="5920779" cy="646331"/>
              </a:xfrm>
              <a:prstGeom prst="rect">
                <a:avLst/>
              </a:prstGeom>
              <a:blipFill>
                <a:blip r:embed="rId7"/>
                <a:stretch>
                  <a:fillRect l="-824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직사각형 42">
            <a:extLst>
              <a:ext uri="{FF2B5EF4-FFF2-40B4-BE49-F238E27FC236}">
                <a16:creationId xmlns:a16="http://schemas.microsoft.com/office/drawing/2014/main" id="{5F884B4C-AD79-B511-0D52-87F70FC744E9}"/>
              </a:ext>
            </a:extLst>
          </p:cNvPr>
          <p:cNvSpPr/>
          <p:nvPr/>
        </p:nvSpPr>
        <p:spPr>
          <a:xfrm>
            <a:off x="7071745" y="4320285"/>
            <a:ext cx="4396779" cy="10781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C3F7ECF-A004-D8A8-AFAD-3E357FA3B609}"/>
              </a:ext>
            </a:extLst>
          </p:cNvPr>
          <p:cNvSpPr/>
          <p:nvPr/>
        </p:nvSpPr>
        <p:spPr>
          <a:xfrm>
            <a:off x="7071745" y="4320285"/>
            <a:ext cx="100361" cy="107814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FCC9B8-755E-2E62-2F6E-925F65CCAA1A}"/>
              </a:ext>
            </a:extLst>
          </p:cNvPr>
          <p:cNvSpPr txBox="1"/>
          <p:nvPr/>
        </p:nvSpPr>
        <p:spPr>
          <a:xfrm>
            <a:off x="7172106" y="4320285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Shared visual pattern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77F488-9E84-4609-180C-1608B5FB11B7}"/>
              </a:ext>
            </a:extLst>
          </p:cNvPr>
          <p:cNvSpPr txBox="1"/>
          <p:nvPr/>
        </p:nvSpPr>
        <p:spPr>
          <a:xfrm>
            <a:off x="7172104" y="4682384"/>
            <a:ext cx="429641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00" b="1" dirty="0"/>
              <a:t>4-corner peak with a low center region</a:t>
            </a:r>
            <a:endParaRPr lang="ko-KR" altLang="en-US" sz="17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F6ABE0-D12E-EF28-D03A-BEB9A4B4D4BE}"/>
              </a:ext>
            </a:extLst>
          </p:cNvPr>
          <p:cNvSpPr txBox="1"/>
          <p:nvPr/>
        </p:nvSpPr>
        <p:spPr>
          <a:xfrm>
            <a:off x="7172106" y="5105961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All surfaces favor nonzero 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±</a:t>
            </a:r>
            <a:r>
              <a:rPr lang="el-GR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θ</a:t>
            </a:r>
            <a:r>
              <a:rPr lang="en-US" altLang="ko-KR" sz="1400" b="1" dirty="0">
                <a:solidFill>
                  <a:srgbClr val="76767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combinations</a:t>
            </a:r>
            <a:r>
              <a:rPr lang="en-US" altLang="ko-KR" sz="1400" b="1" dirty="0">
                <a:solidFill>
                  <a:srgbClr val="767676"/>
                </a:solidFill>
              </a:rPr>
              <a:t>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878872A-EBD4-82F9-9458-83273C705F47}"/>
              </a:ext>
            </a:extLst>
          </p:cNvPr>
          <p:cNvSpPr/>
          <p:nvPr/>
        </p:nvSpPr>
        <p:spPr>
          <a:xfrm>
            <a:off x="7071744" y="5504887"/>
            <a:ext cx="4396779" cy="107814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1BA17F7-4416-24FD-393E-34606B32286F}"/>
              </a:ext>
            </a:extLst>
          </p:cNvPr>
          <p:cNvSpPr/>
          <p:nvPr/>
        </p:nvSpPr>
        <p:spPr>
          <a:xfrm>
            <a:off x="7071744" y="5504887"/>
            <a:ext cx="100361" cy="1078143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B855F4-CC6E-F4CC-7FF0-EEDACD60BBD5}"/>
                  </a:ext>
                </a:extLst>
              </p:cNvPr>
              <p:cNvSpPr txBox="1"/>
              <p:nvPr/>
            </p:nvSpPr>
            <p:spPr>
              <a:xfrm>
                <a:off x="7172105" y="5504887"/>
                <a:ext cx="2977376" cy="311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767676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 range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B855F4-CC6E-F4CC-7FF0-EEDACD60B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105" y="5504887"/>
                <a:ext cx="2977376" cy="311817"/>
              </a:xfrm>
              <a:prstGeom prst="rect">
                <a:avLst/>
              </a:prstGeom>
              <a:blipFill>
                <a:blip r:embed="rId8"/>
                <a:stretch>
                  <a:fillRect t="-3922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63CDA4B0-BCF5-BC08-203D-859E4F53B725}"/>
              </a:ext>
            </a:extLst>
          </p:cNvPr>
          <p:cNvSpPr txBox="1"/>
          <p:nvPr/>
        </p:nvSpPr>
        <p:spPr>
          <a:xfrm>
            <a:off x="7172104" y="5812664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2.9932 – 2.9987</a:t>
            </a:r>
            <a:endParaRPr lang="ko-KR" altLang="en-US" sz="2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28263F-AADC-61C0-720A-1552FBD3AB1B}"/>
              </a:ext>
            </a:extLst>
          </p:cNvPr>
          <p:cNvSpPr txBox="1"/>
          <p:nvPr/>
        </p:nvSpPr>
        <p:spPr>
          <a:xfrm>
            <a:off x="7172105" y="6290563"/>
            <a:ext cx="4296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Small variation among cases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093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D108A-DA1B-794A-0EC1-AA56AB2CF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7D761C7-CD1C-1542-29E5-09E3DDA5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Ranking: Optimized Layups vs. Benchmarks</a:t>
            </a:r>
            <a:endParaRPr lang="ko-KR" altLang="en-US" sz="4000" dirty="0"/>
          </a:p>
        </p:txBody>
      </p:sp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DBA7CAA0-F87B-9485-45FF-BA11C103B8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951279"/>
              </p:ext>
            </p:extLst>
          </p:nvPr>
        </p:nvGraphicFramePr>
        <p:xfrm>
          <a:off x="317571" y="1331383"/>
          <a:ext cx="6659893" cy="4195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72014016-6750-D74C-0829-680A2D60AF7E}"/>
              </a:ext>
            </a:extLst>
          </p:cNvPr>
          <p:cNvSpPr/>
          <p:nvPr/>
        </p:nvSpPr>
        <p:spPr>
          <a:xfrm>
            <a:off x="7114478" y="1499616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468348-60B2-E3AE-95E1-36E07CB4E7B6}"/>
              </a:ext>
            </a:extLst>
          </p:cNvPr>
          <p:cNvSpPr/>
          <p:nvPr/>
        </p:nvSpPr>
        <p:spPr>
          <a:xfrm>
            <a:off x="7114478" y="1499616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6B0FC4E-7940-D61F-A235-1D8210036AC8}"/>
              </a:ext>
            </a:extLst>
          </p:cNvPr>
          <p:cNvSpPr/>
          <p:nvPr/>
        </p:nvSpPr>
        <p:spPr>
          <a:xfrm>
            <a:off x="7114478" y="2845633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E635589-7106-4439-9A21-235B1C63AD3E}"/>
              </a:ext>
            </a:extLst>
          </p:cNvPr>
          <p:cNvSpPr/>
          <p:nvPr/>
        </p:nvSpPr>
        <p:spPr>
          <a:xfrm>
            <a:off x="7114478" y="2845633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E2861A-08EF-5296-79EC-E32E098984CF}"/>
              </a:ext>
            </a:extLst>
          </p:cNvPr>
          <p:cNvSpPr txBox="1"/>
          <p:nvPr/>
        </p:nvSpPr>
        <p:spPr>
          <a:xfrm>
            <a:off x="7214839" y="2845633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Improvement vs quasi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22B564-A296-D9B9-697D-9EDB48509FCF}"/>
              </a:ext>
            </a:extLst>
          </p:cNvPr>
          <p:cNvSpPr txBox="1"/>
          <p:nvPr/>
        </p:nvSpPr>
        <p:spPr>
          <a:xfrm>
            <a:off x="7214838" y="3153410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+31.31%</a:t>
            </a:r>
            <a:endParaRPr lang="ko-KR" altLang="en-US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15F764-0124-E796-2A6F-321FC448BCE2}"/>
              </a:ext>
            </a:extLst>
          </p:cNvPr>
          <p:cNvSpPr txBox="1"/>
          <p:nvPr/>
        </p:nvSpPr>
        <p:spPr>
          <a:xfrm>
            <a:off x="7214839" y="3631309"/>
            <a:ext cx="2977376" cy="311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15916.5 compare with 12344.8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C79EA5-54CB-0802-4994-A5ADC4525A53}"/>
              </a:ext>
            </a:extLst>
          </p:cNvPr>
          <p:cNvSpPr/>
          <p:nvPr/>
        </p:nvSpPr>
        <p:spPr>
          <a:xfrm>
            <a:off x="7114478" y="4191650"/>
            <a:ext cx="4396779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F7C66E-8586-1F44-BDAE-F7A49C630B69}"/>
              </a:ext>
            </a:extLst>
          </p:cNvPr>
          <p:cNvSpPr/>
          <p:nvPr/>
        </p:nvSpPr>
        <p:spPr>
          <a:xfrm>
            <a:off x="7114478" y="4191650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918665-F6C9-CCFD-30C4-2CFFA9C39234}"/>
                  </a:ext>
                </a:extLst>
              </p:cNvPr>
              <p:cNvSpPr txBox="1"/>
              <p:nvPr/>
            </p:nvSpPr>
            <p:spPr>
              <a:xfrm>
                <a:off x="7214839" y="1484306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Highest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𝒕𝒓</m:t>
                        </m:r>
                      </m:sub>
                    </m:sSub>
                  </m:oMath>
                </a14:m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0981FB3-1525-D8F5-AD81-596DCE6C8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39" y="1484306"/>
                <a:ext cx="2977376" cy="307777"/>
              </a:xfrm>
              <a:prstGeom prst="rect">
                <a:avLst/>
              </a:prstGeom>
              <a:blipFill>
                <a:blip r:embed="rId3"/>
                <a:stretch>
                  <a:fillRect l="-615"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C74BCE21-C69E-609C-9E49-C0EC3E7A4FF3}"/>
              </a:ext>
            </a:extLst>
          </p:cNvPr>
          <p:cNvSpPr txBox="1"/>
          <p:nvPr/>
        </p:nvSpPr>
        <p:spPr>
          <a:xfrm>
            <a:off x="7214838" y="1792083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Case 2: 2.998788</a:t>
            </a:r>
            <a:endParaRPr lang="ko-KR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84EDA1B-D776-004B-38A5-06DEF05A8EAB}"/>
                  </a:ext>
                </a:extLst>
              </p:cNvPr>
              <p:cNvSpPr txBox="1"/>
              <p:nvPr/>
            </p:nvSpPr>
            <p:spPr>
              <a:xfrm>
                <a:off x="7214839" y="2269982"/>
                <a:ext cx="29773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=44.13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4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4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400" b="1" dirty="0">
                    <a:solidFill>
                      <a:srgbClr val="767676"/>
                    </a:solidFill>
                  </a:rPr>
                  <a:t>=-49.42</a:t>
                </a:r>
                <a:r>
                  <a:rPr lang="en-US" altLang="ko-KR" sz="14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84EDA1B-D776-004B-38A5-06DEF05A8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839" y="2269982"/>
                <a:ext cx="2977376" cy="30777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B6869FF3-7C59-9E37-02DB-32DC37641E40}"/>
              </a:ext>
            </a:extLst>
          </p:cNvPr>
          <p:cNvSpPr txBox="1"/>
          <p:nvPr/>
        </p:nvSpPr>
        <p:spPr>
          <a:xfrm>
            <a:off x="7214838" y="4172300"/>
            <a:ext cx="297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Improvement vs Case 5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2882C5-BAC8-B907-C9EA-03EDEA0D9641}"/>
              </a:ext>
            </a:extLst>
          </p:cNvPr>
          <p:cNvSpPr txBox="1"/>
          <p:nvPr/>
        </p:nvSpPr>
        <p:spPr>
          <a:xfrm>
            <a:off x="7214837" y="4480077"/>
            <a:ext cx="41594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+3.3%</a:t>
            </a:r>
            <a:endParaRPr lang="ko-KR" altLang="en-US" sz="24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081A01-CE07-8E11-9638-B54D95D682D6}"/>
              </a:ext>
            </a:extLst>
          </p:cNvPr>
          <p:cNvSpPr txBox="1"/>
          <p:nvPr/>
        </p:nvSpPr>
        <p:spPr>
          <a:xfrm>
            <a:off x="7214838" y="4957976"/>
            <a:ext cx="34266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2.998788 compare with 2.902941 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DECEC9A-9984-DCD8-EA9A-A27A5DD9DD9D}"/>
              </a:ext>
            </a:extLst>
          </p:cNvPr>
          <p:cNvSpPr/>
          <p:nvPr/>
        </p:nvSpPr>
        <p:spPr>
          <a:xfrm>
            <a:off x="495300" y="5638800"/>
            <a:ext cx="11015957" cy="86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101010"/>
                </a:solidFill>
              </a:rPr>
              <a:t>All optimized layups cluster around 2.9, while [0/0] and [90/90] are much lower. Therefore, the main result is not only which case wins, but that the optimized ±θ angle family consistently outperforms the basic baselines.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1C827D9-302E-CEB7-C0A2-39F4EDEF69A3}"/>
              </a:ext>
            </a:extLst>
          </p:cNvPr>
          <p:cNvSpPr/>
          <p:nvPr/>
        </p:nvSpPr>
        <p:spPr>
          <a:xfrm>
            <a:off x="3325469" y="2163203"/>
            <a:ext cx="644095" cy="29037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64890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8082-9264-0B78-AEA4-9A93A5BB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The image is a contour plot showing a two-dimensional function, with values ranging from -80 to 80, and contour lines at intervals of 0.2, plotted against an angle (degrees).&#10;&#10;AI 생성 콘텐츠는 정확하지 않을 수 있습니다.">
            <a:extLst>
              <a:ext uri="{FF2B5EF4-FFF2-40B4-BE49-F238E27FC236}">
                <a16:creationId xmlns:a16="http://schemas.microsoft.com/office/drawing/2014/main" id="{05339FF6-90EB-5E1D-602C-51CB1853B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47" y="3501191"/>
            <a:ext cx="4368000" cy="3276000"/>
          </a:xfrm>
          <a:prstGeom prst="rect">
            <a:avLst/>
          </a:prstGeom>
        </p:spPr>
      </p:pic>
      <p:pic>
        <p:nvPicPr>
          <p:cNvPr id="8" name="그림 7" descr="The image is a contour plot illustrating a two-variable function, likely showing values ranging from -50 to 50, with contour lines at intervals such as 2.8, 3, 2.6, etc., and includes a scale for degrees.&#10;&#10;AI 생성 콘텐츠는 정확하지 않을 수 있습니다.">
            <a:extLst>
              <a:ext uri="{FF2B5EF4-FFF2-40B4-BE49-F238E27FC236}">
                <a16:creationId xmlns:a16="http://schemas.microsoft.com/office/drawing/2014/main" id="{DBDE7775-5B28-43BA-7E52-E53F22DCF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6257" y="1339446"/>
            <a:ext cx="2880000" cy="2160000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369DAEBD-E6F5-24A5-2C40-1C563554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Best</a:t>
            </a:r>
            <a:r>
              <a:rPr lang="ko-KR" altLang="en-US" sz="4000" dirty="0"/>
              <a:t> </a:t>
            </a:r>
            <a:r>
              <a:rPr lang="en-US" altLang="ko-KR" sz="4000" dirty="0"/>
              <a:t>Result</a:t>
            </a:r>
            <a:r>
              <a:rPr lang="ko-KR" altLang="en-US" sz="4000" dirty="0"/>
              <a:t> </a:t>
            </a:r>
            <a:r>
              <a:rPr lang="en-US" altLang="ko-KR" sz="4000" dirty="0"/>
              <a:t>:</a:t>
            </a:r>
            <a:r>
              <a:rPr lang="ko-KR" altLang="en-US" sz="4000" dirty="0"/>
              <a:t> </a:t>
            </a:r>
            <a:r>
              <a:rPr lang="en-US" altLang="ko-KR" sz="4000" dirty="0"/>
              <a:t>Case</a:t>
            </a:r>
            <a:r>
              <a:rPr lang="ko-KR" altLang="en-US" sz="4000" dirty="0"/>
              <a:t> </a:t>
            </a:r>
            <a:r>
              <a:rPr lang="en-US" altLang="ko-KR" sz="4000" dirty="0"/>
              <a:t>2</a:t>
            </a:r>
            <a:endParaRPr lang="ko-KR" altLang="en-US" sz="40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F2D19D-E1F6-5B3E-1797-86EE2D874D16}"/>
              </a:ext>
            </a:extLst>
          </p:cNvPr>
          <p:cNvSpPr/>
          <p:nvPr/>
        </p:nvSpPr>
        <p:spPr>
          <a:xfrm>
            <a:off x="241783" y="1366472"/>
            <a:ext cx="2753053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1564C6-219B-2B19-60E3-4D0DBD14BAD4}"/>
              </a:ext>
            </a:extLst>
          </p:cNvPr>
          <p:cNvSpPr/>
          <p:nvPr/>
        </p:nvSpPr>
        <p:spPr>
          <a:xfrm>
            <a:off x="241783" y="1366472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137231-BEE1-B82D-73E3-909EA94909F8}"/>
                  </a:ext>
                </a:extLst>
              </p:cNvPr>
              <p:cNvSpPr txBox="1"/>
              <p:nvPr/>
            </p:nvSpPr>
            <p:spPr>
              <a:xfrm>
                <a:off x="342144" y="1364616"/>
                <a:ext cx="2528282" cy="309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b="1" dirty="0">
                    <a:solidFill>
                      <a:srgbClr val="767676"/>
                    </a:solidFill>
                  </a:rPr>
                  <a:t>Best </a:t>
                </a:r>
                <a14:m>
                  <m:oMath xmlns:m="http://schemas.openxmlformats.org/officeDocument/2006/math">
                    <m:r>
                      <a:rPr lang="en-US" altLang="ko-KR" sz="1400" b="1" i="1" smtClean="0">
                        <a:solidFill>
                          <a:srgbClr val="767676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ko-KR" altLang="en-US" sz="14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137231-BEE1-B82D-73E3-909EA9490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44" y="1364616"/>
                <a:ext cx="2528282" cy="309634"/>
              </a:xfrm>
              <a:prstGeom prst="rect">
                <a:avLst/>
              </a:prstGeom>
              <a:blipFill>
                <a:blip r:embed="rId5"/>
                <a:stretch>
                  <a:fillRect l="-723" t="-392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D9EA9B58-9BB9-C9FD-4DCE-5426C5F2E3AC}"/>
              </a:ext>
            </a:extLst>
          </p:cNvPr>
          <p:cNvSpPr txBox="1"/>
          <p:nvPr/>
        </p:nvSpPr>
        <p:spPr>
          <a:xfrm>
            <a:off x="342143" y="1674249"/>
            <a:ext cx="252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2.988788</a:t>
            </a:r>
            <a:endParaRPr lang="ko-KR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70E53C55-EDE4-5D2A-DEB4-D53912B83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2194335"/>
                  </p:ext>
                </p:extLst>
              </p:nvPr>
            </p:nvGraphicFramePr>
            <p:xfrm>
              <a:off x="263053" y="2837563"/>
              <a:ext cx="7143390" cy="248555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381130">
                      <a:extLst>
                        <a:ext uri="{9D8B030D-6E8A-4147-A177-3AD203B41FA5}">
                          <a16:colId xmlns:a16="http://schemas.microsoft.com/office/drawing/2014/main" val="2898773673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2634655387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1709498389"/>
                        </a:ext>
                      </a:extLst>
                    </a:gridCol>
                  </a:tblGrid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sz="1100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smtClean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ko-KR" sz="1100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e>
                                  <m:sub>
                                    <m:r>
                                      <a:rPr lang="en-US" altLang="ko-KR" sz="11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𝒄𝒓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22575683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44.13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-49.42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2.998788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0256692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51.32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45.92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1" dirty="0"/>
                            <a:t>2.956361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881647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-46.72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63.91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2.927417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431621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-57.52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-49.42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2.925126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88452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70E53C55-EDE4-5D2A-DEB4-D53912B831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2194335"/>
                  </p:ext>
                </p:extLst>
              </p:nvPr>
            </p:nvGraphicFramePr>
            <p:xfrm>
              <a:off x="263053" y="2837563"/>
              <a:ext cx="7143390" cy="248555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381130">
                      <a:extLst>
                        <a:ext uri="{9D8B030D-6E8A-4147-A177-3AD203B41FA5}">
                          <a16:colId xmlns:a16="http://schemas.microsoft.com/office/drawing/2014/main" val="2898773673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2634655387"/>
                        </a:ext>
                      </a:extLst>
                    </a:gridCol>
                    <a:gridCol w="2381130">
                      <a:extLst>
                        <a:ext uri="{9D8B030D-6E8A-4147-A177-3AD203B41FA5}">
                          <a16:colId xmlns:a16="http://schemas.microsoft.com/office/drawing/2014/main" val="1709498389"/>
                        </a:ext>
                      </a:extLst>
                    </a:gridCol>
                  </a:tblGrid>
                  <a:tr h="49711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56" t="-1220" r="-201023" b="-4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513" t="-1220" r="-101538" b="-4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0000" t="-1220" r="-1279" b="-4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2575683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44.13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-49.42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2.998788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0256692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51.32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45.92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1" dirty="0"/>
                            <a:t>2.956361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7881647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-46.72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63.91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2.927417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431621"/>
                      </a:ext>
                    </a:extLst>
                  </a:tr>
                  <a:tr h="49711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-57.52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dirty="0"/>
                            <a:t>-49.42</a:t>
                          </a:r>
                          <a:endParaRPr lang="ko-KR" altLang="en-US" sz="11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100" b="1" dirty="0"/>
                            <a:t>2.925126</a:t>
                          </a:r>
                          <a:endParaRPr lang="ko-KR" altLang="en-US" sz="1100" b="1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788452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65828E5D-D3E4-2360-F233-19297C3A747F}"/>
              </a:ext>
            </a:extLst>
          </p:cNvPr>
          <p:cNvSpPr txBox="1"/>
          <p:nvPr/>
        </p:nvSpPr>
        <p:spPr>
          <a:xfrm>
            <a:off x="212873" y="2562677"/>
            <a:ext cx="2865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4B2E84"/>
                </a:solidFill>
              </a:rPr>
              <a:t>Top candidate list</a:t>
            </a:r>
            <a:endParaRPr lang="ko-KR" altLang="en-US" sz="1400" b="1" dirty="0">
              <a:solidFill>
                <a:srgbClr val="4B2E8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489911-868A-DADE-896B-71C8ACE80F43}"/>
                  </a:ext>
                </a:extLst>
              </p:cNvPr>
              <p:cNvSpPr txBox="1"/>
              <p:nvPr/>
            </p:nvSpPr>
            <p:spPr>
              <a:xfrm>
                <a:off x="342142" y="2067196"/>
                <a:ext cx="29773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800" b="1" dirty="0">
                    <a:solidFill>
                      <a:srgbClr val="767676"/>
                    </a:solidFill>
                  </a:rPr>
                  <a:t>=</a:t>
                </a:r>
                <a:r>
                  <a:rPr lang="en-US" altLang="ko-KR" b="1" dirty="0">
                    <a:solidFill>
                      <a:srgbClr val="767676"/>
                    </a:solidFill>
                  </a:rPr>
                  <a:t>44.13</a:t>
                </a:r>
                <a:r>
                  <a:rPr lang="en-US" altLang="ko-KR" sz="18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r>
                  <a:rPr lang="en-US" altLang="ko-KR" sz="1800" b="1" dirty="0">
                    <a:solidFill>
                      <a:srgbClr val="767676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8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b="1" i="1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ko-KR" sz="1800" b="1" i="1" smtClean="0">
                            <a:solidFill>
                              <a:srgbClr val="76767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ko-KR" sz="1800" b="1" dirty="0">
                    <a:solidFill>
                      <a:srgbClr val="767676"/>
                    </a:solidFill>
                  </a:rPr>
                  <a:t>=-</a:t>
                </a:r>
                <a:r>
                  <a:rPr lang="en-US" altLang="ko-KR" b="1" dirty="0">
                    <a:solidFill>
                      <a:srgbClr val="767676"/>
                    </a:solidFill>
                  </a:rPr>
                  <a:t>49.42</a:t>
                </a:r>
                <a:r>
                  <a:rPr lang="en-US" altLang="ko-KR" sz="1800" b="1" dirty="0">
                    <a:solidFill>
                      <a:srgbClr val="767676"/>
                    </a:solidFill>
                    <a:latin typeface="맑은 고딕" panose="020B0503020000020004" pitchFamily="50" charset="-127"/>
                  </a:rPr>
                  <a:t>º</a:t>
                </a:r>
                <a:endParaRPr lang="ko-KR" altLang="en-US" sz="1800" b="1" dirty="0">
                  <a:solidFill>
                    <a:srgbClr val="767676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489911-868A-DADE-896B-71C8ACE80F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42" y="2067196"/>
                <a:ext cx="2977376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직사각형 30">
            <a:extLst>
              <a:ext uri="{FF2B5EF4-FFF2-40B4-BE49-F238E27FC236}">
                <a16:creationId xmlns:a16="http://schemas.microsoft.com/office/drawing/2014/main" id="{018312D3-A652-9658-6CAB-EC8233763302}"/>
              </a:ext>
            </a:extLst>
          </p:cNvPr>
          <p:cNvSpPr/>
          <p:nvPr/>
        </p:nvSpPr>
        <p:spPr>
          <a:xfrm>
            <a:off x="3207867" y="1358385"/>
            <a:ext cx="2810183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B3D31BD-74D0-BB85-DDD7-35CC4D27688D}"/>
              </a:ext>
            </a:extLst>
          </p:cNvPr>
          <p:cNvSpPr/>
          <p:nvPr/>
        </p:nvSpPr>
        <p:spPr>
          <a:xfrm>
            <a:off x="3207867" y="1358385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BE050D-3160-2601-853C-F4B6C4EBEB8A}"/>
              </a:ext>
            </a:extLst>
          </p:cNvPr>
          <p:cNvSpPr txBox="1"/>
          <p:nvPr/>
        </p:nvSpPr>
        <p:spPr>
          <a:xfrm>
            <a:off x="3308228" y="1356529"/>
            <a:ext cx="2528282" cy="30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vs [0/0]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C38A5D-6CB6-561F-B803-FD36A668B597}"/>
              </a:ext>
            </a:extLst>
          </p:cNvPr>
          <p:cNvSpPr txBox="1"/>
          <p:nvPr/>
        </p:nvSpPr>
        <p:spPr>
          <a:xfrm>
            <a:off x="3308227" y="1666162"/>
            <a:ext cx="252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+199.88%</a:t>
            </a:r>
            <a:endParaRPr lang="ko-KR" altLang="en-US" sz="24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98C7D3-7976-AD28-67A5-35C1E738E174}"/>
              </a:ext>
            </a:extLst>
          </p:cNvPr>
          <p:cNvSpPr txBox="1"/>
          <p:nvPr/>
        </p:nvSpPr>
        <p:spPr>
          <a:xfrm>
            <a:off x="3308227" y="2097973"/>
            <a:ext cx="29773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rgbClr val="767676"/>
                </a:solidFill>
              </a:rPr>
              <a:t>2.99x higher than baseline</a:t>
            </a:r>
            <a:endParaRPr lang="ko-KR" altLang="en-US" sz="1600" b="1" dirty="0">
              <a:solidFill>
                <a:srgbClr val="767676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5816B25-B392-49BB-054B-5BA621188112}"/>
              </a:ext>
            </a:extLst>
          </p:cNvPr>
          <p:cNvSpPr/>
          <p:nvPr/>
        </p:nvSpPr>
        <p:spPr>
          <a:xfrm>
            <a:off x="6173951" y="1342069"/>
            <a:ext cx="3077736" cy="1078143"/>
          </a:xfrm>
          <a:prstGeom prst="rect">
            <a:avLst/>
          </a:prstGeom>
          <a:noFill/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8DA515B-4C03-927E-FC89-51A8889C7DD6}"/>
              </a:ext>
            </a:extLst>
          </p:cNvPr>
          <p:cNvSpPr/>
          <p:nvPr/>
        </p:nvSpPr>
        <p:spPr>
          <a:xfrm>
            <a:off x="6173951" y="1342069"/>
            <a:ext cx="100361" cy="1078143"/>
          </a:xfrm>
          <a:prstGeom prst="rect">
            <a:avLst/>
          </a:prstGeom>
          <a:solidFill>
            <a:srgbClr val="4B2E84"/>
          </a:solidFill>
          <a:ln>
            <a:solidFill>
              <a:srgbClr val="4B2E8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E6BA8D-7966-1291-637A-524657E81E06}"/>
              </a:ext>
            </a:extLst>
          </p:cNvPr>
          <p:cNvSpPr txBox="1"/>
          <p:nvPr/>
        </p:nvSpPr>
        <p:spPr>
          <a:xfrm>
            <a:off x="6274312" y="1340213"/>
            <a:ext cx="2528282" cy="309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vs Quasi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DF5FAD-E4AA-0AC4-43E0-672A601245D4}"/>
              </a:ext>
            </a:extLst>
          </p:cNvPr>
          <p:cNvSpPr txBox="1"/>
          <p:nvPr/>
        </p:nvSpPr>
        <p:spPr>
          <a:xfrm>
            <a:off x="6274311" y="1649846"/>
            <a:ext cx="2528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+31.31%</a:t>
            </a:r>
            <a:endParaRPr lang="ko-KR" altLang="en-US" sz="2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D95A55-22B0-C092-5B52-D7880B5D811B}"/>
              </a:ext>
            </a:extLst>
          </p:cNvPr>
          <p:cNvSpPr txBox="1"/>
          <p:nvPr/>
        </p:nvSpPr>
        <p:spPr>
          <a:xfrm>
            <a:off x="6274310" y="2081657"/>
            <a:ext cx="3421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767676"/>
                </a:solidFill>
              </a:rPr>
              <a:t>1.31x higher than quasi-isotropic</a:t>
            </a:r>
            <a:endParaRPr lang="ko-KR" altLang="en-US" sz="1400" b="1" dirty="0">
              <a:solidFill>
                <a:srgbClr val="76767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22624CD0-A471-3006-EEEC-E9ACB83ECF3B}"/>
                  </a:ext>
                </a:extLst>
              </p:cNvPr>
              <p:cNvSpPr/>
              <p:nvPr/>
            </p:nvSpPr>
            <p:spPr>
              <a:xfrm>
                <a:off x="263054" y="5638800"/>
                <a:ext cx="7143390" cy="86360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The high-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region occurs around ±45°-type asymmetric combinations, not near the [0/0] or [90/90] baselines.</a:t>
                </a:r>
              </a:p>
            </p:txBody>
          </p:sp>
        </mc:Choice>
        <mc:Fallback xmlns=""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22624CD0-A471-3006-EEEC-E9ACB83ECF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54" y="5638800"/>
                <a:ext cx="7143390" cy="8636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직사각형 8">
            <a:extLst>
              <a:ext uri="{FF2B5EF4-FFF2-40B4-BE49-F238E27FC236}">
                <a16:creationId xmlns:a16="http://schemas.microsoft.com/office/drawing/2014/main" id="{B54409BE-262A-A865-08CA-C9D8D798964E}"/>
              </a:ext>
            </a:extLst>
          </p:cNvPr>
          <p:cNvSpPr/>
          <p:nvPr/>
        </p:nvSpPr>
        <p:spPr>
          <a:xfrm>
            <a:off x="257327" y="3340798"/>
            <a:ext cx="7143390" cy="491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539889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422EBDE-970E-5D47-BEC2-D839FD10F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ko-KR" dirty="0"/>
                  <a:t>The plot for case 1 and 5 being different was due to symmetry of layup.</a:t>
                </a:r>
              </a:p>
              <a:p>
                <a:r>
                  <a:rPr lang="en-US" altLang="ko-KR" dirty="0"/>
                  <a:t>Both case 1 and 5 have same theta values to be highest buckling load. However, case 5 had slightly higher critical buckling load value.</a:t>
                </a:r>
              </a:p>
              <a:p>
                <a:r>
                  <a:rPr lang="en-US" altLang="ko-KR" dirty="0"/>
                  <a:t>Between case 2, 3, and 4, case 3 has highest transition load value.</a:t>
                </a:r>
              </a:p>
              <a:p>
                <a:r>
                  <a:rPr lang="en-US" altLang="ko-KR" dirty="0"/>
                  <a:t>Overall, Case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∓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∓</m:t>
                                </m:r>
                                <m:r>
                                  <a:rPr lang="ko-KR" alt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, has highest transition load while Case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ko-K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±</m:t>
                            </m:r>
                            <m:r>
                              <a:rPr lang="ko-KR" altLang="en-US" b="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ko-KR" b="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, has highest cost function value.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422EBDE-970E-5D47-BEC2-D839FD10F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3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1AB10A48-BE2D-C46B-6CB9-F9379659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4955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A8E37-2036-8E2D-5D6A-CE47AE52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View of Mount Rainier from UW today : r/Seattle">
            <a:extLst>
              <a:ext uri="{FF2B5EF4-FFF2-40B4-BE49-F238E27FC236}">
                <a16:creationId xmlns:a16="http://schemas.microsoft.com/office/drawing/2014/main" id="{1A96F10E-5831-0AEB-8959-9A3437AF8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4" r="-1" b="-1"/>
          <a:stretch>
            <a:fillRect/>
          </a:stretch>
        </p:blipFill>
        <p:spPr bwMode="auto"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EDDF7E27-9D32-B80F-682F-D07F6A46FB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20" b="28795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pic>
        <p:nvPicPr>
          <p:cNvPr id="2" name="Picture 2" descr="UW Homepage">
            <a:extLst>
              <a:ext uri="{FF2B5EF4-FFF2-40B4-BE49-F238E27FC236}">
                <a16:creationId xmlns:a16="http://schemas.microsoft.com/office/drawing/2014/main" id="{401453C8-3930-FE37-E963-9993AF05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11" y="5758795"/>
            <a:ext cx="1836828" cy="903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CD8C9BE7-BCCD-6FD6-216B-9589CEB5367C}"/>
              </a:ext>
            </a:extLst>
          </p:cNvPr>
          <p:cNvSpPr txBox="1">
            <a:spLocks/>
          </p:cNvSpPr>
          <p:nvPr/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Thank you!!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F7DD213-2E77-8C3B-2712-4F73BC56AA09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rgbClr val="767676"/>
                </a:solidFill>
              </a:rPr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7185380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01989B2C2506648ADB6B4DB1757A300" ma:contentTypeVersion="16" ma:contentTypeDescription="새 문서를 만듭니다." ma:contentTypeScope="" ma:versionID="fbb50aa3b2afb54b5ecfb6fb8a4356cd">
  <xsd:schema xmlns:xsd="http://www.w3.org/2001/XMLSchema" xmlns:xs="http://www.w3.org/2001/XMLSchema" xmlns:p="http://schemas.microsoft.com/office/2006/metadata/properties" xmlns:ns2="28cb597c-4272-4f78-b3ed-5407b0427306" xmlns:ns3="fae65177-c50d-4b9d-8753-751b956ab118" targetNamespace="http://schemas.microsoft.com/office/2006/metadata/properties" ma:root="true" ma:fieldsID="7d04c06c664db3785d513290ad855dae" ns2:_="" ns3:_="">
    <xsd:import namespace="28cb597c-4272-4f78-b3ed-5407b0427306"/>
    <xsd:import namespace="fae65177-c50d-4b9d-8753-751b956ab1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cb597c-4272-4f78-b3ed-5407b04273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c7e842fe-0370-40f7-9867-a914a261c5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e65177-c50d-4b9d-8753-751b956ab11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6c18853-826d-4f15-9bae-131896e049c8}" ma:internalName="TaxCatchAll" ma:showField="CatchAllData" ma:web="fae65177-c50d-4b9d-8753-751b956ab1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8cb597c-4272-4f78-b3ed-5407b0427306">
      <Terms xmlns="http://schemas.microsoft.com/office/infopath/2007/PartnerControls"/>
    </lcf76f155ced4ddcb4097134ff3c332f>
    <TaxCatchAll xmlns="fae65177-c50d-4b9d-8753-751b956ab118" xsi:nil="true"/>
  </documentManagement>
</p:properties>
</file>

<file path=customXml/itemProps1.xml><?xml version="1.0" encoding="utf-8"?>
<ds:datastoreItem xmlns:ds="http://schemas.openxmlformats.org/officeDocument/2006/customXml" ds:itemID="{D324CA16-E6AF-4438-B45E-4DBE5C886B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cb597c-4272-4f78-b3ed-5407b0427306"/>
    <ds:schemaRef ds:uri="fae65177-c50d-4b9d-8753-751b956ab1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6FB39F-AC51-4D1B-AB3C-14BAA1134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4B52F7-F5F5-40C6-9A72-068E4A412D0B}">
  <ds:schemaRefs>
    <ds:schemaRef ds:uri="fae65177-c50d-4b9d-8753-751b956ab118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  <ds:schemaRef ds:uri="http://schemas.microsoft.com/office/infopath/2007/PartnerControls"/>
    <ds:schemaRef ds:uri="28cb597c-4272-4f78-b3ed-5407b0427306"/>
    <ds:schemaRef ds:uri="http://www.w3.org/XML/1998/namespace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8709</TotalTime>
  <Words>2039</Words>
  <Application>Microsoft Office PowerPoint</Application>
  <PresentationFormat>와이드스크린</PresentationFormat>
  <Paragraphs>452</Paragraphs>
  <Slides>27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맑은 고딕</vt:lpstr>
      <vt:lpstr>Arial</vt:lpstr>
      <vt:lpstr>Cambria Math</vt:lpstr>
      <vt:lpstr>디자인 사용자 지정</vt:lpstr>
      <vt:lpstr>1_디자인 사용자 지정</vt:lpstr>
      <vt:lpstr>Double-Double laminates for improved impact and post-impact resistance</vt:lpstr>
      <vt:lpstr>Quasi-isotropic laminates</vt:lpstr>
      <vt:lpstr>Double-Double (DD) Laminates</vt:lpstr>
      <vt:lpstr>Impact and Compression After Impact</vt:lpstr>
      <vt:lpstr>Mechanics Problem</vt:lpstr>
      <vt:lpstr>DDand DD ̅ Orientations</vt:lpstr>
      <vt:lpstr>Buckling vs. Transition Loads</vt:lpstr>
      <vt:lpstr>Transition Loads</vt:lpstr>
      <vt:lpstr>Imperfection seeding</vt:lpstr>
      <vt:lpstr>Optimization workflow</vt:lpstr>
      <vt:lpstr>Type 1: Imperfection perfect</vt:lpstr>
      <vt:lpstr>Type 2: Imperfection imperfect - 1</vt:lpstr>
      <vt:lpstr>Type 3: Imperfection imperfect - 2</vt:lpstr>
      <vt:lpstr>Three different types and selection rule</vt:lpstr>
      <vt:lpstr>Result Overview: 5 Cases, 2 Surface Patterns</vt:lpstr>
      <vt:lpstr>Pattern I: Case 1 &amp; 5</vt:lpstr>
      <vt:lpstr>Pattern II: Case 2, 3 &amp; 4</vt:lpstr>
      <vt:lpstr>Ranking: Optimized Layups vs. Benchmarks</vt:lpstr>
      <vt:lpstr>Best Result : Case 3</vt:lpstr>
      <vt:lpstr>Cost function evaluation</vt:lpstr>
      <vt:lpstr>Result Overview: 5 Cases, 2 Surface Patterns</vt:lpstr>
      <vt:lpstr>Pattern I: Case 1 &amp; 5</vt:lpstr>
      <vt:lpstr>Pattern II: Case 2, 3 &amp; 4</vt:lpstr>
      <vt:lpstr>Ranking: Optimized Layups vs. Benchmarks</vt:lpstr>
      <vt:lpstr>Best Result : Case 2</vt:lpstr>
      <vt:lpstr>Result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jae in Yoo</dc:creator>
  <cp:lastModifiedBy>Dongwon Lee</cp:lastModifiedBy>
  <cp:revision>265</cp:revision>
  <cp:lastPrinted>2025-04-02T14:38:45Z</cp:lastPrinted>
  <dcterms:created xsi:type="dcterms:W3CDTF">2025-03-25T09:45:53Z</dcterms:created>
  <dcterms:modified xsi:type="dcterms:W3CDTF">2026-06-10T01:12:14Z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0x010100301989B2C2506648ADB6B4DB1757A300</vt:lpwstr>
  </property>
  <property fmtid="{D5CDD505-2E9C-101B-9397-08002B2CF9AE}" pid="3" name="MediaServiceImageTags">
    <vt:lpwstr/>
  </property>
</Properties>
</file>