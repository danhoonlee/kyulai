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  <p:sldMasterId id="2147483660" r:id="rId5"/>
  </p:sldMasterIdLst>
  <p:notesMasterIdLst>
    <p:notesMasterId r:id="rId27"/>
  </p:notesMasterIdLst>
  <p:sldIdLst>
    <p:sldId id="299" r:id="rId6"/>
    <p:sldId id="271" r:id="rId7"/>
    <p:sldId id="273" r:id="rId8"/>
    <p:sldId id="274" r:id="rId9"/>
    <p:sldId id="275" r:id="rId10"/>
    <p:sldId id="277" r:id="rId11"/>
    <p:sldId id="286" r:id="rId12"/>
    <p:sldId id="300" r:id="rId13"/>
    <p:sldId id="287" r:id="rId14"/>
    <p:sldId id="278" r:id="rId15"/>
    <p:sldId id="322" r:id="rId16"/>
    <p:sldId id="323" r:id="rId17"/>
    <p:sldId id="325" r:id="rId18"/>
    <p:sldId id="326" r:id="rId19"/>
    <p:sldId id="327" r:id="rId20"/>
    <p:sldId id="328" r:id="rId21"/>
    <p:sldId id="330" r:id="rId22"/>
    <p:sldId id="329" r:id="rId23"/>
    <p:sldId id="303" r:id="rId24"/>
    <p:sldId id="282" r:id="rId25"/>
    <p:sldId id="332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1D4C81-370D-70E5-91CF-571D739D0DB3}" name="강성천" initials="성강" userId="S::ddmlab@ddmlab.onmicrosoft.com::e03f6518-ebf4-47e1-bfe4-b76aae0ab1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676"/>
    <a:srgbClr val="CC9900"/>
    <a:srgbClr val="4B2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26" autoAdjust="0"/>
  </p:normalViewPr>
  <p:slideViewPr>
    <p:cSldViewPr snapToGrid="0">
      <p:cViewPr varScale="1">
        <p:scale>
          <a:sx n="70" d="100"/>
          <a:sy n="70" d="100"/>
        </p:scale>
        <p:origin x="4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성천" userId="e03f6518-ebf4-47e1-bfe4-b76aae0ab15f" providerId="ADAL" clId="{FA0CFEEF-D788-45EA-A594-FD0ED970E948}"/>
    <pc:docChg chg="modSld">
      <pc:chgData name="강성천" userId="e03f6518-ebf4-47e1-bfe4-b76aae0ab15f" providerId="ADAL" clId="{FA0CFEEF-D788-45EA-A594-FD0ED970E948}" dt="2025-05-13T06:28:24.002" v="37" actId="20577"/>
      <pc:docMkLst>
        <pc:docMk/>
      </pc:docMkLst>
      <pc:sldChg chg="modNotesTx">
        <pc:chgData name="강성천" userId="e03f6518-ebf4-47e1-bfe4-b76aae0ab15f" providerId="ADAL" clId="{FA0CFEEF-D788-45EA-A594-FD0ED970E948}" dt="2025-05-13T06:28:24.002" v="37" actId="20577"/>
        <pc:sldMkLst>
          <pc:docMk/>
          <pc:sldMk cId="3515061118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AD4DC-564C-44D9-8A88-6B48C57C3981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D0BF3-4B5B-407F-AA4D-670DA4B3F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57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27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87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[+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1</a:t>
                </a:r>
                <a:r>
                  <a:rPr lang="en-US" altLang="ko-KR" dirty="0"/>
                  <a:t>,-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_1</a:t>
                </a:r>
                <a:r>
                  <a:rPr lang="en-US" altLang="ko-KR" dirty="0"/>
                  <a:t>,+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_1</a:t>
                </a:r>
                <a:r>
                  <a:rPr lang="en-US" altLang="ko-KR" dirty="0"/>
                  <a:t>,-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_1</a:t>
                </a:r>
                <a:r>
                  <a:rPr lang="en-US" altLang="ko-KR" dirty="0"/>
                  <a:t>,+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2</a:t>
                </a:r>
                <a:r>
                  <a:rPr lang="en-US" altLang="ko-KR" dirty="0"/>
                  <a:t>,-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_2</a:t>
                </a:r>
                <a:r>
                  <a:rPr lang="en-US" altLang="ko-KR" dirty="0"/>
                  <a:t>,+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_2</a:t>
                </a:r>
                <a:r>
                  <a:rPr lang="en-US" altLang="ko-KR" dirty="0"/>
                  <a:t>,-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_2</a:t>
                </a:r>
                <a:r>
                  <a:rPr lang="en-US" altLang="ko-KR" dirty="0"/>
                  <a:t>]</a:t>
                </a:r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816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29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971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A4CD-2FE7-883E-D8CA-0F3D220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D0F95D-0D26-F45D-EE8B-57EF50211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6951C3DA-7E1F-2DF9-1BDB-0FA7DC298C0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6951C3DA-7E1F-2DF9-1BDB-0FA7DC298C0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b="1" dirty="0"/>
                  <a:t>Why “transition load” matters</a:t>
                </a:r>
                <a:br>
                  <a:rPr lang="en-US" altLang="ko-KR" dirty="0"/>
                </a:br>
                <a:r>
                  <a:rPr lang="en-US" altLang="ko-KR" dirty="0"/>
                  <a:t>“Real parts aren’t perfectly straight or flat. With an initial imperfection, the structure doesn’t suddenly snap at 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𝑐𝑟</a:t>
                </a:r>
                <a:r>
                  <a:rPr lang="ar-AE" altLang="ko-KR" dirty="0"/>
                  <a:t>; </a:t>
                </a:r>
                <a:r>
                  <a:rPr lang="en-US" altLang="ko-KR" dirty="0"/>
                  <a:t>it </a:t>
                </a:r>
                <a:r>
                  <a:rPr lang="en-US" altLang="ko-KR" i="1" dirty="0"/>
                  <a:t>gradually</a:t>
                </a:r>
                <a:r>
                  <a:rPr lang="en-US" altLang="ko-KR" dirty="0"/>
                  <a:t> moves into a buckled mode. The load at which that shift becomes dominant is the </a:t>
                </a:r>
                <a:r>
                  <a:rPr lang="en-US" altLang="ko-KR" b="1" dirty="0"/>
                  <a:t>transition load</a:t>
                </a:r>
                <a:r>
                  <a:rPr lang="en-US" altLang="ko-KR" dirty="0"/>
                  <a:t>. In design, this value often governs the </a:t>
                </a:r>
                <a:r>
                  <a:rPr lang="en-US" altLang="ko-KR" b="1" dirty="0"/>
                  <a:t>usable capacity</a:t>
                </a:r>
                <a:r>
                  <a:rPr lang="en-US" altLang="ko-KR" dirty="0"/>
                  <a:t> more than the theoretical 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𝑐𝑟</a:t>
                </a:r>
                <a:r>
                  <a:rPr lang="ar-AE" altLang="ko-KR" dirty="0"/>
                  <a:t>. </a:t>
                </a:r>
                <a:r>
                  <a:rPr lang="en-US" altLang="ko-KR" dirty="0"/>
                  <a:t>And importantly, a </a:t>
                </a:r>
                <a:r>
                  <a:rPr lang="en-US" altLang="ko-KR" b="1" dirty="0"/>
                  <a:t>bigger imperfection</a:t>
                </a:r>
                <a:r>
                  <a:rPr lang="en-US" altLang="ko-KR" dirty="0"/>
                  <a:t> means a </a:t>
                </a:r>
                <a:r>
                  <a:rPr lang="en-US" altLang="ko-KR" b="1" dirty="0"/>
                  <a:t>lower</a:t>
                </a:r>
                <a:r>
                  <a:rPr lang="en-US" altLang="ko-KR" dirty="0"/>
                  <a:t> transition load.”</a:t>
                </a:r>
              </a:p>
              <a:p>
                <a:endParaRPr lang="en-US" altLang="ko-KR" dirty="0"/>
              </a:p>
              <a:p>
                <a:r>
                  <a:rPr lang="en-US" altLang="ko-KR" b="1" dirty="0"/>
                  <a:t>Where bending loads come from</a:t>
                </a:r>
                <a:br>
                  <a:rPr lang="en-US" altLang="ko-KR" dirty="0"/>
                </a:br>
                <a:r>
                  <a:rPr lang="en-US" altLang="ko-KR" dirty="0"/>
                  <a:t>“Even if we intend pure in-plane loading, </a:t>
                </a:r>
                <a:r>
                  <a:rPr lang="en-US" altLang="ko-KR" b="1" dirty="0"/>
                  <a:t>bending</a:t>
                </a:r>
                <a:r>
                  <a:rPr lang="en-US" altLang="ko-KR" dirty="0"/>
                  <a:t> appears due to applied moments, </a:t>
                </a:r>
                <a:r>
                  <a:rPr lang="en-US" altLang="ko-KR" b="1" dirty="0"/>
                  <a:t>eccentric</a:t>
                </a:r>
                <a:r>
                  <a:rPr lang="en-US" altLang="ko-KR" dirty="0"/>
                  <a:t> load paths, or </a:t>
                </a:r>
                <a:r>
                  <a:rPr lang="en-US" altLang="ko-KR" b="1" dirty="0"/>
                  <a:t>thickness/geometry variations</a:t>
                </a:r>
                <a:r>
                  <a:rPr lang="en-US" altLang="ko-KR" dirty="0"/>
                  <a:t>—all common in manufacturing and assembly.”</a:t>
                </a:r>
              </a:p>
              <a:p>
                <a:endParaRPr lang="en-US" altLang="ko-KR" b="1" dirty="0"/>
              </a:p>
              <a:p>
                <a:r>
                  <a:rPr lang="en-US" altLang="ko-KR" b="1" dirty="0" err="1"/>
                  <a:t>Unsymmetry</a:t>
                </a:r>
                <a:r>
                  <a:rPr lang="en-US" altLang="ko-KR" b="1" dirty="0"/>
                  <a:t> ⇒ coupling</a:t>
                </a:r>
                <a:br>
                  <a:rPr lang="en-US" altLang="ko-KR" dirty="0"/>
                </a:br>
                <a:r>
                  <a:rPr lang="en-US" altLang="ko-KR" dirty="0"/>
                  <a:t>“If the laminate is </a:t>
                </a:r>
                <a:r>
                  <a:rPr lang="en-US" altLang="ko-KR" b="1" dirty="0"/>
                  <a:t>unsymmetric</a:t>
                </a:r>
                <a:r>
                  <a:rPr lang="en-US" altLang="ko-KR" dirty="0"/>
                  <a:t>, we get </a:t>
                </a:r>
                <a:r>
                  <a:rPr lang="en-US" altLang="ko-KR" b="1" dirty="0"/>
                  <a:t>membrane–bending coupling</a:t>
                </a:r>
                <a:r>
                  <a:rPr lang="en-US" altLang="ko-KR" dirty="0"/>
                  <a:t>. Physically: in-plane forces </a:t>
                </a:r>
                <a:r>
                  <a:rPr lang="ko-KR" alt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𝐍</a:t>
                </a:r>
                <a:r>
                  <a:rPr lang="en-US" altLang="ko-KR" sz="1200" b="1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US" altLang="ko-KR" dirty="0"/>
                  <a:t>induce curvature </a:t>
                </a:r>
                <a:r>
                  <a:rPr lang="ko-KR" alt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𝜿</a:t>
                </a:r>
                <a:r>
                  <a:rPr lang="en-US" altLang="ko-KR" dirty="0"/>
                  <a:t>; applied moments </a:t>
                </a:r>
                <a:r>
                  <a:rPr lang="ko-KR" alt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𝐌</a:t>
                </a:r>
                <a:r>
                  <a:rPr lang="en-US" altLang="ko-KR" sz="1200" b="1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US" altLang="ko-KR" dirty="0"/>
                  <a:t>induce mid-plane strains </a:t>
                </a:r>
                <a:r>
                  <a:rPr lang="ko-KR" alt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𝜺</a:t>
                </a:r>
                <a:r>
                  <a:rPr lang="ar-AE" altLang="ko-K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ar-AE" altLang="ko-K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ar-AE" altLang="ko-KR" dirty="0"/>
                  <a:t>. </a:t>
                </a:r>
                <a:r>
                  <a:rPr lang="en-US" altLang="ko-KR" dirty="0"/>
                  <a:t>Mathematically, that’s the </a:t>
                </a:r>
                <a:r>
                  <a:rPr lang="en-US" altLang="ko-KR" b="1" dirty="0"/>
                  <a:t>B-matrix</a:t>
                </a:r>
                <a:r>
                  <a:rPr lang="en-US" altLang="ko-KR" dirty="0"/>
                  <a:t> effect: with </a:t>
                </a:r>
                <a:r>
                  <a:rPr lang="ko-KR" alt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𝐁</a:t>
                </a:r>
                <a:r>
                  <a:rPr lang="en-US" altLang="ko-K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≠0</a:t>
                </a:r>
                <a:r>
                  <a:rPr lang="en-US" altLang="ko-KR" dirty="0"/>
                  <a:t>for unsymmetric stacks.”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859C42-685D-E861-B1A3-81AAE984D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018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Some layups are </a:t>
                </a:r>
                <a:r>
                  <a:rPr lang="en-US" altLang="ko-KR" b="1" dirty="0"/>
                  <a:t>unsymmetric</a:t>
                </a:r>
                <a:r>
                  <a:rPr lang="en-US" altLang="ko-KR" dirty="0"/>
                  <a:t>, so a simple linear </a:t>
                </a:r>
                <a:r>
                  <a:rPr lang="en-US" altLang="ko-KR" b="1" dirty="0"/>
                  <a:t>eigenvalue buckling</a:t>
                </a:r>
                <a:r>
                  <a:rPr lang="en-US" altLang="ko-KR" dirty="0"/>
                  <a:t> analysis can be </a:t>
                </a:r>
                <a:r>
                  <a:rPr lang="en-US" altLang="ko-KR" b="1" dirty="0"/>
                  <a:t>misleading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dirty="0"/>
                  <a:t>With membrane–bending coupling (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∗∗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𝐵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≠0∗∗</a:t>
                </a:r>
                <a:r>
                  <a:rPr lang="en-US" altLang="ko-KR" dirty="0"/>
                  <a:t>), the linear eigenvalue model tends to </a:t>
                </a:r>
                <a:r>
                  <a:rPr lang="en-US" altLang="ko-KR" b="1" dirty="0"/>
                  <a:t>over-predict the critical load</a:t>
                </a:r>
                <a:r>
                  <a:rPr lang="en-US" altLang="ko-KR" dirty="0"/>
                  <a:t> and can </a:t>
                </a:r>
                <a:r>
                  <a:rPr lang="en-US" altLang="ko-KR" b="1" dirty="0"/>
                  <a:t>miss the actual buckling path</a:t>
                </a:r>
                <a:r>
                  <a:rPr lang="en-US" altLang="ko-KR" dirty="0"/>
                  <a:t>. In practice, we introduce an </a:t>
                </a:r>
                <a:r>
                  <a:rPr lang="en-US" altLang="ko-KR" b="1" dirty="0"/>
                  <a:t>initial imperfection</a:t>
                </a:r>
                <a:r>
                  <a:rPr lang="en-US" altLang="ko-KR" dirty="0"/>
                  <a:t> and run a </a:t>
                </a:r>
                <a:r>
                  <a:rPr lang="en-US" altLang="ko-KR" b="1" dirty="0"/>
                  <a:t>nonlinear static</a:t>
                </a:r>
                <a:r>
                  <a:rPr lang="en-US" altLang="ko-KR" dirty="0"/>
                  <a:t> analysis to capture the real transition into buckling.</a:t>
                </a:r>
              </a:p>
              <a:p>
                <a:r>
                  <a:rPr lang="en-US" altLang="ko-KR" dirty="0"/>
                  <a:t>The workflow is:</a:t>
                </a:r>
              </a:p>
              <a:p>
                <a:r>
                  <a:rPr lang="en-US" altLang="ko-KR" dirty="0"/>
                  <a:t>Run a </a:t>
                </a:r>
                <a:r>
                  <a:rPr lang="en-US" altLang="ko-KR" b="1" dirty="0"/>
                  <a:t>linear buckling</a:t>
                </a:r>
                <a:r>
                  <a:rPr lang="en-US" altLang="ko-KR" dirty="0"/>
                  <a:t> analysis to obtain </a:t>
                </a:r>
                <a:r>
                  <a:rPr lang="en-US" altLang="ko-KR" b="1" dirty="0"/>
                  <a:t>mode shapes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b="1" dirty="0"/>
                  <a:t>Seed</a:t>
                </a:r>
                <a:r>
                  <a:rPr lang="en-US" altLang="ko-KR" dirty="0"/>
                  <a:t> the geometry with a scaled combination of those modes as the </a:t>
                </a:r>
                <a:r>
                  <a:rPr lang="en-US" altLang="ko-KR" b="1" dirty="0"/>
                  <a:t>initial imperfection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Perform a </a:t>
                </a:r>
                <a:r>
                  <a:rPr lang="en-US" altLang="ko-KR" b="1" dirty="0"/>
                  <a:t>nonlinear static</a:t>
                </a:r>
                <a:r>
                  <a:rPr lang="en-US" altLang="ko-KR" dirty="0"/>
                  <a:t> (e.g., Riks/arc-length) analysis and read off the </a:t>
                </a:r>
                <a:r>
                  <a:rPr lang="en-US" altLang="ko-KR" b="1" dirty="0"/>
                  <a:t>transition load 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altLang="ko-K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"transition</a:t>
                </a:r>
                <a:r>
                  <a:rPr lang="ar-AE" altLang="ko-K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US" altLang="ko-KR" dirty="0"/>
                  <a:t>from the load–deflection curve.</a:t>
                </a:r>
              </a:p>
              <a:p>
                <a:r>
                  <a:rPr lang="en-US" altLang="ko-KR" dirty="0"/>
                  <a:t>This approach reflects how imperfect structures actually behave: they ease into a buckled configuration, and the transition load—not the ideal 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𝑐𝑟</a:t>
                </a:r>
                <a:r>
                  <a:rPr lang="ar-AE" altLang="ko-KR" dirty="0"/>
                  <a:t>—</a:t>
                </a:r>
                <a:r>
                  <a:rPr lang="en-US" altLang="ko-KR" dirty="0"/>
                  <a:t>often governs usable capacity.”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The </a:t>
                </a:r>
                <a:r>
                  <a:rPr lang="en-US" altLang="ko-KR" b="1" dirty="0"/>
                  <a:t>lowest plate buckling modes</a:t>
                </a:r>
                <a:r>
                  <a:rPr lang="en-US" altLang="ko-KR" dirty="0"/>
                  <a:t> for common boundary conditions are sinusoidal, so it matches the </a:t>
                </a:r>
                <a:r>
                  <a:rPr lang="en-US" altLang="ko-KR" b="1" dirty="0"/>
                  <a:t>shape with the least energy</a:t>
                </a:r>
                <a:r>
                  <a:rPr lang="en-US" altLang="ko-KR" dirty="0"/>
                  <a:t> and what the eigenproblem predicts.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346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200" dirty="0"/>
                  <a:t>Given ply orientation, using python script, the </a:t>
                </a:r>
                <a:r>
                  <a:rPr lang="en-US" altLang="ko-KR" sz="1200" dirty="0" err="1"/>
                  <a:t>abaqus</a:t>
                </a:r>
                <a:r>
                  <a:rPr lang="en-US" altLang="ko-KR" sz="1200" dirty="0"/>
                  <a:t> will run the buckling/imperfection analysis.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200" dirty="0"/>
                  <a:t>From either .</a:t>
                </a:r>
                <a:r>
                  <a:rPr lang="en-US" altLang="ko-KR" sz="1200" dirty="0" err="1"/>
                  <a:t>dat</a:t>
                </a:r>
                <a:r>
                  <a:rPr lang="en-US" altLang="ko-KR" sz="1200" dirty="0"/>
                  <a:t> or .</a:t>
                </a:r>
                <a:r>
                  <a:rPr lang="en-US" altLang="ko-KR" sz="1200" dirty="0" err="1"/>
                  <a:t>odb</a:t>
                </a:r>
                <a:r>
                  <a:rPr lang="en-US" altLang="ko-KR" sz="1200" dirty="0"/>
                  <a:t> file, </a:t>
                </a:r>
                <a:r>
                  <a:rPr lang="en-US" altLang="ko-KR" sz="1200" b="1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𝑷_𝒄𝒓</a:t>
                </a:r>
                <a:r>
                  <a:rPr lang="en-US" altLang="ko-KR" sz="1200" dirty="0"/>
                  <a:t> can be obtained.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200" dirty="0"/>
                  <a:t>After 200 runs, we will see which orientation will have highest value.</a:t>
                </a:r>
                <a:endParaRPr lang="ko-KR" altLang="en-US" sz="1200" dirty="0"/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2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A0FF-83EC-663C-F86E-B0B58DFE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58B63-FEA9-7AD3-A473-5DEF0CFF0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B95AFE-05D2-48C0-4809-4D7A6223B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1FDA6-6764-A709-C422-6F072C39C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36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9E2C-1C00-B705-7C51-C6BE35DA2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9395AE-1D49-88F4-8B56-C09AC53F8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0F98CE-0F7E-24B6-96B5-5BB2C99CB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8BDAA2-80E2-CD21-550B-0C5167730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139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A7AA3-0C0F-A137-DC32-E34E187A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199915-A37F-5B6C-4102-71E6EF8D3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841305-52E4-053A-CEB3-02DF4471A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992BB-6E9B-B77E-56FE-54515BC2C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378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880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993DD-EA2F-60B5-D23A-69876F49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52DFF5-C41E-8CDB-6EEE-AD25E60A2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465647-7029-875B-2926-C106F874B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4CE9A2-05F2-A4A8-6F80-741465D86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42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7EF31-1E7E-E761-7982-8428B3E23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4F0CA1-5C06-36F3-4FC3-48D53DEB9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55358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9E1A1-CC56-C290-8321-055CA07B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06F433-7C77-8F71-882E-F1E6E62A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73" y="409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F7169D-2764-6938-2E44-0E87C65F0DEE}"/>
              </a:ext>
            </a:extLst>
          </p:cNvPr>
          <p:cNvSpPr/>
          <p:nvPr userDrawn="1"/>
        </p:nvSpPr>
        <p:spPr>
          <a:xfrm>
            <a:off x="0" y="1028137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rgbClr val="4B2E84"/>
              </a:gs>
              <a:gs pos="83000">
                <a:srgbClr val="4B2E84"/>
              </a:gs>
              <a:gs pos="100000">
                <a:srgbClr val="4B2E8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2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1E2D3-6CB5-0A57-16ED-00A2A7443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FFC7BA-6D7D-9FC7-6423-E488B0570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00906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16F52-61DD-B66E-AAB4-D4FF91B8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6F43C-587B-D48A-1060-2DBBBEDF0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06303-D60E-D9FB-4DA8-BF53F830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83A119-0649-9049-A330-5797E69F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ACD7E1-E6A5-0BDC-1A99-F459A7C1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7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940F5-EF16-F343-4728-6B6D9C526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EC1735-C9E1-E9AE-6F04-7830A8D5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0378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3D5D6-77BD-87F9-9B37-60C6D750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3DAFC7-0A41-4BA8-7ADD-AD3E1D18D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89B794-603A-FDC8-2583-297EF1F7A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2FAFCC-AC0D-E37D-387E-C02D845F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16497C-A9D4-00CB-2114-2851D5D5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417AED-A7EC-2097-DFA0-BC208781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97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AC7D4-3384-3FBD-4CDC-228F1B06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AB47B4-ADEB-DD9E-460D-379B6B0A4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B7C628-2B45-77A7-61AE-F885D6C65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C989CE-23FF-F989-4E36-EF9F9FE04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007EDF-4B26-82AA-D30D-F83225FD2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7DC338-DDF6-358A-87BF-5FDFA401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56BF46-AA0F-9D5B-B0AA-554944A37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0751FD-327C-19FC-3FA7-85A2C786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939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ACCE7-4F34-2ECC-04F2-FA446869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4EC6C4-9CE4-63D5-82F1-434EF46A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6BF7A7-3B37-5B7E-99C4-4E54BC9C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693DED-6E6F-1801-E917-2EB4006AC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83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947696-D803-F4C6-471C-1AE256CD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0EC711-5AC8-BC73-D0EB-57D03059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21011-FB80-9F77-9098-13A906CE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13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5CF89-5997-8F84-3830-186B5A82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7BAD99-B85F-F4D4-EF9E-EDEB2DB47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328D6D-5181-9F6C-CCF4-D033A242A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2DD21-3395-FD30-A0CC-5A4E48BB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4D97D9-F899-0ECF-E153-4DF29C9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80BA4-5D9B-7A68-CF18-5D791783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2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7AE4E-94DE-A411-963A-3A51E9AB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58AC6A-709E-313D-2DB0-99B8FBA04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4F1D1E-136D-BD5B-31F4-AE5B50EB2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F311BF-FD17-09F7-163B-96656414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4ABF66-2070-EBDC-AFF8-0879E8D07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79F7A-C37A-1519-7277-217E2B255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235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16BEC-D232-4B79-4E8A-7FFBF77A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809D1D-B771-6EA9-BDA2-3BD4762F4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F14D9-B3C0-CF01-20AB-7FCA3242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977234-0064-AEE4-578A-A2FA4E17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68DE5-6DD6-1DEE-F1E1-18F33076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178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B6D51A-06FE-A3CD-6049-9618E7A28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9E49E6-31C6-EA92-D010-EE98F4B12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E24569-4144-3992-C720-EC5CD920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D2A64-7CAB-A483-5CCC-4624260B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96D37-671C-93F1-589A-B13B007B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85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FB1C08-F769-6F55-6E68-93CC0E39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73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CFD521-5D24-95D7-F576-99940F3D7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8908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8157C4-6E54-7A8D-BC8F-ED982BB8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D72E22-EEB3-F943-A7BB-FED982E2A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0CD7C-C1C4-A576-9E6E-AA6025800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79D21-5E37-47DF-B842-B2476AA22663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F771D8-F877-41DE-5376-7E19500C2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A60DD2-E944-F9A6-D477-BF3EA6471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4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1.png"/><Relationship Id="rId7" Type="http://schemas.openxmlformats.org/officeDocument/2006/relationships/image" Target="../media/image1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4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image" Target="../media/image41.png"/><Relationship Id="rId4" Type="http://schemas.openxmlformats.org/officeDocument/2006/relationships/image" Target="../media/image3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ABA5D97-D08D-60EA-4D05-4C64EC549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7" b="27891"/>
          <a:stretch>
            <a:fillRect/>
          </a:stretch>
        </p:blipFill>
        <p:spPr>
          <a:xfrm>
            <a:off x="5279636" y="261841"/>
            <a:ext cx="6912365" cy="2951039"/>
          </a:xfrm>
          <a:prstGeom prst="rect">
            <a:avLst/>
          </a:prstGeom>
        </p:spPr>
      </p:pic>
      <p:pic>
        <p:nvPicPr>
          <p:cNvPr id="1028" name="Picture 4" descr="When will the University of Washington's famous cherry blossoms bloom this  year?">
            <a:extLst>
              <a:ext uri="{FF2B5EF4-FFF2-40B4-BE49-F238E27FC236}">
                <a16:creationId xmlns:a16="http://schemas.microsoft.com/office/drawing/2014/main" id="{D9E49C57-2AB4-878C-1A61-BBBB4575C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" r="4077" b="-1"/>
          <a:stretch>
            <a:fillRect/>
          </a:stretch>
        </p:blipFill>
        <p:spPr bwMode="auto">
          <a:xfrm>
            <a:off x="4633120" y="3474720"/>
            <a:ext cx="7555832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5" name="Freeform: Shape 1034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4272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제목 21">
            <a:extLst>
              <a:ext uri="{FF2B5EF4-FFF2-40B4-BE49-F238E27FC236}">
                <a16:creationId xmlns:a16="http://schemas.microsoft.com/office/drawing/2014/main" id="{FEAE1D40-5C2C-A2A2-0659-730D71615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743" y="609600"/>
            <a:ext cx="4775200" cy="3877197"/>
          </a:xfrm>
        </p:spPr>
        <p:txBody>
          <a:bodyPr>
            <a:normAutofit/>
          </a:bodyPr>
          <a:lstStyle/>
          <a:p>
            <a:pPr algn="l"/>
            <a: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  <a:t>Double-Double laminates</a:t>
            </a:r>
            <a:b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  <a:t>for improved impact and</a:t>
            </a:r>
            <a:b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  <a:t>post-impact resistance</a:t>
            </a:r>
            <a:endParaRPr lang="ko-KR" altLang="en-US" sz="4400" dirty="0"/>
          </a:p>
        </p:txBody>
      </p:sp>
      <p:pic>
        <p:nvPicPr>
          <p:cNvPr id="2" name="Picture 2" descr="UW Homepage">
            <a:extLst>
              <a:ext uri="{FF2B5EF4-FFF2-40B4-BE49-F238E27FC236}">
                <a16:creationId xmlns:a16="http://schemas.microsoft.com/office/drawing/2014/main" id="{4628C0C6-CD39-309D-B371-4A65AB94F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11" y="5758795"/>
            <a:ext cx="1836828" cy="90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C997F2-C702-CF6E-FCAE-3DED2AA1DE28}"/>
              </a:ext>
            </a:extLst>
          </p:cNvPr>
          <p:cNvSpPr txBox="1"/>
          <p:nvPr/>
        </p:nvSpPr>
        <p:spPr>
          <a:xfrm>
            <a:off x="2949690" y="5602069"/>
            <a:ext cx="381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Dongwon Lee</a:t>
            </a:r>
          </a:p>
          <a:p>
            <a:r>
              <a:rPr lang="en-US" altLang="ko-KR" b="1" dirty="0"/>
              <a:t>Avin Vijay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9627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0DC2E3-E86E-89EF-017C-94A16007C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256" y="13664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What is quasi-isotropic laminates?</a:t>
            </a:r>
          </a:p>
          <a:p>
            <a:r>
              <a:rPr lang="en-US" altLang="ko-KR" dirty="0"/>
              <a:t>Quasi-isotropic</a:t>
            </a:r>
          </a:p>
          <a:p>
            <a:pPr lvl="1"/>
            <a:r>
              <a:rPr lang="en-US" altLang="ko-KR" dirty="0"/>
              <a:t>Quasi means “almost” and Isotropic means that material that behaves the same in all direction.</a:t>
            </a:r>
          </a:p>
          <a:p>
            <a:r>
              <a:rPr lang="en-US" altLang="ko-KR" dirty="0"/>
              <a:t>Why do we need Quasi-isotropic?</a:t>
            </a:r>
          </a:p>
          <a:p>
            <a:r>
              <a:rPr lang="en-US" altLang="ko-KR" dirty="0"/>
              <a:t>Design</a:t>
            </a:r>
          </a:p>
          <a:p>
            <a:pPr lvl="1"/>
            <a:r>
              <a:rPr lang="en-US" altLang="ko-KR" dirty="0"/>
              <a:t>Only using 0, 45, -45, 90 orientation</a:t>
            </a:r>
          </a:p>
          <a:p>
            <a:pPr lvl="1"/>
            <a:r>
              <a:rPr lang="en-US" altLang="ko-KR" dirty="0"/>
              <a:t>Lacking rational basis– extension of </a:t>
            </a:r>
            <a:br>
              <a:rPr lang="en-US" altLang="ko-KR" dirty="0"/>
            </a:br>
            <a:r>
              <a:rPr lang="en-US" altLang="ko-KR" dirty="0"/>
              <a:t>isotropic mechanics</a:t>
            </a:r>
          </a:p>
          <a:p>
            <a:pPr lvl="1"/>
            <a:r>
              <a:rPr lang="en-US" altLang="ko-KR" dirty="0"/>
              <a:t>Weight penalty</a:t>
            </a:r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B3B48F-DE3F-0D6F-FD4E-DD4FA83BC7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06798"/>
            <a:ext cx="2743200" cy="365125"/>
          </a:xfrm>
          <a:prstGeom prst="rect">
            <a:avLst/>
          </a:prstGeom>
        </p:spPr>
        <p:txBody>
          <a:bodyPr/>
          <a:lstStyle/>
          <a:p>
            <a:fld id="{BBDFE14B-399F-4B83-805C-1AF6020E3E4E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F98AE1-1024-B3E4-BA09-04F3B9F6F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Quasi-isotropic laminates</a:t>
            </a:r>
            <a:endParaRPr lang="ko-KR" altLang="en-US" dirty="0"/>
          </a:p>
        </p:txBody>
      </p:sp>
      <p:pic>
        <p:nvPicPr>
          <p:cNvPr id="7" name="Picture 2" descr="LeoLau2024">
            <a:extLst>
              <a:ext uri="{FF2B5EF4-FFF2-40B4-BE49-F238E27FC236}">
                <a16:creationId xmlns:a16="http://schemas.microsoft.com/office/drawing/2014/main" id="{57A0637B-D51A-0BB2-3AE0-F65876E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27" y="2908453"/>
            <a:ext cx="3894974" cy="326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45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6B627AB-A861-1F68-300C-20B5B4853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047" y="1366472"/>
            <a:ext cx="9840213" cy="821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What are double-double laminates and its benefits?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49812E-2C78-D8C7-60AD-1A598E6D081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06798"/>
            <a:ext cx="2743200" cy="365125"/>
          </a:xfrm>
          <a:prstGeom prst="rect">
            <a:avLst/>
          </a:prstGeom>
        </p:spPr>
        <p:txBody>
          <a:bodyPr/>
          <a:lstStyle/>
          <a:p>
            <a:fld id="{BBDFE14B-399F-4B83-805C-1AF6020E3E4E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6929177-9381-DCDD-6465-C10C5F5BB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Double-Double (DD) Laminates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D085FF-1933-04E7-2DBF-657755CD0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484" y="2561418"/>
            <a:ext cx="5015306" cy="2320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1">
                <a:extLst>
                  <a:ext uri="{FF2B5EF4-FFF2-40B4-BE49-F238E27FC236}">
                    <a16:creationId xmlns:a16="http://schemas.microsoft.com/office/drawing/2014/main" id="{1547BBDC-D288-009F-C7FD-746CEC9A0A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9047" y="2055460"/>
                <a:ext cx="5858523" cy="4136996"/>
              </a:xfrm>
              <a:prstGeom prst="rect">
                <a:avLst/>
              </a:prstGeom>
              <a:solidFill>
                <a:schemeClr val="accent5">
                  <a:lumMod val="75000"/>
                  <a:alpha val="20000"/>
                </a:schemeClr>
              </a:solidFill>
              <a:ln w="19050">
                <a:solidFill>
                  <a:srgbClr val="FFC000"/>
                </a:solidFill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ko-KR" dirty="0"/>
                  <a:t>Double-double laminates have</a:t>
                </a:r>
              </a:p>
              <a:p>
                <a:pPr lvl="1"/>
                <a:r>
                  <a:rPr lang="en-US" altLang="ko-KR" dirty="0"/>
                  <a:t>Most general orientation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Can have other permutations or symmetry</a:t>
                </a:r>
              </a:p>
              <a:p>
                <a:pPr lvl="1"/>
                <a:r>
                  <a:rPr lang="en-US" altLang="ko-KR" dirty="0"/>
                  <a:t>No need to </a:t>
                </a:r>
                <a:r>
                  <a:rPr lang="en-US" altLang="ko-KR" b="1" dirty="0"/>
                  <a:t>enforce</a:t>
                </a:r>
                <a:r>
                  <a:rPr lang="en-US" altLang="ko-KR" dirty="0"/>
                  <a:t> mid-plane symmetry</a:t>
                </a:r>
              </a:p>
              <a:p>
                <a:pPr lvl="1"/>
                <a:r>
                  <a:rPr lang="en-US" altLang="ko-KR" dirty="0"/>
                  <a:t>Homogeneous</a:t>
                </a:r>
              </a:p>
              <a:p>
                <a:pPr lvl="1"/>
                <a:r>
                  <a:rPr lang="en-US" altLang="ko-KR" dirty="0"/>
                  <a:t>Balanced and minimal [D]</a:t>
                </a:r>
              </a:p>
              <a:p>
                <a:pPr lvl="1"/>
                <a:r>
                  <a:rPr lang="en-US" altLang="ko-KR" dirty="0"/>
                  <a:t>Efficient manufacturing</a:t>
                </a:r>
              </a:p>
              <a:p>
                <a:pPr lvl="1"/>
                <a:r>
                  <a:rPr lang="en-US" altLang="ko-KR" dirty="0"/>
                  <a:t>Easy to rework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1">
                <a:extLst>
                  <a:ext uri="{FF2B5EF4-FFF2-40B4-BE49-F238E27FC236}">
                    <a16:creationId xmlns:a16="http://schemas.microsoft.com/office/drawing/2014/main" id="{1547BBDC-D288-009F-C7FD-746CEC9A0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47" y="2055460"/>
                <a:ext cx="5858523" cy="4136996"/>
              </a:xfrm>
              <a:prstGeom prst="rect">
                <a:avLst/>
              </a:prstGeom>
              <a:blipFill>
                <a:blip r:embed="rId4"/>
                <a:stretch>
                  <a:fillRect l="-1971" t="-3372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00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8DB18D-487C-4867-4803-E754C7397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24" y="1253331"/>
            <a:ext cx="7436388" cy="4351338"/>
          </a:xfrm>
        </p:spPr>
        <p:txBody>
          <a:bodyPr/>
          <a:lstStyle/>
          <a:p>
            <a:r>
              <a:rPr lang="en-US" altLang="ko-KR" dirty="0"/>
              <a:t>Low velocity impact/ BVID- typical to occur in service like tool drops.</a:t>
            </a:r>
          </a:p>
          <a:p>
            <a:r>
              <a:rPr lang="en-US" altLang="ko-KR" dirty="0"/>
              <a:t>The CAI test simulates real-world damage scenarios that could occur in service.</a:t>
            </a:r>
          </a:p>
          <a:p>
            <a:r>
              <a:rPr lang="en-US" altLang="ko-KR" dirty="0"/>
              <a:t>The goal is to evaluate how much compressive load a composite laminate can carry after sustaining such damage</a:t>
            </a:r>
          </a:p>
          <a:p>
            <a:r>
              <a:rPr lang="en-US" altLang="ko-KR" dirty="0"/>
              <a:t>Two stages</a:t>
            </a:r>
          </a:p>
          <a:p>
            <a:pPr lvl="1"/>
            <a:r>
              <a:rPr lang="en-US" altLang="ko-KR" dirty="0"/>
              <a:t>Impact stage</a:t>
            </a:r>
          </a:p>
          <a:p>
            <a:pPr lvl="1"/>
            <a:r>
              <a:rPr lang="en-US" altLang="ko-KR" dirty="0"/>
              <a:t>Compression stage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286A42-7295-726E-8655-D1CB97AB94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06798"/>
            <a:ext cx="2743200" cy="365125"/>
          </a:xfrm>
          <a:prstGeom prst="rect">
            <a:avLst/>
          </a:prstGeom>
        </p:spPr>
        <p:txBody>
          <a:bodyPr/>
          <a:lstStyle/>
          <a:p>
            <a:fld id="{BBDFE14B-399F-4B83-805C-1AF6020E3E4E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0C94B2A-D7EE-51CE-4F05-E14F29EF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Impact and Compression After Impact</a:t>
            </a:r>
            <a:endParaRPr lang="ko-KR" altLang="en-US" dirty="0"/>
          </a:p>
        </p:txBody>
      </p:sp>
      <p:pic>
        <p:nvPicPr>
          <p:cNvPr id="6" name="Picture 2" descr="IMG_3107">
            <a:extLst>
              <a:ext uri="{FF2B5EF4-FFF2-40B4-BE49-F238E27FC236}">
                <a16:creationId xmlns:a16="http://schemas.microsoft.com/office/drawing/2014/main" id="{F5CD1AC4-7870-9557-3C43-B6D80E5CB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051" y="3093060"/>
            <a:ext cx="4036131" cy="269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Low-Velocity Impact Resistance and Compression After Impact Strength of  Thermoplastic Nanofiber Toughened Carbon/Epoxy Composites with Different  Layups">
            <a:extLst>
              <a:ext uri="{FF2B5EF4-FFF2-40B4-BE49-F238E27FC236}">
                <a16:creationId xmlns:a16="http://schemas.microsoft.com/office/drawing/2014/main" id="{4EEEE7A2-B98D-D7F5-FC4A-09A619662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307" y="1253331"/>
            <a:ext cx="3399120" cy="173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19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BD96309-FD00-445A-8671-0CFB7212A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383" y="1253331"/>
            <a:ext cx="562710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A flat, rectangle panel</a:t>
            </a:r>
          </a:p>
          <a:p>
            <a:pPr lvl="1"/>
            <a:r>
              <a:rPr lang="en-US" altLang="ko-KR" dirty="0"/>
              <a:t>6 in x 4 in</a:t>
            </a:r>
          </a:p>
          <a:p>
            <a:r>
              <a:rPr lang="en-US" altLang="ko-KR" dirty="0"/>
              <a:t>Simply supported on lateral edges</a:t>
            </a:r>
          </a:p>
          <a:p>
            <a:r>
              <a:rPr lang="en-US" altLang="ko-KR" dirty="0"/>
              <a:t>Clamped at x=0,a</a:t>
            </a:r>
          </a:p>
          <a:p>
            <a:r>
              <a:rPr lang="en-US" altLang="ko-KR" dirty="0"/>
              <a:t>Load applied from x=a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Material Properties</a:t>
            </a:r>
          </a:p>
          <a:p>
            <a:r>
              <a:rPr lang="en-US" dirty="0"/>
              <a:t>Toray T800/3900S </a:t>
            </a:r>
          </a:p>
          <a:p>
            <a:r>
              <a:rPr lang="en-US" dirty="0"/>
              <a:t>Each lamina will have thickness of 0.0075 in</a:t>
            </a:r>
          </a:p>
          <a:p>
            <a:pPr marL="0" indent="0">
              <a:buNone/>
            </a:pP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073ADF-6EE5-C2E0-E141-595EDA75E4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06798"/>
            <a:ext cx="2743200" cy="365125"/>
          </a:xfrm>
          <a:prstGeom prst="rect">
            <a:avLst/>
          </a:prstGeom>
        </p:spPr>
        <p:txBody>
          <a:bodyPr/>
          <a:lstStyle/>
          <a:p>
            <a:fld id="{BBDFE14B-399F-4B83-805C-1AF6020E3E4E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C9B8AD8-C1A5-FD2B-1B9E-A4871325D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Mechanics Problem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479AB1-4795-720B-3680-EFA57BC795CF}"/>
              </a:ext>
            </a:extLst>
          </p:cNvPr>
          <p:cNvGrpSpPr/>
          <p:nvPr/>
        </p:nvGrpSpPr>
        <p:grpSpPr>
          <a:xfrm>
            <a:off x="6906995" y="1353552"/>
            <a:ext cx="5052774" cy="3633464"/>
            <a:chOff x="6651254" y="882331"/>
            <a:chExt cx="6178403" cy="42056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D0EC562-3F00-AE5E-4DE1-2B924693B6EE}"/>
                    </a:ext>
                  </a:extLst>
                </p:cNvPr>
                <p:cNvSpPr txBox="1"/>
                <p:nvPr/>
              </p:nvSpPr>
              <p:spPr>
                <a:xfrm>
                  <a:off x="12213157" y="4183672"/>
                  <a:ext cx="616500" cy="42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dirty="0">
                      <a:solidFill>
                        <a:srgbClr val="0033CC"/>
                      </a:solidFill>
                    </a:rPr>
                    <a:t>u</a:t>
                  </a:r>
                  <a:endParaRPr lang="ko-KR" altLang="en-US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D0EC562-3F00-AE5E-4DE1-2B924693B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3157" y="4183672"/>
                  <a:ext cx="616500" cy="427492"/>
                </a:xfrm>
                <a:prstGeom prst="rect">
                  <a:avLst/>
                </a:prstGeom>
                <a:blipFill>
                  <a:blip r:embed="rId2"/>
                  <a:stretch>
                    <a:fillRect t="-9836" r="-8434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CA298D5-9044-362C-8A26-C2DE9D2C64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3126" y="4226259"/>
              <a:ext cx="461858" cy="482280"/>
            </a:xfrm>
            <a:prstGeom prst="line">
              <a:avLst/>
            </a:prstGeom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정육면체 9">
              <a:extLst>
                <a:ext uri="{FF2B5EF4-FFF2-40B4-BE49-F238E27FC236}">
                  <a16:creationId xmlns:a16="http://schemas.microsoft.com/office/drawing/2014/main" id="{534808E5-F7B5-741D-A3A8-D7508A71532B}"/>
                </a:ext>
              </a:extLst>
            </p:cNvPr>
            <p:cNvSpPr/>
            <p:nvPr/>
          </p:nvSpPr>
          <p:spPr>
            <a:xfrm>
              <a:off x="7635650" y="1708378"/>
              <a:ext cx="3984655" cy="2520000"/>
            </a:xfrm>
            <a:prstGeom prst="cube">
              <a:avLst>
                <a:gd name="adj" fmla="val 186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9D9241C-2C8D-FDA4-5C9B-49D8CDD8C789}"/>
                </a:ext>
              </a:extLst>
            </p:cNvPr>
            <p:cNvCxnSpPr/>
            <p:nvPr/>
          </p:nvCxnSpPr>
          <p:spPr>
            <a:xfrm>
              <a:off x="11994577" y="4204475"/>
              <a:ext cx="512146" cy="0"/>
            </a:xfrm>
            <a:prstGeom prst="line">
              <a:avLst/>
            </a:prstGeom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F05C7E4-56E6-A942-6998-ED502DF3C6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410574" y="1452305"/>
              <a:ext cx="512146" cy="0"/>
            </a:xfrm>
            <a:prstGeom prst="line">
              <a:avLst/>
            </a:prstGeom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FECE16C-EDDF-90D4-9964-1C5FA7915FBD}"/>
                    </a:ext>
                  </a:extLst>
                </p:cNvPr>
                <p:cNvSpPr txBox="1"/>
                <p:nvPr/>
              </p:nvSpPr>
              <p:spPr>
                <a:xfrm>
                  <a:off x="7421975" y="882331"/>
                  <a:ext cx="360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ko-KR" altLang="en-US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FECE16C-EDDF-90D4-9964-1C5FA7915F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1975" y="882331"/>
                  <a:ext cx="360000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81633" b="-28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54686A5-33BA-C476-4525-4BD7B9710627}"/>
                    </a:ext>
                  </a:extLst>
                </p:cNvPr>
                <p:cNvSpPr txBox="1"/>
                <p:nvPr/>
              </p:nvSpPr>
              <p:spPr>
                <a:xfrm>
                  <a:off x="6893714" y="4586621"/>
                  <a:ext cx="360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ko-KR" altLang="en-US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54686A5-33BA-C476-4525-4BD7B9710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3714" y="4586621"/>
                  <a:ext cx="36000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79167" b="-57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3801271-7D54-C3AF-B090-01850FDE0585}"/>
                    </a:ext>
                  </a:extLst>
                </p:cNvPr>
                <p:cNvSpPr txBox="1"/>
                <p:nvPr/>
              </p:nvSpPr>
              <p:spPr>
                <a:xfrm>
                  <a:off x="9417946" y="1339046"/>
                  <a:ext cx="3599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3801271-7D54-C3AF-B090-01850FDE0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7946" y="1339046"/>
                  <a:ext cx="359999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4490" b="-3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AB900F8-98C6-0D30-C131-751CD91CCF0D}"/>
                    </a:ext>
                  </a:extLst>
                </p:cNvPr>
                <p:cNvSpPr txBox="1"/>
                <p:nvPr/>
              </p:nvSpPr>
              <p:spPr>
                <a:xfrm>
                  <a:off x="9417946" y="4183722"/>
                  <a:ext cx="3599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AB900F8-98C6-0D30-C131-751CD91CC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7946" y="4183722"/>
                  <a:ext cx="359999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4490" b="-3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F57C586-D131-3F4D-2729-5AA013B6FCA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207948" y="4670660"/>
              <a:ext cx="834072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44A2B5A-510C-1823-CB21-8C9D08F9052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147333" y="4670929"/>
              <a:ext cx="834072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6807621-17DC-4359-FCB8-2878170FF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1524" y="5033215"/>
              <a:ext cx="3932845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A8E481B-F613-C876-C058-3C18B52EDEE1}"/>
                    </a:ext>
                  </a:extLst>
                </p:cNvPr>
                <p:cNvSpPr txBox="1"/>
                <p:nvPr/>
              </p:nvSpPr>
              <p:spPr>
                <a:xfrm>
                  <a:off x="9447976" y="4653309"/>
                  <a:ext cx="3599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A8E481B-F613-C876-C058-3C18B52EDE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7976" y="4653309"/>
                  <a:ext cx="35999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A8A300F-204A-79CF-0211-D2B8922F862C}"/>
                </a:ext>
              </a:extLst>
            </p:cNvPr>
            <p:cNvGrpSpPr/>
            <p:nvPr/>
          </p:nvGrpSpPr>
          <p:grpSpPr>
            <a:xfrm>
              <a:off x="6651254" y="1734364"/>
              <a:ext cx="918718" cy="2491896"/>
              <a:chOff x="2532467" y="1543393"/>
              <a:chExt cx="918718" cy="2592006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A8DB0C6D-C25E-0C2C-ABD5-715FEE8CD4F2}"/>
                  </a:ext>
                </a:extLst>
              </p:cNvPr>
              <p:cNvGrpSpPr/>
              <p:nvPr/>
            </p:nvGrpSpPr>
            <p:grpSpPr>
              <a:xfrm>
                <a:off x="2532467" y="1605666"/>
                <a:ext cx="834339" cy="2464065"/>
                <a:chOff x="8514082" y="2240017"/>
                <a:chExt cx="834339" cy="2464065"/>
              </a:xfrm>
            </p:grpSpPr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9BBC7D62-7E96-225B-85C7-912D2C7569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14082" y="4704082"/>
                  <a:ext cx="834072" cy="0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35AA5FB3-F1CD-5DBD-6A9D-AA98911B3A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14349" y="2240017"/>
                  <a:ext cx="834072" cy="0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DB63048B-322B-F0B1-D6CD-E876B1675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52144" y="2249542"/>
                  <a:ext cx="0" cy="2448000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arrow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91FD5BCA-2917-84E1-4447-A517FE8111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04697" y="3257433"/>
                      <a:ext cx="346096" cy="44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91FD5BCA-2917-84E1-4447-A517FE81115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04697" y="3257433"/>
                      <a:ext cx="346096" cy="44466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92548546-CA81-F26C-D65C-C8BD7377676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155185" y="2839399"/>
                <a:ext cx="2592000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BFB5A4A-CD84-81B0-3B8D-5F16E0150C97}"/>
                  </a:ext>
                </a:extLst>
              </p:cNvPr>
              <p:cNvSpPr/>
              <p:nvPr/>
            </p:nvSpPr>
            <p:spPr>
              <a:xfrm rot="5400000">
                <a:off x="2109831" y="2806519"/>
                <a:ext cx="2591999" cy="65748"/>
              </a:xfrm>
              <a:prstGeom prst="rect">
                <a:avLst/>
              </a:prstGeom>
              <a:solidFill>
                <a:srgbClr val="AEAB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1B6D55DC-1C4C-1CA8-7A19-CFDFA62712F2}"/>
                </a:ext>
              </a:extLst>
            </p:cNvPr>
            <p:cNvGrpSpPr/>
            <p:nvPr/>
          </p:nvGrpSpPr>
          <p:grpSpPr>
            <a:xfrm rot="5400000">
              <a:off x="10808100" y="2557235"/>
              <a:ext cx="2484000" cy="838259"/>
              <a:chOff x="3895826" y="703589"/>
              <a:chExt cx="2484000" cy="838259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B2B108C7-C83A-37AD-0538-4464D859364A}"/>
                  </a:ext>
                </a:extLst>
              </p:cNvPr>
              <p:cNvGrpSpPr/>
              <p:nvPr/>
            </p:nvGrpSpPr>
            <p:grpSpPr>
              <a:xfrm>
                <a:off x="3895826" y="1181848"/>
                <a:ext cx="2484000" cy="360000"/>
                <a:chOff x="3895826" y="1181848"/>
                <a:chExt cx="2484000" cy="360000"/>
              </a:xfrm>
            </p:grpSpPr>
            <p:cxnSp>
              <p:nvCxnSpPr>
                <p:cNvPr id="31" name="직선 화살표 연결선 30">
                  <a:extLst>
                    <a:ext uri="{FF2B5EF4-FFF2-40B4-BE49-F238E27FC236}">
                      <a16:creationId xmlns:a16="http://schemas.microsoft.com/office/drawing/2014/main" id="{5BA2C318-B610-B256-0A1C-851B368424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05882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화살표 연결선 31">
                  <a:extLst>
                    <a:ext uri="{FF2B5EF4-FFF2-40B4-BE49-F238E27FC236}">
                      <a16:creationId xmlns:a16="http://schemas.microsoft.com/office/drawing/2014/main" id="{1F99716D-F198-9DD5-29F7-03A3E9D374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0640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화살표 연결선 32">
                  <a:extLst>
                    <a:ext uri="{FF2B5EF4-FFF2-40B4-BE49-F238E27FC236}">
                      <a16:creationId xmlns:a16="http://schemas.microsoft.com/office/drawing/2014/main" id="{E1264A03-FFAF-558D-97D2-5F10FAB339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8261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55501DC8-D427-E096-4E05-2C6B18943D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95826" y="1183965"/>
                  <a:ext cx="2484000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화살표 연결선 34">
                  <a:extLst>
                    <a:ext uri="{FF2B5EF4-FFF2-40B4-BE49-F238E27FC236}">
                      <a16:creationId xmlns:a16="http://schemas.microsoft.com/office/drawing/2014/main" id="{5FB08374-4083-322F-B7B6-13638D8E89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2072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화살표 연결선 35">
                  <a:extLst>
                    <a:ext uri="{FF2B5EF4-FFF2-40B4-BE49-F238E27FC236}">
                      <a16:creationId xmlns:a16="http://schemas.microsoft.com/office/drawing/2014/main" id="{DDA15F89-2680-8A39-1562-0026CFCDD9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451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80170764-DE32-9FEE-EB7B-38018AC12505}"/>
                      </a:ext>
                    </a:extLst>
                  </p:cNvPr>
                  <p:cNvSpPr txBox="1"/>
                  <p:nvPr/>
                </p:nvSpPr>
                <p:spPr>
                  <a:xfrm>
                    <a:off x="4957826" y="703589"/>
                    <a:ext cx="360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80170764-DE32-9FEE-EB7B-38018AC125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57826" y="703589"/>
                    <a:ext cx="36000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000" b="-235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D61A152-1DDE-A03E-DD1F-0B7C880424BC}"/>
              </a:ext>
            </a:extLst>
          </p:cNvPr>
          <p:cNvGrpSpPr/>
          <p:nvPr/>
        </p:nvGrpSpPr>
        <p:grpSpPr>
          <a:xfrm>
            <a:off x="3547937" y="5211208"/>
            <a:ext cx="3983254" cy="1412128"/>
            <a:chOff x="1448707" y="3919468"/>
            <a:chExt cx="3983254" cy="1412128"/>
          </a:xfrm>
        </p:grpSpPr>
        <p:pic>
          <p:nvPicPr>
            <p:cNvPr id="58" name="그림 5">
              <a:extLst>
                <a:ext uri="{FF2B5EF4-FFF2-40B4-BE49-F238E27FC236}">
                  <a16:creationId xmlns:a16="http://schemas.microsoft.com/office/drawing/2014/main" id="{AE7BBCF0-D95A-1C09-A5FC-69CBBA89E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9961"/>
            <a:stretch>
              <a:fillRect/>
            </a:stretch>
          </p:blipFill>
          <p:spPr>
            <a:xfrm>
              <a:off x="1448707" y="3919468"/>
              <a:ext cx="3983254" cy="1412128"/>
            </a:xfrm>
            <a:prstGeom prst="rect">
              <a:avLst/>
            </a:prstGeom>
          </p:spPr>
        </p:pic>
        <p:sp>
          <p:nvSpPr>
            <p:cNvPr id="59" name="직사각형 7">
              <a:extLst>
                <a:ext uri="{FF2B5EF4-FFF2-40B4-BE49-F238E27FC236}">
                  <a16:creationId xmlns:a16="http://schemas.microsoft.com/office/drawing/2014/main" id="{2EABCA0B-6BFE-0899-88F7-FD115D0F085A}"/>
                </a:ext>
              </a:extLst>
            </p:cNvPr>
            <p:cNvSpPr/>
            <p:nvPr/>
          </p:nvSpPr>
          <p:spPr>
            <a:xfrm>
              <a:off x="1517088" y="4400958"/>
              <a:ext cx="3603009" cy="5595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820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D92A14F-5418-6966-7999-A5CA139A0D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Total of 16 plies</a:t>
                </a:r>
              </a:p>
              <a:p>
                <a:r>
                  <a:rPr lang="en-US" altLang="ko-KR" dirty="0"/>
                  <a:t>3 different cases</a:t>
                </a:r>
                <a:endParaRPr lang="en-US" altLang="ko-KR" b="1" dirty="0"/>
              </a:p>
              <a:p>
                <a:pPr marL="800100" lvl="1" indent="-342900"/>
                <a:r>
                  <a:rPr lang="en-US" altLang="ko-KR" b="1" dirty="0"/>
                  <a:t>Case 1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pPr marL="800100" lvl="1" indent="-342900"/>
                <a:r>
                  <a:rPr lang="en-US" altLang="ko-KR" b="1" dirty="0"/>
                  <a:t>Case 2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pPr marL="800100" lvl="1" indent="-342900"/>
                <a:r>
                  <a:rPr lang="en-US" altLang="ko-KR" b="1" dirty="0"/>
                  <a:t>Case 3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altLang="ko-KR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b="1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D92A14F-5418-6966-7999-A5CA139A0D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52C0B-3A13-A5D8-75D3-2C558CBD02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06798"/>
            <a:ext cx="2743200" cy="365125"/>
          </a:xfrm>
          <a:prstGeom prst="rect">
            <a:avLst/>
          </a:prstGeom>
        </p:spPr>
        <p:txBody>
          <a:bodyPr/>
          <a:lstStyle/>
          <a:p>
            <a:fld id="{BBDFE14B-399F-4B83-805C-1AF6020E3E4E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804E4BF4-1A9A-F406-3A80-08522CDBCC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𝐷𝐷</m:t>
                    </m:r>
                  </m:oMath>
                </a14:m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𝐷</m:t>
                    </m:r>
                    <m:acc>
                      <m:accPr>
                        <m:chr m:val="̅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Orientations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804E4BF4-1A9A-F406-3A80-08522CDBCC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1A34CE2C-C5B3-6671-6BDF-4B10BB8E05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678"/>
          <a:stretch>
            <a:fillRect/>
          </a:stretch>
        </p:blipFill>
        <p:spPr>
          <a:xfrm>
            <a:off x="7082972" y="1778294"/>
            <a:ext cx="4232336" cy="438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81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727934DF-E390-5C12-8179-44C65112F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2454" y="1366472"/>
                <a:ext cx="4763946" cy="4559766"/>
              </a:xfrm>
              <a:solidFill>
                <a:srgbClr val="7030A0">
                  <a:alpha val="27000"/>
                </a:srgbClr>
              </a:solidFill>
              <a:ln w="19050">
                <a:solidFill>
                  <a:srgbClr val="FFC000"/>
                </a:solidFill>
              </a:ln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</m:oMath>
                </a14:m>
                <a:r>
                  <a:rPr lang="en-US" altLang="ko-KR" dirty="0"/>
                  <a:t>, the critical load, is the minimum load at which a structure switches stable load paths due to buckling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can be obtained through linear eigenvalue buckling analysis</a:t>
                </a:r>
              </a:p>
              <a:p>
                <a:r>
                  <a:rPr lang="en-US" altLang="ko-KR" dirty="0"/>
                  <a:t>For symmetric laminates, lowest eigenvalue reliably predicts the critical buckling loads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727934DF-E390-5C12-8179-44C65112F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2454" y="1366472"/>
                <a:ext cx="4763946" cy="4559766"/>
              </a:xfrm>
              <a:blipFill>
                <a:blip r:embed="rId3"/>
                <a:stretch>
                  <a:fillRect l="-2168" t="-3063" r="-2551" b="-932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A8E908-7590-6BC5-5FD6-C3BEC4BD16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06798"/>
            <a:ext cx="2743200" cy="365125"/>
          </a:xfrm>
          <a:prstGeom prst="rect">
            <a:avLst/>
          </a:prstGeom>
        </p:spPr>
        <p:txBody>
          <a:bodyPr/>
          <a:lstStyle/>
          <a:p>
            <a:fld id="{BBDFE14B-399F-4B83-805C-1AF6020E3E4E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7188155-9775-4B6F-1959-CB3B5589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Buckling vs. Transition Loads</a:t>
            </a:r>
            <a:endParaRPr lang="ko-KR" altLang="en-US" dirty="0"/>
          </a:p>
        </p:txBody>
      </p:sp>
      <p:sp>
        <p:nvSpPr>
          <p:cNvPr id="3" name="내용 개체 틀 1">
            <a:extLst>
              <a:ext uri="{FF2B5EF4-FFF2-40B4-BE49-F238E27FC236}">
                <a16:creationId xmlns:a16="http://schemas.microsoft.com/office/drawing/2014/main" id="{E51291B1-B5CF-EDB9-43AA-7A62A67AE53A}"/>
              </a:ext>
            </a:extLst>
          </p:cNvPr>
          <p:cNvSpPr txBox="1">
            <a:spLocks/>
          </p:cNvSpPr>
          <p:nvPr/>
        </p:nvSpPr>
        <p:spPr>
          <a:xfrm>
            <a:off x="6192223" y="1366472"/>
            <a:ext cx="5064888" cy="2406875"/>
          </a:xfrm>
          <a:prstGeom prst="rect">
            <a:avLst/>
          </a:prstGeom>
          <a:solidFill>
            <a:srgbClr val="7030A0">
              <a:alpha val="27000"/>
            </a:srgbClr>
          </a:solidFill>
          <a:ln w="19050">
            <a:solidFill>
              <a:srgbClr val="FFC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Load</a:t>
            </a:r>
            <a:r>
              <a:rPr lang="ko-KR" altLang="en-US" dirty="0"/>
              <a:t> </a:t>
            </a:r>
            <a:r>
              <a:rPr lang="en-US" altLang="ko-KR" dirty="0"/>
              <a:t>vs</a:t>
            </a:r>
            <a:r>
              <a:rPr lang="ko-KR" altLang="en-US" dirty="0"/>
              <a:t> </a:t>
            </a:r>
            <a:r>
              <a:rPr lang="en-US" altLang="ko-KR" dirty="0"/>
              <a:t>end-shortening </a:t>
            </a:r>
          </a:p>
          <a:p>
            <a:pPr marL="0" indent="0">
              <a:buNone/>
            </a:pPr>
            <a:r>
              <a:rPr lang="en-US" altLang="ko-KR" dirty="0"/>
              <a:t>Solid line</a:t>
            </a:r>
          </a:p>
          <a:p>
            <a:pPr lvl="1"/>
            <a:r>
              <a:rPr lang="en-US" altLang="ko-KR" dirty="0"/>
              <a:t>Ideal (perfect) structure</a:t>
            </a:r>
          </a:p>
          <a:p>
            <a:pPr lvl="1"/>
            <a:r>
              <a:rPr lang="en-US" altLang="ko-KR" dirty="0"/>
              <a:t>Theoretical equilibrium path is symmetric</a:t>
            </a:r>
          </a:p>
          <a:p>
            <a:r>
              <a:rPr lang="en-US" altLang="ko-KR" dirty="0"/>
              <a:t>Dashed line</a:t>
            </a:r>
          </a:p>
          <a:p>
            <a:pPr lvl="1"/>
            <a:r>
              <a:rPr lang="en-US" altLang="ko-KR" dirty="0"/>
              <a:t>Real (imperfect) structure</a:t>
            </a:r>
          </a:p>
          <a:p>
            <a:pPr lvl="1"/>
            <a:r>
              <a:rPr lang="en-US" altLang="ko-KR" dirty="0"/>
              <a:t>Realistic response with small </a:t>
            </a:r>
            <a:br>
              <a:rPr lang="en-US" altLang="ko-KR" dirty="0"/>
            </a:br>
            <a:r>
              <a:rPr lang="en-US" altLang="ko-KR" dirty="0"/>
              <a:t>initial imperfections or load eccentricity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DA04E5-CADA-B52F-9252-18C0BA22B3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19" t="5751"/>
          <a:stretch>
            <a:fillRect/>
          </a:stretch>
        </p:blipFill>
        <p:spPr>
          <a:xfrm>
            <a:off x="6199441" y="3953624"/>
            <a:ext cx="4633732" cy="278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7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97D7-68C4-FFB8-0F1D-90B4C8AE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4E9FB78-6CA5-3A3E-8E11-E1811A57E7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154" y="1466809"/>
                <a:ext cx="5419846" cy="4482578"/>
              </a:xfrm>
              <a:solidFill>
                <a:srgbClr val="7030A0">
                  <a:alpha val="12000"/>
                </a:srgbClr>
              </a:solidFill>
              <a:ln w="19050">
                <a:solidFill>
                  <a:srgbClr val="FFC000"/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With initial imperfection, the structure smoothly shifts into a buckling mode </a:t>
                </a:r>
              </a:p>
              <a:p>
                <a:r>
                  <a:rPr lang="en-US" altLang="ko-KR" dirty="0"/>
                  <a:t>Transition load often governs usable capacity more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r>
                  <a:rPr lang="en-US" altLang="ko-KR" dirty="0"/>
                  <a:t>Lager imperfection will give lower transition load</a:t>
                </a:r>
              </a:p>
              <a:p>
                <a:r>
                  <a:rPr lang="en-US" altLang="ko-KR" dirty="0"/>
                  <a:t>Bending loads &amp; </a:t>
                </a:r>
                <a:r>
                  <a:rPr lang="en-US" altLang="ko-KR" dirty="0" err="1"/>
                  <a:t>Unsymmetry</a:t>
                </a:r>
                <a:r>
                  <a:rPr lang="en-US" altLang="ko-KR" dirty="0"/>
                  <a:t> → </a:t>
                </a:r>
                <a:r>
                  <a:rPr lang="en-US" altLang="ko-KR" b="1" dirty="0"/>
                  <a:t>Coupling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F4E9FB78-6CA5-3A3E-8E11-E1811A57E7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154" y="1466809"/>
                <a:ext cx="5419846" cy="4482578"/>
              </a:xfrm>
              <a:blipFill>
                <a:blip r:embed="rId3"/>
                <a:stretch>
                  <a:fillRect l="-1906" t="-2304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D583B8-41ED-E4BC-36B0-F4B5646424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06798"/>
            <a:ext cx="2743200" cy="365125"/>
          </a:xfrm>
          <a:prstGeom prst="rect">
            <a:avLst/>
          </a:prstGeom>
        </p:spPr>
        <p:txBody>
          <a:bodyPr/>
          <a:lstStyle/>
          <a:p>
            <a:fld id="{BBDFE14B-399F-4B83-805C-1AF6020E3E4E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593DF67-F391-154E-F2EE-47AEA993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Transition Loads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1">
                <a:extLst>
                  <a:ext uri="{FF2B5EF4-FFF2-40B4-BE49-F238E27FC236}">
                    <a16:creationId xmlns:a16="http://schemas.microsoft.com/office/drawing/2014/main" id="{8EA3B83A-7828-5B0A-3CE7-587FFE0CAE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5325" y="1466809"/>
                <a:ext cx="5010521" cy="3325110"/>
              </a:xfrm>
              <a:prstGeom prst="rect">
                <a:avLst/>
              </a:prstGeom>
              <a:ln>
                <a:solidFill>
                  <a:srgbClr val="CC9900"/>
                </a:solidFill>
              </a:ln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/>
                  <a:t>Bending loads </a:t>
                </a:r>
                <a:r>
                  <a:rPr lang="en-US" altLang="ko-KR" dirty="0"/>
                  <a:t>arise from external moments, eccentricity, or thickness/geometry variations</a:t>
                </a:r>
              </a:p>
              <a:p>
                <a:r>
                  <a:rPr lang="en-US" altLang="ko-KR" b="1" dirty="0"/>
                  <a:t>Unsymmetric laminate </a:t>
                </a:r>
                <a:r>
                  <a:rPr lang="en-US" altLang="ko-KR" dirty="0"/>
                  <a:t>→ </a:t>
                </a:r>
                <a:r>
                  <a:rPr lang="en-US" altLang="ko-KR" b="1" dirty="0"/>
                  <a:t>membrane-bending coupling </a:t>
                </a:r>
                <a:r>
                  <a:rPr lang="en-US" altLang="ko-KR" dirty="0"/>
                  <a:t>(B≠0)</a:t>
                </a:r>
              </a:p>
              <a:p>
                <a:pPr lvl="1"/>
                <a:r>
                  <a:rPr lang="en-US" altLang="ko-KR" dirty="0"/>
                  <a:t>In-plane forces </a:t>
                </a:r>
                <a:r>
                  <a:rPr lang="en-US" altLang="ko-KR" b="1" dirty="0"/>
                  <a:t>N</a:t>
                </a:r>
                <a:r>
                  <a:rPr lang="en-US" altLang="ko-KR" dirty="0"/>
                  <a:t> induce curvatures </a:t>
                </a:r>
                <a:r>
                  <a:rPr lang="en-US" altLang="ko-KR" b="1" dirty="0"/>
                  <a:t>κ</a:t>
                </a:r>
              </a:p>
              <a:p>
                <a:pPr lvl="1"/>
                <a:r>
                  <a:rPr lang="en-US" altLang="ko-KR" dirty="0"/>
                  <a:t>Moments </a:t>
                </a:r>
                <a:r>
                  <a:rPr lang="en-US" altLang="ko-KR" b="1" dirty="0"/>
                  <a:t>M</a:t>
                </a:r>
                <a:r>
                  <a:rPr lang="en-US" altLang="ko-KR" dirty="0"/>
                  <a:t> induce mid-plane strains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b="1" dirty="0"/>
                          <m:t>ε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8" name="내용 개체 틀 1">
                <a:extLst>
                  <a:ext uri="{FF2B5EF4-FFF2-40B4-BE49-F238E27FC236}">
                    <a16:creationId xmlns:a16="http://schemas.microsoft.com/office/drawing/2014/main" id="{8EA3B83A-7828-5B0A-3CE7-587FFE0CA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325" y="1466809"/>
                <a:ext cx="5010521" cy="3325110"/>
              </a:xfrm>
              <a:prstGeom prst="rect">
                <a:avLst/>
              </a:prstGeom>
              <a:blipFill>
                <a:blip r:embed="rId4"/>
                <a:stretch>
                  <a:fillRect l="-1699" t="-5119" r="-4854" b="-731"/>
                </a:stretch>
              </a:blipFill>
              <a:ln>
                <a:solidFill>
                  <a:srgbClr val="CC99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EC9454-64D6-400F-8FFB-AB804DB2B0DD}"/>
                  </a:ext>
                </a:extLst>
              </p:cNvPr>
              <p:cNvSpPr txBox="1"/>
              <p:nvPr/>
            </p:nvSpPr>
            <p:spPr>
              <a:xfrm>
                <a:off x="7384408" y="5141409"/>
                <a:ext cx="3252354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ko-KR" sz="2800" dirty="0"/>
                                  <m:t>ε</m:t>
                                </m:r>
                              </m:e>
                              <m:sub>
                                <m:r>
                                  <a:rPr lang="en-US" altLang="ko-KR" sz="28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altLang="ko-KR" sz="2800" dirty="0"/>
                              <m:t>κ</m:t>
                            </m:r>
                          </m:e>
                        </m:mr>
                      </m:m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EC9454-64D6-400F-8FFB-AB804DB2B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408" y="5141409"/>
                <a:ext cx="3252354" cy="807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64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18EC47-D7A8-649E-F0F0-1F7A7A09E1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06798"/>
            <a:ext cx="2743200" cy="365125"/>
          </a:xfrm>
          <a:prstGeom prst="rect">
            <a:avLst/>
          </a:prstGeom>
        </p:spPr>
        <p:txBody>
          <a:bodyPr/>
          <a:lstStyle/>
          <a:p>
            <a:fld id="{BBDFE14B-399F-4B83-805C-1AF6020E3E4E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750835F-B072-0865-A244-3F06AC66D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Imperfection seeding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A4485A-777B-FFF6-A4AA-B14807FD7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982" y="3599728"/>
            <a:ext cx="3977065" cy="3153882"/>
          </a:xfrm>
          <a:prstGeom prst="rect">
            <a:avLst/>
          </a:prstGeom>
        </p:spPr>
      </p:pic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0ED96D5E-A1EE-6742-5698-58A994EFD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82" y="1270042"/>
            <a:ext cx="5191478" cy="2329686"/>
          </a:xfrm>
          <a:ln w="19050">
            <a:solidFill>
              <a:srgbClr val="FFC000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b="1" dirty="0"/>
              <a:t>What if some layups are not symmetric?</a:t>
            </a:r>
          </a:p>
          <a:p>
            <a:r>
              <a:rPr lang="en-US" altLang="ko-KR" dirty="0"/>
              <a:t>If it is non-symmetric, we cannot use eigenvalue.</a:t>
            </a:r>
          </a:p>
          <a:p>
            <a:pPr lvl="1"/>
            <a:r>
              <a:rPr lang="en-US" altLang="ko-KR" dirty="0"/>
              <a:t>It overestimates the critical load</a:t>
            </a:r>
          </a:p>
          <a:p>
            <a:pPr lvl="1"/>
            <a:r>
              <a:rPr lang="en-US" altLang="ko-KR" dirty="0"/>
              <a:t>Miss the actual buckling mode</a:t>
            </a:r>
          </a:p>
          <a:p>
            <a:pPr lvl="1"/>
            <a:r>
              <a:rPr lang="en-US" altLang="ko-KR" dirty="0"/>
              <a:t>B matrix in stiffness matrix is not zero</a:t>
            </a:r>
          </a:p>
          <a:p>
            <a:pPr marL="0" indent="0">
              <a:buNone/>
            </a:pP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1">
                <a:extLst>
                  <a:ext uri="{FF2B5EF4-FFF2-40B4-BE49-F238E27FC236}">
                    <a16:creationId xmlns:a16="http://schemas.microsoft.com/office/drawing/2014/main" id="{7C4795AB-1B2E-B1E0-8666-4D8F81C654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6390" y="1270042"/>
                <a:ext cx="5023413" cy="4193209"/>
              </a:xfrm>
              <a:prstGeom prst="rect">
                <a:avLst/>
              </a:prstGeom>
              <a:solidFill>
                <a:srgbClr val="7030A0">
                  <a:alpha val="30000"/>
                </a:srgbClr>
              </a:solidFill>
              <a:ln w="19050">
                <a:solidFill>
                  <a:srgbClr val="FFC000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/>
                  <a:t>Generalized Imperfect seeding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Obtain buckling mode shape from Eigen value analysis</a:t>
                </a:r>
              </a:p>
              <a:p>
                <a:pPr lvl="1"/>
                <a:r>
                  <a:rPr lang="en-US" altLang="ko-KR" dirty="0"/>
                  <a:t>Scaling one or more of these mode shapes as initial geometric imperfections in a subsequent nonlinear static analysis.</a:t>
                </a:r>
              </a:p>
              <a:p>
                <a:pPr lvl="1"/>
                <a:r>
                  <a:rPr lang="en-US" altLang="ko-KR" dirty="0"/>
                  <a:t>Identify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𝑡𝑟𝑎𝑛𝑠𝑖𝑡𝑖𝑜𝑛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from the plot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9" name="내용 개체 틀 1">
                <a:extLst>
                  <a:ext uri="{FF2B5EF4-FFF2-40B4-BE49-F238E27FC236}">
                    <a16:creationId xmlns:a16="http://schemas.microsoft.com/office/drawing/2014/main" id="{7C4795AB-1B2E-B1E0-8666-4D8F81C65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390" y="1270042"/>
                <a:ext cx="5023413" cy="4193209"/>
              </a:xfrm>
              <a:prstGeom prst="rect">
                <a:avLst/>
              </a:prstGeom>
              <a:blipFill>
                <a:blip r:embed="rId4"/>
                <a:stretch>
                  <a:fillRect l="-2056" t="-2315" r="-1935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7F1145-96D3-4DF2-A728-76318123ABE6}"/>
                  </a:ext>
                </a:extLst>
              </p:cNvPr>
              <p:cNvSpPr txBox="1"/>
              <p:nvPr/>
            </p:nvSpPr>
            <p:spPr>
              <a:xfrm>
                <a:off x="6974671" y="5587958"/>
                <a:ext cx="4006850" cy="84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0" i="1" dirty="0">
                    <a:latin typeface="Cambria Math" panose="02040503050406030204" pitchFamily="18" charset="0"/>
                  </a:rPr>
                  <a:t>Sinusoidal model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7F1145-96D3-4DF2-A728-76318123A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71" y="5587958"/>
                <a:ext cx="4006850" cy="843693"/>
              </a:xfrm>
              <a:prstGeom prst="rect">
                <a:avLst/>
              </a:prstGeom>
              <a:blipFill>
                <a:blip r:embed="rId5"/>
                <a:stretch>
                  <a:fillRect l="-1218" t="-5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23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583EBE6C-2B82-9543-D7BC-F6EC697F6D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sz="2000" dirty="0"/>
                  <a:t>Stage 0 : Create sample input file</a:t>
                </a:r>
              </a:p>
              <a:p>
                <a:pPr lvl="1"/>
                <a:r>
                  <a:rPr lang="en-US" altLang="ko-KR" sz="1600" dirty="0"/>
                  <a:t>B.C.s</a:t>
                </a:r>
              </a:p>
              <a:p>
                <a:pPr lvl="1"/>
                <a:r>
                  <a:rPr lang="en-US" altLang="ko-KR" sz="1600" dirty="0"/>
                  <a:t>Material Properties</a:t>
                </a:r>
              </a:p>
              <a:p>
                <a:r>
                  <a:rPr lang="en-US" altLang="ko-KR" sz="2000" dirty="0"/>
                  <a:t>Stage 1 : Python Pre-Process</a:t>
                </a:r>
              </a:p>
              <a:p>
                <a:pPr lvl="1"/>
                <a:r>
                  <a:rPr lang="en-US" altLang="ko-KR" sz="1600" dirty="0"/>
                  <a:t>Imperfection seeding</a:t>
                </a:r>
              </a:p>
              <a:p>
                <a:pPr lvl="1"/>
                <a:r>
                  <a:rPr lang="en-US" altLang="ko-KR" sz="1600" dirty="0"/>
                  <a:t>Orientation</a:t>
                </a:r>
              </a:p>
              <a:p>
                <a:r>
                  <a:rPr lang="en-US" altLang="ko-KR" sz="2000" dirty="0"/>
                  <a:t>Stage 2 : .</a:t>
                </a:r>
                <a:r>
                  <a:rPr lang="en-US" altLang="ko-KR" sz="2000" dirty="0" err="1"/>
                  <a:t>inp</a:t>
                </a:r>
                <a:r>
                  <a:rPr lang="en-US" altLang="ko-KR" sz="2000" dirty="0"/>
                  <a:t> Generation &amp; Abaqus Run</a:t>
                </a:r>
              </a:p>
              <a:p>
                <a:r>
                  <a:rPr lang="en-US" altLang="ko-KR" sz="2000" dirty="0"/>
                  <a:t>Stage 3 : .</a:t>
                </a:r>
                <a:r>
                  <a:rPr lang="en-US" altLang="ko-KR" sz="2000" dirty="0" err="1"/>
                  <a:t>dat</a:t>
                </a:r>
                <a:r>
                  <a:rPr lang="en-US" altLang="ko-KR" sz="2000" dirty="0"/>
                  <a:t> &amp; .</a:t>
                </a:r>
                <a:r>
                  <a:rPr lang="en-US" altLang="ko-KR" sz="2000" dirty="0" err="1"/>
                  <a:t>odb</a:t>
                </a:r>
                <a:endParaRPr lang="en-US" altLang="ko-KR" sz="2000" dirty="0"/>
              </a:p>
              <a:p>
                <a:pPr lvl="1"/>
                <a:r>
                  <a:rPr lang="en-US" altLang="ko-KR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𝒕𝒓</m:t>
                        </m:r>
                      </m:sub>
                    </m:sSub>
                  </m:oMath>
                </a14:m>
                <a:endParaRPr lang="en-US" altLang="ko-KR" sz="1600" b="1" dirty="0"/>
              </a:p>
              <a:p>
                <a:pPr lvl="1"/>
                <a:r>
                  <a:rPr lang="el-GR" altLang="ko-KR" sz="1600" b="1" dirty="0">
                    <a:ea typeface="맑은 고딕" panose="020B0503020000020004" pitchFamily="50" charset="-127"/>
                  </a:rPr>
                  <a:t>ω</a:t>
                </a:r>
                <a:endParaRPr lang="en-US" altLang="ko-KR" sz="1600" b="1" dirty="0">
                  <a:ea typeface="맑은 고딕" panose="020B0503020000020004" pitchFamily="50" charset="-127"/>
                </a:endParaRPr>
              </a:p>
              <a:p>
                <a:r>
                  <a:rPr lang="en-US" altLang="ko-KR" sz="2000" dirty="0"/>
                  <a:t>Stage 4 : Post-Processing &amp; QC</a:t>
                </a:r>
              </a:p>
              <a:p>
                <a:pPr lvl="1"/>
                <a:r>
                  <a:rPr lang="en-US" altLang="ko-KR" sz="1600" dirty="0"/>
                  <a:t>Check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𝒕𝒓</m:t>
                        </m:r>
                      </m:sub>
                    </m:sSub>
                  </m:oMath>
                </a14:m>
                <a:r>
                  <a:rPr lang="en-US" altLang="ko-KR" sz="1600" dirty="0"/>
                  <a:t> is correct by looking at the </a:t>
                </a:r>
                <a:r>
                  <a:rPr lang="en-US" altLang="ko-KR" sz="1600" dirty="0" err="1"/>
                  <a:t>xy</a:t>
                </a:r>
                <a:r>
                  <a:rPr lang="en-US" altLang="ko-KR" sz="1600" dirty="0"/>
                  <a:t> plot</a:t>
                </a:r>
              </a:p>
              <a:p>
                <a:r>
                  <a:rPr lang="en-US" altLang="ko-KR" sz="2000" dirty="0"/>
                  <a:t>Stage 5 : Output &amp; Data Management</a:t>
                </a:r>
              </a:p>
              <a:p>
                <a:pPr lvl="1"/>
                <a:r>
                  <a:rPr lang="en-US" altLang="ko-KR" sz="1600" dirty="0"/>
                  <a:t>Generate .csv file to save data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583EBE6C-2B82-9543-D7BC-F6EC697F6D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2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59271-9F31-9607-E62A-DC47DE6B10B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06798"/>
            <a:ext cx="2743200" cy="365125"/>
          </a:xfrm>
          <a:prstGeom prst="rect">
            <a:avLst/>
          </a:prstGeom>
        </p:spPr>
        <p:txBody>
          <a:bodyPr/>
          <a:lstStyle/>
          <a:p>
            <a:fld id="{BBDFE14B-399F-4B83-805C-1AF6020E3E4E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874E901-AFB3-3866-D819-AAC7E58F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Optimization workflow</a:t>
            </a:r>
            <a:endParaRPr lang="ko-KR" altLang="en-US" dirty="0"/>
          </a:p>
        </p:txBody>
      </p:sp>
      <p:pic>
        <p:nvPicPr>
          <p:cNvPr id="74" name="그림 73" descr="스크린샷, 텍스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F38D0-9AB5-71E9-1FBE-44DA44A37E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824" y="1177035"/>
            <a:ext cx="3676067" cy="536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6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602E122-0BD6-F0EC-5C1D-78AC7459E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 1: Imperfection perfect</a:t>
            </a:r>
            <a:endParaRPr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50B1BAD9-86A5-2E08-4E83-45FCC7AF0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256" y="1366472"/>
            <a:ext cx="4695006" cy="4351338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We have perfect bilinear curve</a:t>
            </a:r>
          </a:p>
          <a:p>
            <a:r>
              <a:rPr lang="en-US" altLang="ko-KR" dirty="0"/>
              <a:t>Easy to tell plot and where transition load is located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E87D3A5-9E2C-B666-C5EF-7C14A9AAD9C7}"/>
              </a:ext>
            </a:extLst>
          </p:cNvPr>
          <p:cNvGrpSpPr/>
          <p:nvPr/>
        </p:nvGrpSpPr>
        <p:grpSpPr>
          <a:xfrm>
            <a:off x="5575373" y="1674585"/>
            <a:ext cx="6120000" cy="4043225"/>
            <a:chOff x="5377262" y="2165294"/>
            <a:chExt cx="6120000" cy="4043225"/>
          </a:xfrm>
        </p:grpSpPr>
        <p:pic>
          <p:nvPicPr>
            <p:cNvPr id="9" name="그림 8" descr="텍스트, 라인, 그래프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63F1EC2-8F49-91EF-D2E9-62379681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7262" y="2165294"/>
              <a:ext cx="6120000" cy="3672000"/>
            </a:xfrm>
            <a:prstGeom prst="rect">
              <a:avLst/>
            </a:prstGeom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6DC2D3E-29DA-9499-1C5A-614F717888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3600" y="2825750"/>
              <a:ext cx="2593975" cy="2638425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5832C88-615F-EE0A-8676-757D7A08F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2200" y="3105150"/>
              <a:ext cx="3673475" cy="1254125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6A35DD2-7903-7C5E-4EC8-98E5D4A03A30}"/>
                </a:ext>
              </a:extLst>
            </p:cNvPr>
            <p:cNvSpPr/>
            <p:nvPr/>
          </p:nvSpPr>
          <p:spPr>
            <a:xfrm>
              <a:off x="7428890" y="3872745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BE7E925-51FB-E1FE-42E0-D471F1516079}"/>
                </a:ext>
              </a:extLst>
            </p:cNvPr>
            <p:cNvGrpSpPr/>
            <p:nvPr/>
          </p:nvGrpSpPr>
          <p:grpSpPr>
            <a:xfrm>
              <a:off x="8098040" y="5839187"/>
              <a:ext cx="1546225" cy="369332"/>
              <a:chOff x="3028950" y="4979471"/>
              <a:chExt cx="1546225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25919C7B-819D-3983-CC41-1897FBC1F07E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   =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𝑡𝑟</m:t>
                            </m:r>
                          </m:sub>
                        </m:sSub>
                      </m:oMath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25919C7B-819D-3983-CC41-1897FBC1F0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9728D39E-4F50-315B-028D-A9D042BDD369}"/>
                  </a:ext>
                </a:extLst>
              </p:cNvPr>
              <p:cNvSpPr/>
              <p:nvPr/>
            </p:nvSpPr>
            <p:spPr>
              <a:xfrm>
                <a:off x="3199342" y="5102225"/>
                <a:ext cx="124883" cy="12382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941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FF528-5E0D-EB1A-89E0-6BF59C86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E8954D1-D4FB-0C31-6A3A-6168018A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 2: Imperfection imperfect-1</a:t>
            </a:r>
            <a:endParaRPr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7EAA9EAF-95BA-730E-039A-57A81F5EB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256" y="1366472"/>
            <a:ext cx="4695006" cy="4351338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We have somewhat bilinear curve</a:t>
            </a:r>
          </a:p>
          <a:p>
            <a:r>
              <a:rPr lang="en-US" altLang="ko-KR" dirty="0"/>
              <a:t>The 2</a:t>
            </a:r>
            <a:r>
              <a:rPr lang="en-US" altLang="ko-KR" baseline="30000" dirty="0"/>
              <a:t>nd</a:t>
            </a:r>
            <a:r>
              <a:rPr lang="en-US" altLang="ko-KR" dirty="0"/>
              <a:t> part of the curve tends to “curve”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C4F423F-6BC0-0C63-24CF-4DA71ACD18F1}"/>
              </a:ext>
            </a:extLst>
          </p:cNvPr>
          <p:cNvGrpSpPr/>
          <p:nvPr/>
        </p:nvGrpSpPr>
        <p:grpSpPr>
          <a:xfrm>
            <a:off x="5575373" y="1674585"/>
            <a:ext cx="6120000" cy="4043225"/>
            <a:chOff x="5377262" y="2165294"/>
            <a:chExt cx="6120000" cy="4043225"/>
          </a:xfrm>
        </p:grpSpPr>
        <p:pic>
          <p:nvPicPr>
            <p:cNvPr id="4" name="그림 3" descr="텍스트, 라인, 그래프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1403728-4EAD-7DBB-115F-C2C0C479C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7262" y="2165294"/>
              <a:ext cx="6120000" cy="3672000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A0BEFBE-DB77-4599-3BC3-66AC1D9C62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3600" y="3041650"/>
              <a:ext cx="1638300" cy="2422525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5F533DD9-03C7-02AF-8855-9D76BA4C0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524250"/>
              <a:ext cx="2549525" cy="1079500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F26F257-84DC-1EE9-5B45-BE12A43FE862}"/>
                </a:ext>
              </a:extLst>
            </p:cNvPr>
            <p:cNvSpPr/>
            <p:nvPr/>
          </p:nvSpPr>
          <p:spPr>
            <a:xfrm>
              <a:off x="6656918" y="4305300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D6976B6-D0DD-4399-4EAC-7ADC288F4254}"/>
                </a:ext>
              </a:extLst>
            </p:cNvPr>
            <p:cNvGrpSpPr/>
            <p:nvPr/>
          </p:nvGrpSpPr>
          <p:grpSpPr>
            <a:xfrm>
              <a:off x="8098040" y="5839187"/>
              <a:ext cx="1546225" cy="369332"/>
              <a:chOff x="3028950" y="4979471"/>
              <a:chExt cx="1546225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854AF2DA-5850-6C9F-87A0-8DA92BCE69B9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   =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𝑡𝑟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854AF2DA-5850-6C9F-87A0-8DA92BCE69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93F77021-070E-C8EC-A228-FE993E6EE46E}"/>
                  </a:ext>
                </a:extLst>
              </p:cNvPr>
              <p:cNvSpPr/>
              <p:nvPr/>
            </p:nvSpPr>
            <p:spPr>
              <a:xfrm>
                <a:off x="3199342" y="5102225"/>
                <a:ext cx="124883" cy="12382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0156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6CDC-DB96-2946-8361-DDA66E69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C70B2C-4DC4-1200-E08F-A43281BC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 2: Imperfection imperfect-1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1">
                <a:extLst>
                  <a:ext uri="{FF2B5EF4-FFF2-40B4-BE49-F238E27FC236}">
                    <a16:creationId xmlns:a16="http://schemas.microsoft.com/office/drawing/2014/main" id="{80F5E332-707C-1493-F065-FC12664ED0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2256" y="1366472"/>
                <a:ext cx="4695006" cy="4351338"/>
              </a:xfrm>
            </p:spPr>
            <p:txBody>
              <a:bodyPr anchor="ctr">
                <a:normAutofit/>
              </a:bodyPr>
              <a:lstStyle/>
              <a:p>
                <a:r>
                  <a:rPr lang="en-US" altLang="ko-KR" dirty="0"/>
                  <a:t>We will be looking at u3, the outer plane displacement, curve</a:t>
                </a:r>
              </a:p>
              <a:p>
                <a:r>
                  <a:rPr lang="en-US" altLang="ko-KR" dirty="0"/>
                  <a:t>We will use transition loads we get from “bilinear” and u3 to fine the “true transition load”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𝑡𝑟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𝑡𝑟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1">
                <a:extLst>
                  <a:ext uri="{FF2B5EF4-FFF2-40B4-BE49-F238E27FC236}">
                    <a16:creationId xmlns:a16="http://schemas.microsoft.com/office/drawing/2014/main" id="{80F5E332-707C-1493-F065-FC12664ED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2256" y="1366472"/>
                <a:ext cx="4695006" cy="4351338"/>
              </a:xfrm>
              <a:blipFill>
                <a:blip r:embed="rId2"/>
                <a:stretch>
                  <a:fillRect l="-2338" r="-6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그룹 1">
            <a:extLst>
              <a:ext uri="{FF2B5EF4-FFF2-40B4-BE49-F238E27FC236}">
                <a16:creationId xmlns:a16="http://schemas.microsoft.com/office/drawing/2014/main" id="{0A684F1F-F32B-CD41-BFCE-1D017054EFBC}"/>
              </a:ext>
            </a:extLst>
          </p:cNvPr>
          <p:cNvGrpSpPr/>
          <p:nvPr/>
        </p:nvGrpSpPr>
        <p:grpSpPr>
          <a:xfrm>
            <a:off x="5575373" y="1674585"/>
            <a:ext cx="6120000" cy="4043225"/>
            <a:chOff x="5377262" y="2165294"/>
            <a:chExt cx="6120000" cy="40432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47F2692-3CDA-463B-7085-66E22BD01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7262" y="2165294"/>
              <a:ext cx="6120000" cy="3672000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F99763F4-7410-1810-DBA0-C747A8B3FA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8200" y="2962275"/>
              <a:ext cx="454025" cy="2495550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ADD37FA-2BC7-013F-1A6B-BD872CF81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1350" y="4397375"/>
              <a:ext cx="1514475" cy="444500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D164CAF-E199-1759-4125-E2196188183C}"/>
                </a:ext>
              </a:extLst>
            </p:cNvPr>
            <p:cNvSpPr/>
            <p:nvPr/>
          </p:nvSpPr>
          <p:spPr>
            <a:xfrm>
              <a:off x="6053667" y="4714875"/>
              <a:ext cx="45719" cy="486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2FB7296-E7D5-0F17-8BA9-24B34C049CA2}"/>
                </a:ext>
              </a:extLst>
            </p:cNvPr>
            <p:cNvGrpSpPr/>
            <p:nvPr/>
          </p:nvGrpSpPr>
          <p:grpSpPr>
            <a:xfrm>
              <a:off x="8098040" y="5839187"/>
              <a:ext cx="1546225" cy="369332"/>
              <a:chOff x="3028950" y="4979471"/>
              <a:chExt cx="1546225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C4A17F6D-D0D2-7DED-61FA-7C8DD885FBD7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   =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𝑡𝑟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C4A17F6D-D0D2-7DED-61FA-7C8DD885FB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A6771C2-5D7B-2EBF-4140-120B61C3BF8E}"/>
                  </a:ext>
                </a:extLst>
              </p:cNvPr>
              <p:cNvSpPr/>
              <p:nvPr/>
            </p:nvSpPr>
            <p:spPr>
              <a:xfrm>
                <a:off x="3199342" y="5102225"/>
                <a:ext cx="124883" cy="12382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0091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D3A4-6D6A-F46A-F1CD-A0C2AEB5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F8C73BD-2771-7AF0-FFDA-2AC883BB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 3: Imperfection imperfect-2</a:t>
            </a:r>
            <a:endParaRPr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F1C37F03-F3E6-7949-C6AE-B7C9F615D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256" y="1366472"/>
            <a:ext cx="4695006" cy="4351338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We have “bilinear curve” where we cannot use due to 2</a:t>
            </a:r>
            <a:r>
              <a:rPr lang="en-US" altLang="ko-KR" baseline="30000" dirty="0"/>
              <a:t>nd</a:t>
            </a:r>
            <a:r>
              <a:rPr lang="en-US" altLang="ko-KR" dirty="0"/>
              <a:t> half of the curve has to much curve/slope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9911642-56AF-82FD-4599-92B9B1121CD0}"/>
              </a:ext>
            </a:extLst>
          </p:cNvPr>
          <p:cNvGrpSpPr/>
          <p:nvPr/>
        </p:nvGrpSpPr>
        <p:grpSpPr>
          <a:xfrm>
            <a:off x="5575373" y="1674585"/>
            <a:ext cx="6120000" cy="4043225"/>
            <a:chOff x="5377262" y="2165294"/>
            <a:chExt cx="6120000" cy="40432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5020F9D-70F2-0E94-0139-BF332238F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77262" y="2165294"/>
              <a:ext cx="6120000" cy="3672000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FDFA20FC-E355-2EA9-8FB1-C21EC1F9A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3600" y="2994025"/>
              <a:ext cx="1177925" cy="2470150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8A882236-773E-E295-93F8-E77B2AFA6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2325" y="2654356"/>
              <a:ext cx="4270375" cy="2111319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A71155F-048A-DAA2-A05A-DE76AA8E27C3}"/>
                </a:ext>
              </a:extLst>
            </p:cNvPr>
            <p:cNvSpPr/>
            <p:nvPr/>
          </p:nvSpPr>
          <p:spPr>
            <a:xfrm>
              <a:off x="6361643" y="4479925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A5DC614-26B4-3E30-B417-7E77E9A71094}"/>
                </a:ext>
              </a:extLst>
            </p:cNvPr>
            <p:cNvGrpSpPr/>
            <p:nvPr/>
          </p:nvGrpSpPr>
          <p:grpSpPr>
            <a:xfrm>
              <a:off x="8098040" y="5839187"/>
              <a:ext cx="1546225" cy="369332"/>
              <a:chOff x="3028950" y="4979471"/>
              <a:chExt cx="1546225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32131EDD-672E-0E30-D60D-0943DA6E99B0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   =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𝑡𝑟</m:t>
                            </m:r>
                          </m:sub>
                        </m:sSub>
                      </m:oMath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32131EDD-672E-0E30-D60D-0943DA6E99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7E50D97B-5C50-3FDD-FA0A-88583DB3366A}"/>
                  </a:ext>
                </a:extLst>
              </p:cNvPr>
              <p:cNvSpPr/>
              <p:nvPr/>
            </p:nvSpPr>
            <p:spPr>
              <a:xfrm>
                <a:off x="3199342" y="5102225"/>
                <a:ext cx="124883" cy="12382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3905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0763-0AB5-9C49-D4B5-C5C662B2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A209AC3-8B53-5982-DDE2-FFA16292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 3: Imperfection imperfect-2</a:t>
            </a:r>
            <a:endParaRPr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65F29F56-19BA-4000-CA35-6E946D24E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256" y="1366472"/>
            <a:ext cx="4695006" cy="4351338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We will be looking at u3, the outer plane displacement, curve</a:t>
            </a:r>
          </a:p>
          <a:p>
            <a:r>
              <a:rPr lang="en-US" altLang="ko-KR" dirty="0"/>
              <a:t>We will only use transition loads we get from u3 and say this is our transition load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E695281-E1BE-19FB-6F6D-BB58FF0B94F0}"/>
              </a:ext>
            </a:extLst>
          </p:cNvPr>
          <p:cNvGrpSpPr/>
          <p:nvPr/>
        </p:nvGrpSpPr>
        <p:grpSpPr>
          <a:xfrm>
            <a:off x="5575373" y="1672692"/>
            <a:ext cx="6120000" cy="4045118"/>
            <a:chOff x="5377262" y="2163401"/>
            <a:chExt cx="6120000" cy="4045118"/>
          </a:xfrm>
        </p:grpSpPr>
        <p:pic>
          <p:nvPicPr>
            <p:cNvPr id="4" name="그림 3" descr="라인, 그래프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67EEC9A-13DD-D62A-31CB-30B4B5B3F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7262" y="2163401"/>
              <a:ext cx="6120000" cy="3672000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1C67F976-22DC-35D2-7FA8-B509592C72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3600" y="2968625"/>
              <a:ext cx="454025" cy="2495550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9100ADE-F26A-62A7-C866-56B356229A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3575" y="4619625"/>
              <a:ext cx="1724025" cy="400050"/>
            </a:xfrm>
            <a:prstGeom prst="line">
              <a:avLst/>
            </a:prstGeom>
            <a:ln w="635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C956413-6389-9D82-F23B-BAC291184812}"/>
                </a:ext>
              </a:extLst>
            </p:cNvPr>
            <p:cNvSpPr/>
            <p:nvPr/>
          </p:nvSpPr>
          <p:spPr>
            <a:xfrm>
              <a:off x="6012815" y="4921250"/>
              <a:ext cx="45719" cy="486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1883D05-E862-F5CA-D733-25223B5CC956}"/>
                </a:ext>
              </a:extLst>
            </p:cNvPr>
            <p:cNvGrpSpPr/>
            <p:nvPr/>
          </p:nvGrpSpPr>
          <p:grpSpPr>
            <a:xfrm>
              <a:off x="8098040" y="5839187"/>
              <a:ext cx="1546225" cy="369332"/>
              <a:chOff x="3028950" y="4979471"/>
              <a:chExt cx="1546225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5CB7DFA7-7D7A-012B-5B11-1F0F3E734B1E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/>
                      <a:t>   =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𝑡𝑟</m:t>
                            </m:r>
                          </m:sub>
                        </m:sSub>
                      </m:oMath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5CB7DFA7-7D7A-012B-5B11-1F0F3E734B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950" y="4979471"/>
                    <a:ext cx="1546225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843DA77C-0194-0C64-C6A4-015D6788FFDA}"/>
                  </a:ext>
                </a:extLst>
              </p:cNvPr>
              <p:cNvSpPr/>
              <p:nvPr/>
            </p:nvSpPr>
            <p:spPr>
              <a:xfrm>
                <a:off x="3199342" y="5102225"/>
                <a:ext cx="124883" cy="12382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3297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1703F-0774-84B1-40F4-52D81493A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내용 개체 틀 2">
                <a:extLst>
                  <a:ext uri="{FF2B5EF4-FFF2-40B4-BE49-F238E27FC236}">
                    <a16:creationId xmlns:a16="http://schemas.microsoft.com/office/drawing/2014/main" id="{AE8441F9-2657-4E9B-346F-BB93768E483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90351439"/>
                  </p:ext>
                </p:extLst>
              </p:nvPr>
            </p:nvGraphicFramePr>
            <p:xfrm>
              <a:off x="838200" y="1825625"/>
              <a:ext cx="10515600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9894209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77929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54174022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0033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Theta1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Theta2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% difference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989487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Quasi-Isotropic :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(0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45/90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altLang="ko-K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12334.13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standard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760991"/>
                      </a:ext>
                    </a:extLst>
                  </a:tr>
                  <a:tr h="36293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52.01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43.87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15246.84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23.6%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8878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-55.63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13469.28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9%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4976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-55.63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40.25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14515.84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en-US" alt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17.7%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1608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46.58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15416.19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857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내용 개체 틀 2">
                <a:extLst>
                  <a:ext uri="{FF2B5EF4-FFF2-40B4-BE49-F238E27FC236}">
                    <a16:creationId xmlns:a16="http://schemas.microsoft.com/office/drawing/2014/main" id="{AE8441F9-2657-4E9B-346F-BB93768E483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90351439"/>
                  </p:ext>
                </p:extLst>
              </p:nvPr>
            </p:nvGraphicFramePr>
            <p:xfrm>
              <a:off x="838200" y="1825625"/>
              <a:ext cx="10515600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9894209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77929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54174022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0033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31" t="-8197" r="-300463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464" t="-8197" r="-20116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8197" r="-100694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% difference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989487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6" t="-108197" r="-100463" b="-4229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12334.13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standard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7609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52.01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43.87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15246.84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23.6%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8878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-55.63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13469.28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9%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4976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-55.63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40.25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14515.84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en-US" alt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17.7%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1608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46.58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15416.19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8571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7C0AB2C6-0F89-1424-4F4B-7DEE21BC07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3600" dirty="0"/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𝐸𝑣𝑎𝑙𝑢𝑎𝑡𝑖𝑛𝑔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𝑃𝑒𝑎𝑘𝑠</m:t>
                    </m:r>
                  </m:oMath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7C0AB2C6-0F89-1424-4F4B-7DEE21BC07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25A0A663-DFCA-3E70-0ABF-647E26700831}"/>
              </a:ext>
            </a:extLst>
          </p:cNvPr>
          <p:cNvSpPr/>
          <p:nvPr/>
        </p:nvSpPr>
        <p:spPr>
          <a:xfrm>
            <a:off x="838200" y="3645898"/>
            <a:ext cx="10515600" cy="365125"/>
          </a:xfrm>
          <a:prstGeom prst="rect">
            <a:avLst/>
          </a:prstGeom>
          <a:solidFill>
            <a:schemeClr val="accent5">
              <a:lumMod val="75000"/>
              <a:alpha val="2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The image is a contour plot representing a 3D surface, with contour lines indicating different levels of a variable, possibly P, plotted against two other variables on a Cartesian coordinate system.&#10;&#10;AI 생성 콘텐츠는 정확하지 않을 수 있습니다.">
            <a:extLst>
              <a:ext uri="{FF2B5EF4-FFF2-40B4-BE49-F238E27FC236}">
                <a16:creationId xmlns:a16="http://schemas.microsoft.com/office/drawing/2014/main" id="{B7CA342E-0F55-75BA-F9B1-DEECAEC277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000" y="4283880"/>
            <a:ext cx="3240000" cy="2430000"/>
          </a:xfrm>
          <a:prstGeom prst="rect">
            <a:avLst/>
          </a:prstGeom>
        </p:spPr>
      </p:pic>
      <p:pic>
        <p:nvPicPr>
          <p:cNvPr id="7" name="그림 6" descr="The image depicts a three-dimensional surface plot with contour lines, showing variations in a parameter (possibly a physical or mathematical quantity) across different values.&#10;&#10;AI 생성 콘텐츠는 정확하지 않을 수 있습니다.">
            <a:extLst>
              <a:ext uri="{FF2B5EF4-FFF2-40B4-BE49-F238E27FC236}">
                <a16:creationId xmlns:a16="http://schemas.microsoft.com/office/drawing/2014/main" id="{6605DFC5-88AC-D93E-B59D-B26EF48258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83880"/>
            <a:ext cx="3240000" cy="2430000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C653F22-73E2-BD85-C302-7ABE6AF17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582230"/>
              </p:ext>
            </p:extLst>
          </p:nvPr>
        </p:nvGraphicFramePr>
        <p:xfrm>
          <a:off x="0" y="6116320"/>
          <a:ext cx="285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000">
                  <a:extLst>
                    <a:ext uri="{9D8B030D-6E8A-4147-A177-3AD203B41FA5}">
                      <a16:colId xmlns:a16="http://schemas.microsoft.com/office/drawing/2014/main" val="1805711952"/>
                    </a:ext>
                  </a:extLst>
                </a:gridCol>
                <a:gridCol w="952000">
                  <a:extLst>
                    <a:ext uri="{9D8B030D-6E8A-4147-A177-3AD203B41FA5}">
                      <a16:colId xmlns:a16="http://schemas.microsoft.com/office/drawing/2014/main" val="2338156516"/>
                    </a:ext>
                  </a:extLst>
                </a:gridCol>
                <a:gridCol w="952000">
                  <a:extLst>
                    <a:ext uri="{9D8B030D-6E8A-4147-A177-3AD203B41FA5}">
                      <a16:colId xmlns:a16="http://schemas.microsoft.com/office/drawing/2014/main" val="2131170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 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 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19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539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437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90167-3B0E-B65C-66A8-E2FE7DC6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내용 개체 틀 2">
                <a:extLst>
                  <a:ext uri="{FF2B5EF4-FFF2-40B4-BE49-F238E27FC236}">
                    <a16:creationId xmlns:a16="http://schemas.microsoft.com/office/drawing/2014/main" id="{6FE3E0A6-78EF-64DA-99ED-F4AB995E9B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39834438"/>
                  </p:ext>
                </p:extLst>
              </p:nvPr>
            </p:nvGraphicFramePr>
            <p:xfrm>
              <a:off x="838200" y="1825625"/>
              <a:ext cx="10515600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9894209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77929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54174022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0033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Theta1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Theta2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% difference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989487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Quasi-Isotropic :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(0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45/90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altLang="ko-K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12334.13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standard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760991"/>
                      </a:ext>
                    </a:extLst>
                  </a:tr>
                  <a:tr h="36293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52.01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43.87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15353.86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24.5%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8878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-55.63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15025.73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21.8%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4976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-39.35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45.68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14788.71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en-US" alt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19.9%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1608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47.49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15444.97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25.2%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857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내용 개체 틀 2">
                <a:extLst>
                  <a:ext uri="{FF2B5EF4-FFF2-40B4-BE49-F238E27FC236}">
                    <a16:creationId xmlns:a16="http://schemas.microsoft.com/office/drawing/2014/main" id="{6FE3E0A6-78EF-64DA-99ED-F4AB995E9B6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39834438"/>
                  </p:ext>
                </p:extLst>
              </p:nvPr>
            </p:nvGraphicFramePr>
            <p:xfrm>
              <a:off x="838200" y="1825625"/>
              <a:ext cx="10515600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9894209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77929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54174022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0033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31" t="-8197" r="-300463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464" t="-8197" r="-20116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8197" r="-100694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% difference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989487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6" t="-108197" r="-100463" b="-4229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12334.13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standard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7609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52.01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43.87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15353.86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24.5%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8878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-55.63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15025.73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21.8%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4976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-39.35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45.68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14788.71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en-US" alt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19.9%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1608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47.49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15444.97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25.2%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8571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AD44ABE1-D87A-5167-D55C-2B05572189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3600" dirty="0"/>
                  <a:t>Case 2: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sz="36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sz="36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sz="36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sz="36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𝐸𝑣𝑎𝑙𝑢𝑎𝑡𝑖𝑛𝑔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𝑃𝑒𝑎𝑘𝑠</m:t>
                    </m:r>
                  </m:oMath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AD44ABE1-D87A-5167-D55C-2B0557218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A1067AD7-32FE-97B2-E335-9289DF06C543}"/>
              </a:ext>
            </a:extLst>
          </p:cNvPr>
          <p:cNvSpPr/>
          <p:nvPr/>
        </p:nvSpPr>
        <p:spPr>
          <a:xfrm>
            <a:off x="838200" y="3645898"/>
            <a:ext cx="10515600" cy="365125"/>
          </a:xfrm>
          <a:prstGeom prst="rect">
            <a:avLst/>
          </a:prstGeom>
          <a:solidFill>
            <a:schemeClr val="accent5">
              <a:lumMod val="75000"/>
              <a:alpha val="2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The image is a contour plot depicting values of a variable P across different levels of another variable, likely an angle, with P ranging from 0 to 10,000 and the angle ranging from -80 to 80 degrees.&#10;&#10;AI 생성 콘텐츠는 정확하지 않을 수 있습니다.">
            <a:extLst>
              <a:ext uri="{FF2B5EF4-FFF2-40B4-BE49-F238E27FC236}">
                <a16:creationId xmlns:a16="http://schemas.microsoft.com/office/drawing/2014/main" id="{A7DECB18-B1D4-11E9-9DDB-D81429731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000" y="4258186"/>
            <a:ext cx="3240000" cy="2430000"/>
          </a:xfrm>
          <a:prstGeom prst="rect">
            <a:avLst/>
          </a:prstGeom>
        </p:spPr>
      </p:pic>
      <p:pic>
        <p:nvPicPr>
          <p:cNvPr id="7" name="그림 6" descr="The image is a 3D surface plot with contour lines, showing values ranging from -50 to 0.2, with a color gradient from red to blue.&#10;&#10;AI 생성 콘텐츠는 정확하지 않을 수 있습니다.">
            <a:extLst>
              <a:ext uri="{FF2B5EF4-FFF2-40B4-BE49-F238E27FC236}">
                <a16:creationId xmlns:a16="http://schemas.microsoft.com/office/drawing/2014/main" id="{A840F9A4-EAF3-A200-A1F0-39E4AEE164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58186"/>
            <a:ext cx="3240000" cy="2430000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624C189-30F4-AF24-52CD-C37227013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795331"/>
              </p:ext>
            </p:extLst>
          </p:nvPr>
        </p:nvGraphicFramePr>
        <p:xfrm>
          <a:off x="0" y="6116320"/>
          <a:ext cx="285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000">
                  <a:extLst>
                    <a:ext uri="{9D8B030D-6E8A-4147-A177-3AD203B41FA5}">
                      <a16:colId xmlns:a16="http://schemas.microsoft.com/office/drawing/2014/main" val="1805711952"/>
                    </a:ext>
                  </a:extLst>
                </a:gridCol>
                <a:gridCol w="952000">
                  <a:extLst>
                    <a:ext uri="{9D8B030D-6E8A-4147-A177-3AD203B41FA5}">
                      <a16:colId xmlns:a16="http://schemas.microsoft.com/office/drawing/2014/main" val="2338156516"/>
                    </a:ext>
                  </a:extLst>
                </a:gridCol>
                <a:gridCol w="952000">
                  <a:extLst>
                    <a:ext uri="{9D8B030D-6E8A-4147-A177-3AD203B41FA5}">
                      <a16:colId xmlns:a16="http://schemas.microsoft.com/office/drawing/2014/main" val="2131170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 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 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19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539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764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EAF92-628A-0321-6D02-04E1131A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내용 개체 틀 2">
                <a:extLst>
                  <a:ext uri="{FF2B5EF4-FFF2-40B4-BE49-F238E27FC236}">
                    <a16:creationId xmlns:a16="http://schemas.microsoft.com/office/drawing/2014/main" id="{90EB0CA6-A771-2EA9-80C0-493AFEBA184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70114491"/>
                  </p:ext>
                </p:extLst>
              </p:nvPr>
            </p:nvGraphicFramePr>
            <p:xfrm>
              <a:off x="838200" y="1825625"/>
              <a:ext cx="10515600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9894209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77929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54174022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0033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Theta1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Theta2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% difference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989487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Quasi-Isotropic :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(0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45/90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altLang="ko-K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12334.13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standard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760991"/>
                      </a:ext>
                    </a:extLst>
                  </a:tr>
                  <a:tr h="36293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52.01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43.87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15266.21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23.8%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8878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-55.63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14921.66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21%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4976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-39.35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-45.68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14615.84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en-US" alt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18.5%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1608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46.58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15428.14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25.1%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857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내용 개체 틀 2">
                <a:extLst>
                  <a:ext uri="{FF2B5EF4-FFF2-40B4-BE49-F238E27FC236}">
                    <a16:creationId xmlns:a16="http://schemas.microsoft.com/office/drawing/2014/main" id="{90EB0CA6-A771-2EA9-80C0-493AFEBA184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70114491"/>
                  </p:ext>
                </p:extLst>
              </p:nvPr>
            </p:nvGraphicFramePr>
            <p:xfrm>
              <a:off x="838200" y="1825625"/>
              <a:ext cx="10515600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98942092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77929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541740229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00335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31" t="-8197" r="-300463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464" t="-8197" r="-20116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8197" r="-100694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% difference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989487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16" t="-108197" r="-100463" b="-4229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12334.13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standard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17609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52.01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43.87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15266.21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23.8%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8878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-55.63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14921.66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21%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4976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-39.35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-45.68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800" dirty="0"/>
                            <a:t>14615.84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en-US" altLang="ko-K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18.5%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1608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46.58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-42.06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/>
                            <a:t>15428.14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dirty="0" err="1"/>
                            <a:t>lbs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25.1%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8571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B7E96629-B886-E3BD-E6D8-F88ED01F8C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17573" y="40909"/>
                <a:ext cx="11765570" cy="1325563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3600" dirty="0"/>
                  <a:t>Case 3:</a:t>
                </a:r>
                <a14:m>
                  <m:oMath xmlns:m="http://schemas.openxmlformats.org/officeDocument/2006/math">
                    <m:r>
                      <a:rPr lang="en-US" altLang="ko-KR" sz="3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3600" b="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sz="36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sz="36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3600" b="0" i="1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altLang="ko-KR" sz="3600" dirty="0"/>
                      <m:t> </m:t>
                    </m:r>
                    <m:sSub>
                      <m:sSubPr>
                        <m:ctrlPr>
                          <a:rPr lang="en-US" altLang="ko-K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sz="36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sz="36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3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sz="3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3600" b="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𝐸𝑣𝑎𝑙𝑢𝑎𝑡𝑖𝑛𝑔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𝑃𝑒𝑎𝑘𝑠</m:t>
                    </m:r>
                  </m:oMath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B7E96629-B886-E3BD-E6D8-F88ED01F8C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7573" y="40909"/>
                <a:ext cx="11765570" cy="1325563"/>
              </a:xfrm>
              <a:blipFill>
                <a:blip r:embed="rId4"/>
                <a:stretch>
                  <a:fillRect l="-15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3C7D0500-40BC-0622-9205-8DB649B30D05}"/>
              </a:ext>
            </a:extLst>
          </p:cNvPr>
          <p:cNvSpPr/>
          <p:nvPr/>
        </p:nvSpPr>
        <p:spPr>
          <a:xfrm>
            <a:off x="838200" y="3645898"/>
            <a:ext cx="10515600" cy="365125"/>
          </a:xfrm>
          <a:prstGeom prst="rect">
            <a:avLst/>
          </a:prstGeom>
          <a:solidFill>
            <a:schemeClr val="accent5">
              <a:lumMod val="75000"/>
              <a:alpha val="2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04C220D-2AAA-EED9-E601-2061856A0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983472"/>
              </p:ext>
            </p:extLst>
          </p:nvPr>
        </p:nvGraphicFramePr>
        <p:xfrm>
          <a:off x="0" y="6116320"/>
          <a:ext cx="285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000">
                  <a:extLst>
                    <a:ext uri="{9D8B030D-6E8A-4147-A177-3AD203B41FA5}">
                      <a16:colId xmlns:a16="http://schemas.microsoft.com/office/drawing/2014/main" val="1805711952"/>
                    </a:ext>
                  </a:extLst>
                </a:gridCol>
                <a:gridCol w="952000">
                  <a:extLst>
                    <a:ext uri="{9D8B030D-6E8A-4147-A177-3AD203B41FA5}">
                      <a16:colId xmlns:a16="http://schemas.microsoft.com/office/drawing/2014/main" val="2338156516"/>
                    </a:ext>
                  </a:extLst>
                </a:gridCol>
                <a:gridCol w="952000">
                  <a:extLst>
                    <a:ext uri="{9D8B030D-6E8A-4147-A177-3AD203B41FA5}">
                      <a16:colId xmlns:a16="http://schemas.microsoft.com/office/drawing/2014/main" val="2131170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 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 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19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539847"/>
                  </a:ext>
                </a:extLst>
              </a:tr>
            </a:tbl>
          </a:graphicData>
        </a:graphic>
      </p:graphicFrame>
      <p:pic>
        <p:nvPicPr>
          <p:cNvPr id="7" name="그림 6" descr="The image is a contour plot representing values of a variable P, with the x-axis indicating different levels of another variable (possibly temperature or pressure) in degrees, and the y-axis showing various levels of P in units (e.g., kilograms or pounds).&#10;&#10;AI 생성 콘텐츠는 정확하지 않을 수 있습니다.">
            <a:extLst>
              <a:ext uri="{FF2B5EF4-FFF2-40B4-BE49-F238E27FC236}">
                <a16:creationId xmlns:a16="http://schemas.microsoft.com/office/drawing/2014/main" id="{6C6D6D18-BCB4-DAF2-EFCC-BCD3A35814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000" y="4292748"/>
            <a:ext cx="3240000" cy="2430000"/>
          </a:xfrm>
          <a:prstGeom prst="rect">
            <a:avLst/>
          </a:prstGeom>
        </p:spPr>
      </p:pic>
      <p:pic>
        <p:nvPicPr>
          <p:cNvPr id="9" name="그림 8" descr="The image is a 3D surface plot with contour lines, showing variations in a two-variable function, plotted against angles in degrees.&#10;&#10;AI 생성 콘텐츠는 정확하지 않을 수 있습니다.">
            <a:extLst>
              <a:ext uri="{FF2B5EF4-FFF2-40B4-BE49-F238E27FC236}">
                <a16:creationId xmlns:a16="http://schemas.microsoft.com/office/drawing/2014/main" id="{3CB2D7BC-153E-D730-E3AE-879874E6F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358" y="4292748"/>
            <a:ext cx="3240000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75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B1563A48-802B-872E-E1C5-3CD504100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7177" y="1366472"/>
                <a:ext cx="11117250" cy="5040326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b="1" dirty="0"/>
                  <a:t>Double-Double </a:t>
                </a:r>
                <a:r>
                  <a:rPr lang="en-US" altLang="ko-KR" dirty="0"/>
                  <a:t>class of laminates as an alternative for design</a:t>
                </a:r>
              </a:p>
              <a:p>
                <a:r>
                  <a:rPr lang="en-US" altLang="ko-KR" dirty="0"/>
                  <a:t>DD laminates are more </a:t>
                </a:r>
                <a:r>
                  <a:rPr lang="en-US" altLang="ko-KR" b="1" dirty="0"/>
                  <a:t>homogeneous</a:t>
                </a:r>
                <a:r>
                  <a:rPr lang="en-US" altLang="ko-KR" dirty="0"/>
                  <a:t> and easy to manufacture </a:t>
                </a:r>
              </a:p>
              <a:p>
                <a:r>
                  <a:rPr lang="en-US" altLang="ko-KR" dirty="0"/>
                  <a:t>3 families of DD considered- with and without mid-plane symmetry</a:t>
                </a:r>
              </a:p>
              <a:p>
                <a:r>
                  <a:rPr lang="en-US" altLang="ko-KR" dirty="0"/>
                  <a:t>All 3 families of DD shows </a:t>
                </a:r>
                <a:r>
                  <a:rPr lang="en-US" altLang="ko-KR" b="1" dirty="0"/>
                  <a:t>higher buckling loads than QI</a:t>
                </a:r>
              </a:p>
              <a:p>
                <a:r>
                  <a:rPr lang="en-US" altLang="ko-KR" dirty="0"/>
                  <a:t>Case 2: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[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has the highest transition load in general than any other cases– 25.2% higher than QI family. 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B1563A48-802B-872E-E1C5-3CD504100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7177" y="1366472"/>
                <a:ext cx="11117250" cy="5040326"/>
              </a:xfrm>
              <a:blipFill>
                <a:blip r:embed="rId2"/>
                <a:stretch>
                  <a:fillRect l="-987" t="-20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660DE9B-2254-D9F2-AEFD-0DCD4ED6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6607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801CD3A6-1682-DE14-EAC7-D1A53C5D95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7729" y="1469984"/>
                <a:ext cx="5782519" cy="4456253"/>
              </a:xfrm>
              <a:solidFill>
                <a:schemeClr val="accent5">
                  <a:lumMod val="75000"/>
                  <a:alpha val="29000"/>
                </a:schemeClr>
              </a:solidFill>
              <a:ln w="19050">
                <a:solidFill>
                  <a:srgbClr val="FFC000"/>
                </a:solidFill>
              </a:ln>
            </p:spPr>
            <p:txBody>
              <a:bodyPr>
                <a:normAutofit fontScale="92500" lnSpcReduction="20000"/>
              </a:bodyPr>
              <a:lstStyle/>
              <a:p>
                <a:pPr latinLnBrk="0">
                  <a:spcAft>
                    <a:spcPts val="600"/>
                  </a:spcAft>
                </a:pPr>
                <a:r>
                  <a:rPr lang="en-US" altLang="ko-KR" sz="2400" dirty="0"/>
                  <a:t>To maximize bending and membrane stiffnesses, a weighted cost function is used </a:t>
                </a:r>
              </a:p>
              <a:p>
                <a:pPr lvl="1" latinLnBrk="0">
                  <a:spcAft>
                    <a:spcPts val="600"/>
                  </a:spcAft>
                </a:pPr>
                <a:r>
                  <a:rPr lang="en-US" altLang="ko-KR" sz="1800" dirty="0"/>
                  <a:t>A static non-linear analysis predicts the realistic transition loads</a:t>
                </a:r>
              </a:p>
              <a:p>
                <a:pPr lvl="1" latinLnBrk="0">
                  <a:spcAft>
                    <a:spcPts val="600"/>
                  </a:spcAft>
                </a:pPr>
                <a:r>
                  <a:rPr lang="en-US" altLang="ko-KR" sz="1800" dirty="0"/>
                  <a:t>An eigen value analysis predicts the fundamental frequency in lieu of flexural rigidity</a:t>
                </a:r>
              </a:p>
              <a:p>
                <a:pPr latinLnBrk="0">
                  <a:spcAft>
                    <a:spcPts val="600"/>
                  </a:spcAft>
                </a:pPr>
                <a:r>
                  <a:rPr lang="en-US" altLang="ko-KR" sz="2400" dirty="0"/>
                  <a:t>Each term is normalized to its reference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n-US" altLang="ko-KR" sz="2400" dirty="0"/>
                  <a:t>, then weighted (70% buckling, 30% flexural rigidity) to match project priorities. </a:t>
                </a:r>
              </a:p>
              <a:p>
                <a:pPr latinLnBrk="0">
                  <a:spcAft>
                    <a:spcPts val="600"/>
                  </a:spcAft>
                </a:pPr>
                <a:r>
                  <a:rPr lang="en-US" altLang="ko-KR" sz="2400" dirty="0"/>
                  <a:t>Higher scores indicate more superior designs. </a:t>
                </a:r>
              </a:p>
              <a:p>
                <a:pPr latinLnBrk="0">
                  <a:spcAft>
                    <a:spcPts val="600"/>
                  </a:spcAft>
                </a:pPr>
                <a:r>
                  <a:rPr lang="en-US" altLang="ko-KR" sz="2400" dirty="0"/>
                  <a:t>QI evaluated using the same criteria</a:t>
                </a:r>
                <a:endParaRPr lang="en-US" altLang="ko-KR" sz="2400" b="0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801CD3A6-1682-DE14-EAC7-D1A53C5D95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7729" y="1469984"/>
                <a:ext cx="5782519" cy="4456253"/>
              </a:xfrm>
              <a:blipFill>
                <a:blip r:embed="rId3"/>
                <a:stretch>
                  <a:fillRect l="-1157" t="-2997" r="-631"/>
                </a:stretch>
              </a:blipFill>
              <a:ln w="1905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제목 4">
            <a:extLst>
              <a:ext uri="{FF2B5EF4-FFF2-40B4-BE49-F238E27FC236}">
                <a16:creationId xmlns:a16="http://schemas.microsoft.com/office/drawing/2014/main" id="{090832E7-2192-C1C8-A69C-BFFFFA82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Cost function evaluation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8FF724-C335-4CA3-141C-BFDE9B73EB79}"/>
                  </a:ext>
                </a:extLst>
              </p:cNvPr>
              <p:cNvSpPr txBox="1"/>
              <p:nvPr/>
            </p:nvSpPr>
            <p:spPr>
              <a:xfrm>
                <a:off x="7328703" y="1045791"/>
                <a:ext cx="4344523" cy="935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=0.3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𝐷𝐷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+0.7 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𝑡𝑟𝑎𝑛𝑠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𝐷𝐷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𝑐𝑟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8FF724-C335-4CA3-141C-BFDE9B73E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703" y="1045791"/>
                <a:ext cx="4344523" cy="9356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7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06AC60-3922-3FFF-0A32-4C7A4D0F6C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263" y="4033774"/>
            <a:ext cx="4572008" cy="27432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내용 개체 틀 1">
                <a:extLst>
                  <a:ext uri="{FF2B5EF4-FFF2-40B4-BE49-F238E27FC236}">
                    <a16:creationId xmlns:a16="http://schemas.microsoft.com/office/drawing/2014/main" id="{7E41201C-B37A-10AA-CB10-D404B85533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67600" y="2205915"/>
                <a:ext cx="3713544" cy="1603375"/>
              </a:xfrm>
              <a:prstGeom prst="rect">
                <a:avLst/>
              </a:prstGeom>
              <a:ln>
                <a:solidFill>
                  <a:srgbClr val="FFC000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dirty="0"/>
                  <a:t>QI: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(0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±45/90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en-US" altLang="ko-KR" dirty="0"/>
                  <a:t> = 13595.78 </a:t>
                </a:r>
                <a:r>
                  <a:rPr lang="en-US" altLang="ko-KR" dirty="0" err="1"/>
                  <a:t>lbs</a:t>
                </a:r>
                <a:endParaRPr lang="en-US" altLang="ko-KR" dirty="0"/>
              </a:p>
              <a:p>
                <a:r>
                  <a:rPr lang="el-GR" altLang="ko-KR" b="1" dirty="0"/>
                  <a:t>ω</a:t>
                </a:r>
                <a:r>
                  <a:rPr lang="en-US" altLang="ko-KR" b="1" dirty="0"/>
                  <a:t> </a:t>
                </a:r>
                <a:r>
                  <a:rPr lang="en-US" altLang="ko-KR" dirty="0"/>
                  <a:t>= 6.5888 Hz</a:t>
                </a:r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0" name="내용 개체 틀 1">
                <a:extLst>
                  <a:ext uri="{FF2B5EF4-FFF2-40B4-BE49-F238E27FC236}">
                    <a16:creationId xmlns:a16="http://schemas.microsoft.com/office/drawing/2014/main" id="{7E41201C-B37A-10AA-CB10-D404B8553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2205915"/>
                <a:ext cx="3713544" cy="1603375"/>
              </a:xfrm>
              <a:prstGeom prst="rect">
                <a:avLst/>
              </a:prstGeom>
              <a:blipFill>
                <a:blip r:embed="rId6"/>
                <a:stretch>
                  <a:fillRect l="-2782" t="-6415" b="-3774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071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A8E37-2036-8E2D-5D6A-CE47AE52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View of Mount Rainier from UW today : r/Seattle">
            <a:extLst>
              <a:ext uri="{FF2B5EF4-FFF2-40B4-BE49-F238E27FC236}">
                <a16:creationId xmlns:a16="http://schemas.microsoft.com/office/drawing/2014/main" id="{1A96F10E-5831-0AEB-8959-9A3437AF8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4" r="-1" b="-1"/>
          <a:stretch>
            <a:fillRect/>
          </a:stretch>
        </p:blipFill>
        <p:spPr bwMode="auto"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DDF7E27-9D32-B80F-682F-D07F6A46F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20" b="28795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pic>
        <p:nvPicPr>
          <p:cNvPr id="2" name="Picture 2" descr="UW Homepage">
            <a:extLst>
              <a:ext uri="{FF2B5EF4-FFF2-40B4-BE49-F238E27FC236}">
                <a16:creationId xmlns:a16="http://schemas.microsoft.com/office/drawing/2014/main" id="{401453C8-3930-FE37-E963-9993AF059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11" y="5758795"/>
            <a:ext cx="1836828" cy="90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CD8C9BE7-BCCD-6FD6-216B-9589CEB5367C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Thank you!!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F7DD213-2E77-8C3B-2712-4F73BC56AA09}"/>
              </a:ext>
            </a:extLst>
          </p:cNvPr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767676"/>
                </a:solidFill>
              </a:rPr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7185380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01989B2C2506648ADB6B4DB1757A300" ma:contentTypeVersion="16" ma:contentTypeDescription="새 문서를 만듭니다." ma:contentTypeScope="" ma:versionID="fbb50aa3b2afb54b5ecfb6fb8a4356cd">
  <xsd:schema xmlns:xsd="http://www.w3.org/2001/XMLSchema" xmlns:xs="http://www.w3.org/2001/XMLSchema" xmlns:p="http://schemas.microsoft.com/office/2006/metadata/properties" xmlns:ns2="28cb597c-4272-4f78-b3ed-5407b0427306" xmlns:ns3="fae65177-c50d-4b9d-8753-751b956ab118" targetNamespace="http://schemas.microsoft.com/office/2006/metadata/properties" ma:root="true" ma:fieldsID="7d04c06c664db3785d513290ad855dae" ns2:_="" ns3:_="">
    <xsd:import namespace="28cb597c-4272-4f78-b3ed-5407b0427306"/>
    <xsd:import namespace="fae65177-c50d-4b9d-8753-751b956ab1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cb597c-4272-4f78-b3ed-5407b0427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c7e842fe-0370-40f7-9867-a914a261c5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e65177-c50d-4b9d-8753-751b956ab11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6c18853-826d-4f15-9bae-131896e049c8}" ma:internalName="TaxCatchAll" ma:showField="CatchAllData" ma:web="fae65177-c50d-4b9d-8753-751b956ab1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8cb597c-4272-4f78-b3ed-5407b0427306">
      <Terms xmlns="http://schemas.microsoft.com/office/infopath/2007/PartnerControls"/>
    </lcf76f155ced4ddcb4097134ff3c332f>
    <TaxCatchAll xmlns="fae65177-c50d-4b9d-8753-751b956ab118" xsi:nil="true"/>
  </documentManagement>
</p:properties>
</file>

<file path=customXml/itemProps1.xml><?xml version="1.0" encoding="utf-8"?>
<ds:datastoreItem xmlns:ds="http://schemas.openxmlformats.org/officeDocument/2006/customXml" ds:itemID="{D324CA16-E6AF-4438-B45E-4DBE5C886B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cb597c-4272-4f78-b3ed-5407b0427306"/>
    <ds:schemaRef ds:uri="fae65177-c50d-4b9d-8753-751b956ab1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6FB39F-AC51-4D1B-AB3C-14BAA1134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4B52F7-F5F5-40C6-9A72-068E4A412D0B}">
  <ds:schemaRefs>
    <ds:schemaRef ds:uri="fae65177-c50d-4b9d-8753-751b956ab118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28cb597c-4272-4f78-b3ed-5407b0427306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7391</TotalTime>
  <Words>1108</Words>
  <Application>Microsoft Office PowerPoint</Application>
  <PresentationFormat>와이드스크린</PresentationFormat>
  <Paragraphs>252</Paragraphs>
  <Slides>21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Cambria Math</vt:lpstr>
      <vt:lpstr>디자인 사용자 지정</vt:lpstr>
      <vt:lpstr>1_디자인 사용자 지정</vt:lpstr>
      <vt:lpstr>Double-Double laminates for improved impact and post-impact resistance</vt:lpstr>
      <vt:lpstr>Quasi-isotropic laminates</vt:lpstr>
      <vt:lpstr>Double-Double (DD) Laminates</vt:lpstr>
      <vt:lpstr>Impact and Compression After Impact</vt:lpstr>
      <vt:lpstr>Mechanics Problem</vt:lpstr>
      <vt:lpstr>DDand DD ̅ Orientations</vt:lpstr>
      <vt:lpstr>Buckling vs. Transition Loads</vt:lpstr>
      <vt:lpstr>Transition Loads</vt:lpstr>
      <vt:lpstr>Imperfection seeding</vt:lpstr>
      <vt:lpstr>Optimization workflow</vt:lpstr>
      <vt:lpstr>Type 1: Imperfection perfect</vt:lpstr>
      <vt:lpstr>Type 2: Imperfection imperfect-1</vt:lpstr>
      <vt:lpstr>Type 2: Imperfection imperfect-1</vt:lpstr>
      <vt:lpstr>Type 3: Imperfection imperfect-2</vt:lpstr>
      <vt:lpstr>Type 3: Imperfection imperfect-2</vt:lpstr>
      <vt:lpstr>Case 1: 〖[±θ_1/〖±θ〗_2]〗_4  - Evaluating Peaks</vt:lpstr>
      <vt:lpstr>Case 2:〖 [〖±θ〗_1/〖±θ〗_2 〖/∓θ〗_1/〖∓θ〗_2]〗_2  - Evaluating Peaks</vt:lpstr>
      <vt:lpstr>Case 3: [〖〖(±θ〗_1/〖±θ〗_2)〗_2/" " 〖〖(∓θ〗_1/〖∓θ〗_2)〗_2]- Evaluating Peaks</vt:lpstr>
      <vt:lpstr>Conclusions</vt:lpstr>
      <vt:lpstr>Cost function evaluation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 in Yoo</dc:creator>
  <cp:lastModifiedBy>Dongwon Lee</cp:lastModifiedBy>
  <cp:revision>180</cp:revision>
  <cp:lastPrinted>2025-04-02T14:38:45Z</cp:lastPrinted>
  <dcterms:created xsi:type="dcterms:W3CDTF">2025-03-25T09:45:53Z</dcterms:created>
  <dcterms:modified xsi:type="dcterms:W3CDTF">2026-02-23T20:56:54Z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0x010100301989B2C2506648ADB6B4DB1757A300</vt:lpwstr>
  </property>
  <property fmtid="{D5CDD505-2E9C-101B-9397-08002B2CF9AE}" pid="3" name="MediaServiceImageTags">
    <vt:lpwstr/>
  </property>
</Properties>
</file>